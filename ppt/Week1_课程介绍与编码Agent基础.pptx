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88323"/>
  </p:normalViewPr>
  <p:slideViewPr>
    <p:cSldViewPr snapToGrid="0">
      <p:cViewPr varScale="1">
        <p:scale>
          <a:sx n="101" d="100"/>
          <a:sy n="101" d="100"/>
        </p:scale>
        <p:origin x="102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讲稿：</a:t>
            </a:r>
          </a:p>
          <a:p>
            <a:r>
              <a:t>本节课是整门课程的先导课。先说明今天不追求掌握某一个具体产品的按钮，而是建立三个基本判断：什么是编码 Agent，它与自动补全及通用对话式 AI 有什么不同，以及人如何对 Agent 的结果负责。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讲稿：</a:t>
            </a:r>
          </a:p>
          <a:p>
            <a:r>
              <a:t>介绍本周顺序。前半部分从发展过程理解编码 Agent，中间比较不同工具形态，后半部分建立人机分工和任务完成标准。本周只建立整体认识，Prompt、需求分析、上下文、工具调用和测试会在后续周次详细学习。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讲稿：</a:t>
            </a:r>
          </a:p>
          <a:p>
            <a:r>
              <a:t>强调‘会用自然语言’和‘能稳定完成开发任务’之间有差距。真实项目中，Agent 需要知道目标、项目结构、代码规范、验证方式和权限范围。后续课程会把这四类能力分别展开。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讲稿：</a:t>
            </a:r>
          </a:p>
          <a:p>
            <a:r>
              <a:t>先请学习者观察左右两条要求的差异。右侧版本不是因为更长就更好，而是补齐了会影响实现的关键信息：语言、界面、输入、输出、交付形式和测试要求。这里只用例子说明差异，第二周再系统学习 Prompt 设计。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讲稿：</a:t>
            </a:r>
          </a:p>
          <a:p>
            <a:r>
              <a:t>把上一页的对比拆成六类信息。教学时强调，这是检查清单，不是固定模板。例如修改一个明确的拼写错误，无需写六个标题；但如果任务涉及表格输入、图形界面和打包，就应把会影响结果的信息说清楚。第二周会系统展开 Prompt 结构。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讲稿：</a:t>
            </a:r>
          </a:p>
          <a:p>
            <a:r>
              <a:t>按四个阶段讲解。代码补全主要围绕当前光标位置；对话式助手让用户能用自然语言讨论代码；集成到编辑器后，模型能同时处理多个文件；当系统再获得搜索、文件编辑、终端和测试工具，就能围绕一个任务连续执行多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讲稿：</a:t>
            </a:r>
          </a:p>
          <a:p>
            <a:r>
              <a:t>这一页专门说明从代码补全到多文件编辑的变化。左侧工具只需要提供当前输入位置的建议，用户逐处接受或拒绝。右侧工具需要理解多个文件之间的关系，并可同时修改实现和测试。可见范围越大，用户越需要清楚设置任务范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讲稿：</a:t>
            </a:r>
          </a:p>
          <a:p>
            <a:r>
              <a:t>将讲义中的典型过程分成四步。关键不在于步骤名称，而在于上一步的实际结果会进入下一步。例如搜索结果决定读哪个文件，测试失败信息决定修改哪段代码。这是编码 Agent 与一次性代码生成的重要区别。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讲稿：</a:t>
            </a:r>
          </a:p>
          <a:p>
            <a:r>
              <a:t>给出本课程使用的定义：编码 Agent 是面向软件开发任务的 AI Agent。它以大语言模型为基础，通过上下文和工具与真实项目交互。四个组成部分缺一不可：只有模型会变成纯文本生成；没有循环则难以根据执行结果继续修正。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讲稿：</a:t>
            </a:r>
          </a:p>
          <a:p>
            <a:r>
              <a:t>在上一页公式的基础上，逐项解释它们解决的问题。模型负责生成判断，上下文决定这个判断能看到什么，工具让系统真正读取或改变项目，工作循环负责把新结果送回模型继续判断。因此，评估一个编码 Agent 时不应只看它使用什么模型。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讲稿</a:t>
            </a:r>
            <a:r>
              <a:rPr dirty="0"/>
              <a:t>：</a:t>
            </a:r>
          </a:p>
          <a:p>
            <a:r>
              <a:rPr dirty="0" err="1"/>
              <a:t>按图从用户输入开始讲解。模型推理后可能直接回答，也可能请求调用工具。Agent</a:t>
            </a:r>
            <a:r>
              <a:rPr dirty="0"/>
              <a:t> </a:t>
            </a:r>
            <a:r>
              <a:rPr dirty="0" err="1"/>
              <a:t>执行搜索、读取、编辑或命令后，将工具结果加入新的上下文，再请求模型判断下一步。这张图解释的是</a:t>
            </a:r>
            <a:r>
              <a:rPr dirty="0"/>
              <a:t> Codex </a:t>
            </a:r>
            <a:r>
              <a:rPr dirty="0" err="1"/>
              <a:t>的具体循环，其他产品的工具和终止条件要以各自官方说明为准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资料与图片来源（访问日期：2026-09-20）：</a:t>
            </a:r>
          </a:p>
          <a:p>
            <a:r>
              <a:rPr dirty="0"/>
              <a:t>OpenAI, Unrolling the Codex agent loop: https://</a:t>
            </a:r>
            <a:r>
              <a:rPr dirty="0" err="1"/>
              <a:t>openai.com</a:t>
            </a:r>
            <a:r>
              <a:rPr dirty="0"/>
              <a:t>/index/unrolling-the-codex-agent-loop/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讲稿：</a:t>
            </a:r>
          </a:p>
          <a:p>
            <a:r>
              <a:t>用三个具体结果说明循环如何工作。搜索结果可能暴露多个候选实现，所以下一步不应立即修改；测试错误会指向项目的具体约定；即使测试通过，仍要检查代码差异和修改范围。因此，Agent 的下一步应基于新证据，而不是基于原先的猜测。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讲稿：</a:t>
            </a:r>
          </a:p>
          <a:p>
            <a:r>
              <a:t>用空栈例子区分‘给出一段建议’和‘完成一个可检查的项目任务’。Agent 应先定位实现与测试，然后按项目已有风格修改，并实际运行验证。同时强调不同产品的能力不完全相同，不能把某一个产品的权限和工具当成所有 Agent 的共同特性。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讲稿：</a:t>
            </a:r>
          </a:p>
          <a:p>
            <a:r>
              <a:t>这一页把‘Agent 完成了修复’拆成四类可检查产物。实现文件说明代码改了什么，测试文件说明空栈行为如何被固定下来，运行记录说明检查是否真正执行，文件差异用于发现超出范围的修改。这些产物比一句‘已完成’更有价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讲稿：</a:t>
            </a:r>
          </a:p>
          <a:p>
            <a:r>
              <a:t>图中灰色代码是 GitHub Copilot 在 VS Code 中给出的行内建议。用户接受后才会写入编辑器。自动补全强调当前文件和光标附近的上下文，主要减少重复输入，整体工作仍由开发者控制。</a:t>
            </a:r>
          </a:p>
          <a:p>
            <a:endParaRPr/>
          </a:p>
          <a:p>
            <a:r>
              <a:t>资料与图片来源（访问日期：2026-09-20）：</a:t>
            </a:r>
          </a:p>
          <a:p>
            <a:r>
              <a:t>Visual Studio Code, Inline suggestions from GitHub Copilot: https://code.visualstudio.com/docs/editing/ai-powered-suggestions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讲稿：</a:t>
            </a:r>
          </a:p>
          <a:p>
            <a:r>
              <a:t>说明通用对话式 AI 的优势是讨论和解释。如果用户只粘贴一个函数，模型无法由此确认整个项目的目录、配置和调用关系。部分对话产品可以连接文件或仓库，但可见范围必须按产品和当前会话确认。</a:t>
            </a:r>
          </a:p>
          <a:p>
            <a:endParaRPr/>
          </a:p>
          <a:p>
            <a:r>
              <a:t>资料与图片来源（访问日期：2026-09-20）：</a:t>
            </a:r>
          </a:p>
          <a:p>
            <a:r>
              <a:t>OpenAI Help Center, ChatGPT macOS app - Screenshot Tool: https://help.openai.com/en/articles/9295245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讲稿：</a:t>
            </a:r>
          </a:p>
          <a:p>
            <a:r>
              <a:t>图中展示的是 Codex 云端任务形态：用户选择仓库和分支后提交任务，再查看任务进展和修改。这一形态与本地 CLI、IDE 扩展不同。教学中要求学习者不只看最终回答，还要检查实际文件变化和执行证据。</a:t>
            </a:r>
          </a:p>
          <a:p>
            <a:endParaRPr/>
          </a:p>
          <a:p>
            <a:r>
              <a:t>资料与图片来源（访问日期：2026-09-20）：</a:t>
            </a:r>
          </a:p>
          <a:p>
            <a:r>
              <a:t>OpenAI, Introducing Codex: https://openai.com/index/introducing-codex/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讲稿：</a:t>
            </a:r>
          </a:p>
          <a:p>
            <a:r>
              <a:t>逐列读表。不要把三种方式理解成简单的能力排名。写代码时可以用自动补全，学习或讨论时可以用对话式 AI，处理真实项目任务时再使用编码 Agent。选择时要同时看任务范围、环境和可授予的权限。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讲稿：</a:t>
            </a:r>
          </a:p>
          <a:p>
            <a:r>
              <a:t>比较三种方式时，重点观察它们实际能看到什么。自动补全主要依靠当前代码，对话式 AI 主要依靠会话中的消息与附件，编码 Agent 可以读取授权工作区和工具返回结果。但即使文件对 Agent 可见，也不代表它已经读取并正确理解。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讲稿：</a:t>
            </a:r>
          </a:p>
          <a:p>
            <a:r>
              <a:t>这张图以 VS Code Chat View 为例。它将 Agent 会话放在主编辑窗口内，用户可以同时检查文件修改、终端活动、调试和测试。但不同 AI IDE 或插件的面板位置、权限控件和审查方式不同。</a:t>
            </a:r>
          </a:p>
          <a:p>
            <a:endParaRPr/>
          </a:p>
          <a:p>
            <a:r>
              <a:t>资料与图片来源（访问日期：2026-09-20）：</a:t>
            </a:r>
          </a:p>
          <a:p>
            <a:r>
              <a:t>Visual Studio Code, Use the Chat view: https://code.visualstudio.com/docs/agents/run/chat-view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讲稿：</a:t>
            </a:r>
          </a:p>
          <a:p>
            <a:r>
              <a:t>CLI 是命令行界面。CLI Agent 适合熟悉终端的用户，它能直接在当前项目目录中搜索、运行构建和测试，同时用户可以审查终端操作。图中是 Claude Code 的终端界面；Codex CLI 等其他产品的命令、状态区和审批提示会不同。</a:t>
            </a:r>
          </a:p>
          <a:p>
            <a:endParaRPr/>
          </a:p>
          <a:p>
            <a:r>
              <a:t>资料与图片来源（访问日期：2026-09-20）：</a:t>
            </a:r>
          </a:p>
          <a:p>
            <a:r>
              <a:t>Anthropic, Enabling Claude Code to work more autonomously: https://www.anthropic.com/news/enabling-claude-code-to-work-more-autonomously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讲稿：</a:t>
            </a:r>
          </a:p>
          <a:p>
            <a:r>
              <a:t>独立客户端不要求用户一直留在编辑器或终端中。用户选择项目目录后，可以在客户端中管理任务线程、查看执行过程，并审查文件差异和测试结果。图片仅展示 Codex 桌面端入口，其他客户端的布局、会话隔离和权限设置不同。</a:t>
            </a:r>
          </a:p>
          <a:p>
            <a:endParaRPr/>
          </a:p>
          <a:p>
            <a:r>
              <a:t>资料与图片来源（访问日期：2026-09-20）：</a:t>
            </a:r>
          </a:p>
          <a:p>
            <a:r>
              <a:t>Wikimedia Commons, Codex page.png (CC BY-SA 4.0): https://commons.wikimedia.org/wiki/File:Codex_page.png</a:t>
            </a:r>
          </a:p>
          <a:p>
            <a:r>
              <a:t>OpenAI, Introducing the Codex app: https://openai.com/index/introducing-the-codex-app/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讲稿：</a:t>
            </a:r>
          </a:p>
          <a:p>
            <a:r>
              <a:t>用场景而不是产品热度来选择工具。同一个产品可能同时有 IDE、CLI、桌面和云端形态，而这些形态的可见上下文、执行位置和权限边界可能不同。学习者应先判断任务需要什么，再选择合适的界面。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讲稿：</a:t>
            </a:r>
          </a:p>
          <a:p>
            <a:r>
              <a:t>将工具选择转化为四个可操作的检查问题。第一个问题是任务大小，第二个问题是代码和命令在哪里运行，第三个问题是 Agent 真正能看到什么，第四个问题是它能改变什么以及用户如何审查。不同界面使用同一个产品名称时，仍要重新确认这四项。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讲稿：</a:t>
            </a:r>
          </a:p>
          <a:p>
            <a:r>
              <a:t>用‘领导和下属’的类比讲解，但要说明 Agent 不是可以独立承担责任的人。人需要告诉它做什么、允许做到哪里，并检查它的实际修改。Agent 适合执行搜索、生成、批量修改和运行测试等工作。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讲稿：</a:t>
            </a:r>
          </a:p>
          <a:p>
            <a:r>
              <a:t>把人的职责放到时间顺序中。开始前，人决定目标和权限；执行中，人观察 Agent 的读取范围和工具操作；结果返回后，人查看差异和运行记录；最终验收时，人判断结果是否满足真实需求。只在最后看一句汇报，会丢失对过程和权限的控制。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讲稿：</a:t>
            </a:r>
          </a:p>
          <a:p>
            <a:r>
              <a:t>强调代码生成不等于任务完成。当 Agent 说‘已经修复’时，用户仍要核对修改了哪些文件、是否超出范围、是否运行相关测试、测试是否通过，以及是否存在未验证内容。后续周次会分别学习测试、Git、diff 和代码审查。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讲稿：</a:t>
            </a:r>
          </a:p>
          <a:p>
            <a:r>
              <a:t>与上一页的公式配合使用。修改结果回答‘改了什么’，运行证据回答‘怎样证明可以工作’，人工审查回答‘这个结果是否可以接受’。例如测试通过不能排除无关修改，代码差异看起来正确也不能证明程序已经运行。三类证据互相补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讲稿：</a:t>
            </a:r>
          </a:p>
          <a:p>
            <a:r>
              <a:t>课程目标按从输入到验收的工作流来理解。先会表达任务，再会分析需求和组织上下文；之后学习阅读项目、观察工具执行，并用测试与 Git 检查修改；最后进入风险、MCP、Skill 和多 Agent 协作。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讲稿：</a:t>
            </a:r>
          </a:p>
          <a:p>
            <a:r>
              <a:t>快速介绍十二周的递进关系，不展开后续主题的完整知识。学习路径从任务表达开始，然后是需求、上下文、项目阅读和工作流；中后段通过工具、测试、Git 和审查建立验证能力，再进入风险边界和扩展机制。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讲稿：</a:t>
            </a:r>
          </a:p>
          <a:p>
            <a:r>
              <a:t>这条主线将十二周内容串起来。先表达任务，然后提供项目所需的上下文，再让 Agent 规划和执行。执行结果需通过工具验证，并由人审查差异、风险和未验证项。如果发现偏差，工作流会回到前面补充任务或上下文。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讲稿：</a:t>
            </a:r>
          </a:p>
          <a:p>
            <a:r>
              <a:t>介绍课程项目的选择理由。数据结构项目不是为了把课程变成数据结构教材，而是因为栈、队列和链表的接口与边界条件清楚，便于观察 Agent 怎样读取项目、修改代码、补充测试并交付证据。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讲稿：</a:t>
            </a:r>
          </a:p>
          <a:p>
            <a:r>
              <a:t>用两个公式回顾本周。第一个公式说明编码 Agent 为什么不只是一个会生成代码的模型；第二个公式说明为什么不能只凭 Agent 的最终回答判断任务完成。结束时再强调，不同工具的界面和能力会变，但人对目标、授权、审查和结果承担责任这一点不变。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6B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ACB1D068-B309-4820-97A2-80C9CB23048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D7EEE4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735DEEC-716D-49F2-9AE1-87A95B3FF102}"/>
              </a:ext>
            </a:extLst>
          </p:cNvPr>
          <p:cNvSpPr>
            <a:spLocks noGrp="1"/>
          </p:cNvSpPr>
          <p:nvPr/>
        </p:nvSpPr>
        <p:spPr>
          <a:xfrm>
            <a:off x="742950" y="685800"/>
            <a:ext cx="1524000" cy="8763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5000"/>
              </a:lnSpc>
              <a:buNone/>
              <a:defRPr sz="5400" b="1">
                <a:solidFill>
                  <a:srgbClr val="D7EEE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5400" b="1">
                <a:solidFill>
                  <a:srgbClr val="D7EEE4"/>
                </a:solidFill>
                <a:latin typeface="Hiragino Sans GB"/>
                <a:ea typeface="Hiragino Sans GB"/>
                <a:cs typeface="Hiragino Sans GB"/>
              </a:rPr>
              <a:t>01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728B1E5-9AFD-451B-A7FA-E543561168B8}"/>
              </a:ext>
            </a:extLst>
          </p:cNvPr>
          <p:cNvSpPr>
            <a:spLocks noGrp="1"/>
          </p:cNvSpPr>
          <p:nvPr/>
        </p:nvSpPr>
        <p:spPr>
          <a:xfrm>
            <a:off x="742950" y="1809750"/>
            <a:ext cx="5810250" cy="1809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08000"/>
              </a:lnSpc>
              <a:buNone/>
              <a:defRPr sz="45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45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课程介绍与</a:t>
            </a:r>
          </a:p>
          <a:p>
            <a:pPr algn="l">
              <a:lnSpc>
                <a:spcPct val="108000"/>
              </a:lnSpc>
              <a:buNone/>
              <a:defRPr sz="45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45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编码 Agent 基础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0107675-87B6-466B-9598-0C2FE70D844D}"/>
              </a:ext>
            </a:extLst>
          </p:cNvPr>
          <p:cNvSpPr>
            <a:spLocks noGrp="1"/>
          </p:cNvSpPr>
          <p:nvPr/>
        </p:nvSpPr>
        <p:spPr>
          <a:xfrm>
            <a:off x="781050" y="4000500"/>
            <a:ext cx="1714500" cy="57150"/>
          </a:xfrm>
          <a:prstGeom prst="rect">
            <a:avLst/>
          </a:prstGeom>
          <a:solidFill>
            <a:srgbClr val="D7EEE4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56C1854-F052-4654-930B-CE49AAFB142C}"/>
              </a:ext>
            </a:extLst>
          </p:cNvPr>
          <p:cNvSpPr>
            <a:spLocks noGrp="1"/>
          </p:cNvSpPr>
          <p:nvPr/>
        </p:nvSpPr>
        <p:spPr>
          <a:xfrm>
            <a:off x="742950" y="4429125"/>
            <a:ext cx="6858000" cy="4572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5000"/>
              </a:lnSpc>
              <a:buNone/>
              <a:defRPr sz="2250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AI 人机协作课程  ·  第一周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F1A5BC7-1797-4AA2-A31A-DBCF416692C2}"/>
              </a:ext>
            </a:extLst>
          </p:cNvPr>
          <p:cNvSpPr>
            <a:spLocks noGrp="1"/>
          </p:cNvSpPr>
          <p:nvPr/>
        </p:nvSpPr>
        <p:spPr>
          <a:xfrm>
            <a:off x="742950" y="5048250"/>
            <a:ext cx="5429250" cy="857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22000"/>
              </a:lnSpc>
              <a:buNone/>
              <a:defRPr sz="2400" b="0">
                <a:solidFill>
                  <a:srgbClr val="D7EEE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0">
                <a:solidFill>
                  <a:srgbClr val="D7EEE4"/>
                </a:solidFill>
                <a:latin typeface="Hiragino Sans GB"/>
                <a:ea typeface="Hiragino Sans GB"/>
                <a:cs typeface="Hiragino Sans GB"/>
              </a:rPr>
              <a:t>从代码补全到可执行</a:t>
            </a:r>
          </a:p>
          <a:p>
            <a:pPr algn="l">
              <a:lnSpc>
                <a:spcPct val="122000"/>
              </a:lnSpc>
              <a:buNone/>
              <a:defRPr sz="2400" b="0">
                <a:solidFill>
                  <a:srgbClr val="D7EEE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0">
                <a:solidFill>
                  <a:srgbClr val="D7EEE4"/>
                </a:solidFill>
                <a:latin typeface="Hiragino Sans GB"/>
                <a:ea typeface="Hiragino Sans GB"/>
                <a:cs typeface="Hiragino Sans GB"/>
              </a:rPr>
              <a:t>开发任务的 Agent</a:t>
            </a: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191250" y="1698625"/>
            <a:ext cx="5619750" cy="374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50057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>
            <a:extLst>
              <a:ext uri="{FF2B5EF4-FFF2-40B4-BE49-F238E27FC236}">
                <a16:creationId xmlns:a16="http://schemas.microsoft.com/office/drawing/2014/main" id="{86BEE190-1799-469C-A6F5-27902FC02D9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B6B4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116D242-648D-4BE8-87C2-29CD8FFFDE9F}"/>
              </a:ext>
            </a:extLst>
          </p:cNvPr>
          <p:cNvSpPr>
            <a:spLocks noGrp="1"/>
          </p:cNvSpPr>
          <p:nvPr/>
        </p:nvSpPr>
        <p:spPr>
          <a:xfrm>
            <a:off x="609600" y="333375"/>
            <a:ext cx="4572000" cy="3238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5000"/>
              </a:lnSpc>
              <a:buNone/>
              <a:defRPr sz="20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WEEK 1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539A50E-F09D-4AF5-B5E7-6B0601D87048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590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5000"/>
              </a:lnSpc>
              <a:buNone/>
              <a:defRPr sz="330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本周学习路线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405FB63-A960-47A1-81E6-D697E46D4C51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BBD9C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AC00289-18C9-4180-9EBB-E3D760467ACB}"/>
              </a:ext>
            </a:extLst>
          </p:cNvPr>
          <p:cNvSpPr>
            <a:spLocks noGrp="1"/>
          </p:cNvSpPr>
          <p:nvPr/>
        </p:nvSpPr>
        <p:spPr>
          <a:xfrm>
            <a:off x="723900" y="1952625"/>
            <a:ext cx="1619250" cy="5238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5000"/>
              </a:lnSpc>
              <a:buNone/>
              <a:defRPr sz="300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01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EB4744B-EEC0-41E9-80EC-437944D3FE6C}"/>
              </a:ext>
            </a:extLst>
          </p:cNvPr>
          <p:cNvSpPr>
            <a:spLocks noGrp="1"/>
          </p:cNvSpPr>
          <p:nvPr/>
        </p:nvSpPr>
        <p:spPr>
          <a:xfrm>
            <a:off x="723900" y="2571750"/>
            <a:ext cx="1619250" cy="47625"/>
          </a:xfrm>
          <a:prstGeom prst="rect">
            <a:avLst/>
          </a:prstGeom>
          <a:solidFill>
            <a:srgbClr val="BBD9C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A3A670F-6BEF-4C09-867E-B2CA9F80C24B}"/>
              </a:ext>
            </a:extLst>
          </p:cNvPr>
          <p:cNvSpPr>
            <a:spLocks noGrp="1"/>
          </p:cNvSpPr>
          <p:nvPr/>
        </p:nvSpPr>
        <p:spPr>
          <a:xfrm>
            <a:off x="723900" y="2905125"/>
            <a:ext cx="1714500" cy="13335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22000"/>
              </a:lnSpc>
              <a:buNone/>
              <a:defRPr sz="225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课程与学习目标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5D34AD4-EB40-4461-8E67-D875481E5812}"/>
              </a:ext>
            </a:extLst>
          </p:cNvPr>
          <p:cNvSpPr>
            <a:spLocks noGrp="1"/>
          </p:cNvSpPr>
          <p:nvPr/>
        </p:nvSpPr>
        <p:spPr>
          <a:xfrm>
            <a:off x="2962275" y="1952625"/>
            <a:ext cx="1619250" cy="5238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5000"/>
              </a:lnSpc>
              <a:buNone/>
              <a:defRPr sz="300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5D7DB26-44CC-4162-936D-A2E4682A7335}"/>
              </a:ext>
            </a:extLst>
          </p:cNvPr>
          <p:cNvSpPr>
            <a:spLocks noGrp="1"/>
          </p:cNvSpPr>
          <p:nvPr/>
        </p:nvSpPr>
        <p:spPr>
          <a:xfrm>
            <a:off x="2962275" y="2571750"/>
            <a:ext cx="1619250" cy="47625"/>
          </a:xfrm>
          <a:prstGeom prst="rect">
            <a:avLst/>
          </a:prstGeom>
          <a:solidFill>
            <a:srgbClr val="BBD9C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889FA73-3813-4514-AE7C-205F4D899572}"/>
              </a:ext>
            </a:extLst>
          </p:cNvPr>
          <p:cNvSpPr>
            <a:spLocks noGrp="1"/>
          </p:cNvSpPr>
          <p:nvPr/>
        </p:nvSpPr>
        <p:spPr>
          <a:xfrm>
            <a:off x="2962275" y="2905125"/>
            <a:ext cx="1714500" cy="13335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22000"/>
              </a:lnSpc>
              <a:buNone/>
              <a:defRPr sz="225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AI 辅助编程的发展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90DBE13-FFB0-4BD8-825E-F73FE479E285}"/>
              </a:ext>
            </a:extLst>
          </p:cNvPr>
          <p:cNvSpPr>
            <a:spLocks noGrp="1"/>
          </p:cNvSpPr>
          <p:nvPr/>
        </p:nvSpPr>
        <p:spPr>
          <a:xfrm>
            <a:off x="5200650" y="1952625"/>
            <a:ext cx="1619250" cy="5238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5000"/>
              </a:lnSpc>
              <a:buNone/>
              <a:defRPr sz="300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03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2AEB01C-1381-407A-9889-47F0CAC15C58}"/>
              </a:ext>
            </a:extLst>
          </p:cNvPr>
          <p:cNvSpPr>
            <a:spLocks noGrp="1"/>
          </p:cNvSpPr>
          <p:nvPr/>
        </p:nvSpPr>
        <p:spPr>
          <a:xfrm>
            <a:off x="5200650" y="2571750"/>
            <a:ext cx="1619250" cy="47625"/>
          </a:xfrm>
          <a:prstGeom prst="rect">
            <a:avLst/>
          </a:prstGeom>
          <a:solidFill>
            <a:srgbClr val="BBD9C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94C2396-40B7-487A-9A14-AF4819956395}"/>
              </a:ext>
            </a:extLst>
          </p:cNvPr>
          <p:cNvSpPr>
            <a:spLocks noGrp="1"/>
          </p:cNvSpPr>
          <p:nvPr/>
        </p:nvSpPr>
        <p:spPr>
          <a:xfrm>
            <a:off x="5200650" y="2905125"/>
            <a:ext cx="1714500" cy="13335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22000"/>
              </a:lnSpc>
              <a:buNone/>
              <a:defRPr sz="225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编码 Agent 的基本结构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45782A0-0AD3-48AD-92C3-2B6F70549B09}"/>
              </a:ext>
            </a:extLst>
          </p:cNvPr>
          <p:cNvSpPr>
            <a:spLocks noGrp="1"/>
          </p:cNvSpPr>
          <p:nvPr/>
        </p:nvSpPr>
        <p:spPr>
          <a:xfrm>
            <a:off x="7439025" y="1952625"/>
            <a:ext cx="1619250" cy="5238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5000"/>
              </a:lnSpc>
              <a:buNone/>
              <a:defRPr sz="300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04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30E356F-DEA3-4933-8986-7448263B3421}"/>
              </a:ext>
            </a:extLst>
          </p:cNvPr>
          <p:cNvSpPr>
            <a:spLocks noGrp="1"/>
          </p:cNvSpPr>
          <p:nvPr/>
        </p:nvSpPr>
        <p:spPr>
          <a:xfrm>
            <a:off x="7439025" y="2571750"/>
            <a:ext cx="1619250" cy="47625"/>
          </a:xfrm>
          <a:prstGeom prst="rect">
            <a:avLst/>
          </a:prstGeom>
          <a:solidFill>
            <a:srgbClr val="BBD9C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A5E3206-5338-40DB-BE13-794161D139E3}"/>
              </a:ext>
            </a:extLst>
          </p:cNvPr>
          <p:cNvSpPr>
            <a:spLocks noGrp="1"/>
          </p:cNvSpPr>
          <p:nvPr/>
        </p:nvSpPr>
        <p:spPr>
          <a:xfrm>
            <a:off x="7439025" y="2905125"/>
            <a:ext cx="1714500" cy="13335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22000"/>
              </a:lnSpc>
              <a:buNone/>
              <a:defRPr sz="225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三种 AI 编程方式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ACEB920-E592-4FA7-A3E1-6C5B50D8281E}"/>
              </a:ext>
            </a:extLst>
          </p:cNvPr>
          <p:cNvSpPr>
            <a:spLocks noGrp="1"/>
          </p:cNvSpPr>
          <p:nvPr/>
        </p:nvSpPr>
        <p:spPr>
          <a:xfrm>
            <a:off x="9677400" y="1952625"/>
            <a:ext cx="1619250" cy="5238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5000"/>
              </a:lnSpc>
              <a:buNone/>
              <a:defRPr sz="300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05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C43F004-CA29-4C6B-8D1E-9F2149E45CAB}"/>
              </a:ext>
            </a:extLst>
          </p:cNvPr>
          <p:cNvSpPr>
            <a:spLocks noGrp="1"/>
          </p:cNvSpPr>
          <p:nvPr/>
        </p:nvSpPr>
        <p:spPr>
          <a:xfrm>
            <a:off x="9677400" y="2571750"/>
            <a:ext cx="1619250" cy="47625"/>
          </a:xfrm>
          <a:prstGeom prst="rect">
            <a:avLst/>
          </a:prstGeom>
          <a:solidFill>
            <a:srgbClr val="16815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14F089C-A8C3-4E1B-A388-086B4E3F0858}"/>
              </a:ext>
            </a:extLst>
          </p:cNvPr>
          <p:cNvSpPr>
            <a:spLocks noGrp="1"/>
          </p:cNvSpPr>
          <p:nvPr/>
        </p:nvSpPr>
        <p:spPr>
          <a:xfrm>
            <a:off x="9677400" y="2905125"/>
            <a:ext cx="1714500" cy="13335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22000"/>
              </a:lnSpc>
              <a:buNone/>
              <a:defRPr sz="225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工具形态与使用场景</a:t>
            </a:r>
          </a:p>
        </p:txBody>
      </p:sp>
    </p:spTree>
    <p:extLst>
      <p:ext uri="{BB962C8B-B14F-4D97-AF65-F5344CB8AC3E}">
        <p14:creationId xmlns:p14="http://schemas.microsoft.com/office/powerpoint/2010/main" val="4327189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5F9D481D-4B06-427E-9FC1-2B1AAAE0EE3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B6B4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A2E9EE3-F0FC-484F-9D67-732D0350BF23}"/>
              </a:ext>
            </a:extLst>
          </p:cNvPr>
          <p:cNvSpPr>
            <a:spLocks noGrp="1"/>
          </p:cNvSpPr>
          <p:nvPr/>
        </p:nvSpPr>
        <p:spPr>
          <a:xfrm>
            <a:off x="609600" y="333375"/>
            <a:ext cx="4572000" cy="3238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5000"/>
              </a:lnSpc>
              <a:buNone/>
              <a:defRPr sz="20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01  课程导入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823A6A3-08DD-49E0-BFFD-4467B8FFC384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590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5000"/>
              </a:lnSpc>
              <a:buNone/>
              <a:defRPr sz="330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为什么要学习 AI 人机协作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7115713-A160-43E4-9D8E-10E04DC65EA9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BBD9C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BE78E25-D20B-41F1-9756-422FEBEFB17D}"/>
              </a:ext>
            </a:extLst>
          </p:cNvPr>
          <p:cNvSpPr>
            <a:spLocks noGrp="1"/>
          </p:cNvSpPr>
          <p:nvPr/>
        </p:nvSpPr>
        <p:spPr>
          <a:xfrm>
            <a:off x="685800" y="1762125"/>
            <a:ext cx="10820400" cy="7239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ctr">
              <a:lnSpc>
                <a:spcPct val="115000"/>
              </a:lnSpc>
              <a:buNone/>
              <a:defRPr sz="285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85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自然语言降低了使用门槛，但没有消除工程上的不确定性。</a:t>
            </a: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D24DFFE6-8AB7-4D26-9C5B-315097A37754}"/>
              </a:ext>
            </a:extLst>
          </p:cNvPr>
          <p:cNvSpPr>
            <a:spLocks noGrp="1"/>
          </p:cNvSpPr>
          <p:nvPr/>
        </p:nvSpPr>
        <p:spPr>
          <a:xfrm>
            <a:off x="704850" y="3048000"/>
            <a:ext cx="2362200" cy="1809750"/>
          </a:xfrm>
          <a:prstGeom prst="roundRect">
            <a:avLst>
              <a:gd name="adj" fmla="val 9474"/>
            </a:avLst>
          </a:prstGeom>
          <a:solidFill>
            <a:srgbClr val="EAF5F0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39942B0-F537-46A7-A313-9D1DDCF227F4}"/>
              </a:ext>
            </a:extLst>
          </p:cNvPr>
          <p:cNvSpPr>
            <a:spLocks noGrp="1"/>
          </p:cNvSpPr>
          <p:nvPr/>
        </p:nvSpPr>
        <p:spPr>
          <a:xfrm>
            <a:off x="876300" y="3295650"/>
            <a:ext cx="2019300" cy="4572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ctr">
              <a:lnSpc>
                <a:spcPct val="115000"/>
              </a:lnSpc>
              <a:buNone/>
              <a:defRPr sz="240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任务描述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24E1444-89F0-4F62-B56F-D22D82C75CC6}"/>
              </a:ext>
            </a:extLst>
          </p:cNvPr>
          <p:cNvSpPr>
            <a:spLocks noGrp="1"/>
          </p:cNvSpPr>
          <p:nvPr/>
        </p:nvSpPr>
        <p:spPr>
          <a:xfrm>
            <a:off x="876300" y="4000500"/>
            <a:ext cx="2019300" cy="6858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ctr">
              <a:lnSpc>
                <a:spcPct val="115000"/>
              </a:lnSpc>
              <a:buNone/>
              <a:defRPr sz="210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语言、输入、输出、限制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4D541F36-C8BA-40ED-BE57-E115961334C3}"/>
              </a:ext>
            </a:extLst>
          </p:cNvPr>
          <p:cNvSpPr>
            <a:spLocks noGrp="1"/>
          </p:cNvSpPr>
          <p:nvPr/>
        </p:nvSpPr>
        <p:spPr>
          <a:xfrm>
            <a:off x="3467100" y="3048000"/>
            <a:ext cx="2362200" cy="1809750"/>
          </a:xfrm>
          <a:prstGeom prst="roundRect">
            <a:avLst>
              <a:gd name="adj" fmla="val 9474"/>
            </a:avLst>
          </a:prstGeom>
          <a:solidFill>
            <a:srgbClr val="F5FAF8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537F9E1-0F5E-4AE3-AB57-8E70E1CBEC63}"/>
              </a:ext>
            </a:extLst>
          </p:cNvPr>
          <p:cNvSpPr>
            <a:spLocks noGrp="1"/>
          </p:cNvSpPr>
          <p:nvPr/>
        </p:nvSpPr>
        <p:spPr>
          <a:xfrm>
            <a:off x="3638550" y="3295650"/>
            <a:ext cx="2019300" cy="4572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ctr">
              <a:lnSpc>
                <a:spcPct val="115000"/>
              </a:lnSpc>
              <a:buNone/>
              <a:defRPr sz="240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项目上下文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A1F9733-E73C-435C-87B0-DB2B676F2F11}"/>
              </a:ext>
            </a:extLst>
          </p:cNvPr>
          <p:cNvSpPr>
            <a:spLocks noGrp="1"/>
          </p:cNvSpPr>
          <p:nvPr/>
        </p:nvSpPr>
        <p:spPr>
          <a:xfrm>
            <a:off x="3638550" y="4000500"/>
            <a:ext cx="2019300" cy="6858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ctr">
              <a:lnSpc>
                <a:spcPct val="115000"/>
              </a:lnSpc>
              <a:buNone/>
              <a:defRPr sz="210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目录、规范、现有接口</a:t>
            </a:r>
          </a:p>
        </p:txBody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B9794CCF-68A3-4EED-94E3-4FC80EDFBD0C}"/>
              </a:ext>
            </a:extLst>
          </p:cNvPr>
          <p:cNvSpPr>
            <a:spLocks noGrp="1"/>
          </p:cNvSpPr>
          <p:nvPr/>
        </p:nvSpPr>
        <p:spPr>
          <a:xfrm>
            <a:off x="6229350" y="3048000"/>
            <a:ext cx="2362200" cy="1809750"/>
          </a:xfrm>
          <a:prstGeom prst="roundRect">
            <a:avLst>
              <a:gd name="adj" fmla="val 9474"/>
            </a:avLst>
          </a:prstGeom>
          <a:solidFill>
            <a:srgbClr val="EAF5F0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9DCF848-4647-4A1A-8F83-1D498FF6938D}"/>
              </a:ext>
            </a:extLst>
          </p:cNvPr>
          <p:cNvSpPr>
            <a:spLocks noGrp="1"/>
          </p:cNvSpPr>
          <p:nvPr/>
        </p:nvSpPr>
        <p:spPr>
          <a:xfrm>
            <a:off x="6400800" y="3295650"/>
            <a:ext cx="2019300" cy="4572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ctr">
              <a:lnSpc>
                <a:spcPct val="115000"/>
              </a:lnSpc>
              <a:buNone/>
              <a:defRPr sz="240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过程检查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B64223B-637C-40D8-8FE8-2FC0E9A79093}"/>
              </a:ext>
            </a:extLst>
          </p:cNvPr>
          <p:cNvSpPr>
            <a:spLocks noGrp="1"/>
          </p:cNvSpPr>
          <p:nvPr/>
        </p:nvSpPr>
        <p:spPr>
          <a:xfrm>
            <a:off x="6400800" y="4000500"/>
            <a:ext cx="2019300" cy="6858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ctr">
              <a:lnSpc>
                <a:spcPct val="115000"/>
              </a:lnSpc>
              <a:buNone/>
              <a:defRPr sz="210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文件变化、命令和测试</a:t>
            </a: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E35E2704-1A6B-4C86-8660-A2241215EF62}"/>
              </a:ext>
            </a:extLst>
          </p:cNvPr>
          <p:cNvSpPr>
            <a:spLocks noGrp="1"/>
          </p:cNvSpPr>
          <p:nvPr/>
        </p:nvSpPr>
        <p:spPr>
          <a:xfrm>
            <a:off x="8991600" y="3048000"/>
            <a:ext cx="2362200" cy="1809750"/>
          </a:xfrm>
          <a:prstGeom prst="roundRect">
            <a:avLst>
              <a:gd name="adj" fmla="val 9474"/>
            </a:avLst>
          </a:prstGeom>
          <a:solidFill>
            <a:srgbClr val="F5FAF8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EA75CFF-A528-46AA-B072-B68789A6FCAF}"/>
              </a:ext>
            </a:extLst>
          </p:cNvPr>
          <p:cNvSpPr>
            <a:spLocks noGrp="1"/>
          </p:cNvSpPr>
          <p:nvPr/>
        </p:nvSpPr>
        <p:spPr>
          <a:xfrm>
            <a:off x="9163050" y="3295650"/>
            <a:ext cx="2019300" cy="4572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ctr">
              <a:lnSpc>
                <a:spcPct val="115000"/>
              </a:lnSpc>
              <a:buNone/>
              <a:defRPr sz="240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结果验收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49828C1-9472-4BD5-B24B-D71C6A70420F}"/>
              </a:ext>
            </a:extLst>
          </p:cNvPr>
          <p:cNvSpPr>
            <a:spLocks noGrp="1"/>
          </p:cNvSpPr>
          <p:nvPr/>
        </p:nvSpPr>
        <p:spPr>
          <a:xfrm>
            <a:off x="9163050" y="4000500"/>
            <a:ext cx="2019300" cy="6858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ctr">
              <a:lnSpc>
                <a:spcPct val="115000"/>
              </a:lnSpc>
              <a:buNone/>
              <a:defRPr sz="210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行为正确、范围可控、风险可接受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9D2C72E-6EF8-4231-B5B9-4BA8B6C8D329}"/>
              </a:ext>
            </a:extLst>
          </p:cNvPr>
          <p:cNvSpPr>
            <a:spLocks noGrp="1"/>
          </p:cNvSpPr>
          <p:nvPr/>
        </p:nvSpPr>
        <p:spPr>
          <a:xfrm>
            <a:off x="685800" y="5410200"/>
            <a:ext cx="10820400" cy="5238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ctr">
              <a:lnSpc>
                <a:spcPct val="115000"/>
              </a:lnSpc>
              <a:buNone/>
              <a:defRPr sz="25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高质量协作来自明确任务和可检查的证据</a:t>
            </a:r>
          </a:p>
        </p:txBody>
      </p:sp>
    </p:spTree>
    <p:extLst>
      <p:ext uri="{BB962C8B-B14F-4D97-AF65-F5344CB8AC3E}">
        <p14:creationId xmlns:p14="http://schemas.microsoft.com/office/powerpoint/2010/main" val="15654567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7635A9AB-BAD8-4D62-9A45-18F3C44D558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B6B4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A3910C5-050C-4876-A144-C4BCD2E38D1D}"/>
              </a:ext>
            </a:extLst>
          </p:cNvPr>
          <p:cNvSpPr>
            <a:spLocks noGrp="1"/>
          </p:cNvSpPr>
          <p:nvPr/>
        </p:nvSpPr>
        <p:spPr>
          <a:xfrm>
            <a:off x="609600" y="333375"/>
            <a:ext cx="4572000" cy="3238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5000"/>
              </a:lnSpc>
              <a:buNone/>
              <a:defRPr sz="20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01  课程导入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0523D0A-DC65-4959-AC73-83CB20BB9479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590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5000"/>
              </a:lnSpc>
              <a:buNone/>
              <a:defRPr sz="330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同一个任务，描述方式决定可执行性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49C069B-3B95-442E-AF9E-47D47B4FF6DC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BBD9C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D3F6DF3-7771-432A-A142-B9E78CEC40B9}"/>
              </a:ext>
            </a:extLst>
          </p:cNvPr>
          <p:cNvSpPr>
            <a:spLocks noGrp="1"/>
          </p:cNvSpPr>
          <p:nvPr/>
        </p:nvSpPr>
        <p:spPr>
          <a:xfrm>
            <a:off x="723900" y="1762125"/>
            <a:ext cx="4857750" cy="4381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5000"/>
              </a:lnSpc>
              <a:buNone/>
              <a:defRPr sz="2250" b="1">
                <a:solidFill>
                  <a:srgbClr val="5C706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5C7068"/>
                </a:solidFill>
                <a:latin typeface="Hiragino Sans GB"/>
                <a:ea typeface="Hiragino Sans GB"/>
                <a:cs typeface="Hiragino Sans GB"/>
              </a:rPr>
              <a:t>信息不足</a:t>
            </a: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F26C3A08-D714-4054-A767-74D081351319}"/>
              </a:ext>
            </a:extLst>
          </p:cNvPr>
          <p:cNvSpPr>
            <a:spLocks noGrp="1"/>
          </p:cNvSpPr>
          <p:nvPr/>
        </p:nvSpPr>
        <p:spPr>
          <a:xfrm>
            <a:off x="723900" y="2333625"/>
            <a:ext cx="4857750" cy="1733550"/>
          </a:xfrm>
          <a:prstGeom prst="roundRect">
            <a:avLst>
              <a:gd name="adj" fmla="val 9890"/>
            </a:avLst>
          </a:prstGeom>
          <a:solidFill>
            <a:srgbClr val="F4F1E8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FBE7C5F-52E6-4427-B272-C83CC8EB1C3F}"/>
              </a:ext>
            </a:extLst>
          </p:cNvPr>
          <p:cNvSpPr>
            <a:spLocks noGrp="1"/>
          </p:cNvSpPr>
          <p:nvPr/>
        </p:nvSpPr>
        <p:spPr>
          <a:xfrm>
            <a:off x="990600" y="2714625"/>
            <a:ext cx="4324350" cy="8763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ctr">
              <a:lnSpc>
                <a:spcPct val="115000"/>
              </a:lnSpc>
              <a:buNone/>
              <a:defRPr sz="270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0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完成一个考勤管理程序。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E971AA6-B668-46A8-8962-9BCEC86B7921}"/>
              </a:ext>
            </a:extLst>
          </p:cNvPr>
          <p:cNvSpPr>
            <a:spLocks noGrp="1"/>
          </p:cNvSpPr>
          <p:nvPr/>
        </p:nvSpPr>
        <p:spPr>
          <a:xfrm>
            <a:off x="876300" y="4362450"/>
            <a:ext cx="4705350" cy="666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ctr">
              <a:lnSpc>
                <a:spcPct val="115000"/>
              </a:lnSpc>
              <a:buNone/>
              <a:defRPr sz="2100" b="0">
                <a:solidFill>
                  <a:srgbClr val="5C706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 dirty="0" err="1">
                <a:solidFill>
                  <a:srgbClr val="5C7068"/>
                </a:solidFill>
                <a:latin typeface="Hiragino Sans GB"/>
                <a:ea typeface="Hiragino Sans GB"/>
                <a:cs typeface="Hiragino Sans GB"/>
              </a:rPr>
              <a:t>缺少语言、界面、数据格式和验收标准</a:t>
            </a:r>
            <a:endParaRPr sz="2100" b="0" dirty="0">
              <a:solidFill>
                <a:srgbClr val="5C706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9B516B3-F462-4372-ACA7-920A0D35C069}"/>
              </a:ext>
            </a:extLst>
          </p:cNvPr>
          <p:cNvSpPr>
            <a:spLocks noGrp="1"/>
          </p:cNvSpPr>
          <p:nvPr/>
        </p:nvSpPr>
        <p:spPr>
          <a:xfrm>
            <a:off x="6381750" y="1762125"/>
            <a:ext cx="4857750" cy="4381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5000"/>
              </a:lnSpc>
              <a:buNone/>
              <a:defRPr sz="22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可执行的描述</a:t>
            </a: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4A10C42E-7AFE-4860-B9FB-4E167A3E22E8}"/>
              </a:ext>
            </a:extLst>
          </p:cNvPr>
          <p:cNvSpPr>
            <a:spLocks noGrp="1"/>
          </p:cNvSpPr>
          <p:nvPr/>
        </p:nvSpPr>
        <p:spPr>
          <a:xfrm>
            <a:off x="6381750" y="2333625"/>
            <a:ext cx="4857750" cy="3143250"/>
          </a:xfrm>
          <a:prstGeom prst="roundRect">
            <a:avLst>
              <a:gd name="adj" fmla="val 5455"/>
            </a:avLst>
          </a:prstGeom>
          <a:solidFill>
            <a:srgbClr val="EAF5F0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C62353A-144D-4A3F-BE19-2C957C930184}"/>
              </a:ext>
            </a:extLst>
          </p:cNvPr>
          <p:cNvSpPr>
            <a:spLocks noGrp="1"/>
          </p:cNvSpPr>
          <p:nvPr/>
        </p:nvSpPr>
        <p:spPr>
          <a:xfrm>
            <a:off x="6705600" y="2590800"/>
            <a:ext cx="4210050" cy="26670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25000"/>
              </a:lnSpc>
              <a:buNone/>
              <a:defRPr sz="2025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使用 Python 完成考勤管理小程序</a:t>
            </a:r>
          </a:p>
          <a:p>
            <a:pPr algn="l">
              <a:lnSpc>
                <a:spcPct val="125000"/>
              </a:lnSpc>
              <a:buNone/>
              <a:defRPr sz="2025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编写 UI 界面</a:t>
            </a:r>
          </a:p>
          <a:p>
            <a:pPr algn="l">
              <a:lnSpc>
                <a:spcPct val="125000"/>
              </a:lnSpc>
              <a:buNone/>
              <a:defRPr sz="2025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按 input-samples 读取表格</a:t>
            </a:r>
          </a:p>
          <a:p>
            <a:pPr algn="l">
              <a:lnSpc>
                <a:spcPct val="125000"/>
              </a:lnSpc>
              <a:buNone/>
              <a:defRPr sz="2025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按 output-samples 输出表格</a:t>
            </a:r>
          </a:p>
          <a:p>
            <a:pPr algn="l">
              <a:lnSpc>
                <a:spcPct val="125000"/>
              </a:lnSpc>
              <a:buNone/>
              <a:defRPr sz="2025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打包为 exe，完成后实际测试</a:t>
            </a:r>
          </a:p>
        </p:txBody>
      </p:sp>
    </p:spTree>
    <p:extLst>
      <p:ext uri="{BB962C8B-B14F-4D97-AF65-F5344CB8AC3E}">
        <p14:creationId xmlns:p14="http://schemas.microsoft.com/office/powerpoint/2010/main" val="15112190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a16:creationId xmlns:a16="http://schemas.microsoft.com/office/drawing/2014/main" id="{AD83C889-C38F-4668-8FD9-7557EC13975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B6B4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894AA0D-C6E9-4946-BB5A-1F95CA6ED1BD}"/>
              </a:ext>
            </a:extLst>
          </p:cNvPr>
          <p:cNvSpPr>
            <a:spLocks noGrp="1"/>
          </p:cNvSpPr>
          <p:nvPr/>
        </p:nvSpPr>
        <p:spPr>
          <a:xfrm>
            <a:off x="609600" y="333375"/>
            <a:ext cx="4572000" cy="3238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5000"/>
              </a:lnSpc>
              <a:buNone/>
              <a:defRPr sz="20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01  课程导入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3AC6C50-1D26-4CD5-8508-3EB68A301EF0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590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5000"/>
              </a:lnSpc>
              <a:buNone/>
              <a:defRPr sz="330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可执行任务说明的关键信息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D16E965-02EB-40F6-B1FD-7ADFF88FBEEE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BBD9C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15C2BBF-8AFE-4BAD-9509-BECDE81D13D8}"/>
              </a:ext>
            </a:extLst>
          </p:cNvPr>
          <p:cNvSpPr>
            <a:spLocks noGrp="1"/>
          </p:cNvSpPr>
          <p:nvPr/>
        </p:nvSpPr>
        <p:spPr>
          <a:xfrm>
            <a:off x="723900" y="1809750"/>
            <a:ext cx="3333750" cy="4572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5000"/>
              </a:lnSpc>
              <a:buNone/>
              <a:defRPr sz="240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语言与环境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F93EEE7-5768-4138-98AF-16DE6CE696DD}"/>
              </a:ext>
            </a:extLst>
          </p:cNvPr>
          <p:cNvSpPr>
            <a:spLocks noGrp="1"/>
          </p:cNvSpPr>
          <p:nvPr/>
        </p:nvSpPr>
        <p:spPr>
          <a:xfrm>
            <a:off x="723900" y="2400300"/>
            <a:ext cx="3333750" cy="38100"/>
          </a:xfrm>
          <a:prstGeom prst="rect">
            <a:avLst/>
          </a:prstGeom>
          <a:solidFill>
            <a:srgbClr val="BBD9C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E18DAA0-12C8-4309-960D-F353ABBBC8C5}"/>
              </a:ext>
            </a:extLst>
          </p:cNvPr>
          <p:cNvSpPr>
            <a:spLocks noGrp="1"/>
          </p:cNvSpPr>
          <p:nvPr/>
        </p:nvSpPr>
        <p:spPr>
          <a:xfrm>
            <a:off x="723900" y="2647950"/>
            <a:ext cx="3333750" cy="742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25000"/>
              </a:lnSpc>
              <a:buNone/>
              <a:defRPr sz="210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Python、GUI、运行平台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C785BC8-224A-4034-AA5C-7CDEEDA5C506}"/>
              </a:ext>
            </a:extLst>
          </p:cNvPr>
          <p:cNvSpPr>
            <a:spLocks noGrp="1"/>
          </p:cNvSpPr>
          <p:nvPr/>
        </p:nvSpPr>
        <p:spPr>
          <a:xfrm>
            <a:off x="4486275" y="1809750"/>
            <a:ext cx="3333750" cy="4572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5000"/>
              </a:lnSpc>
              <a:buNone/>
              <a:defRPr sz="240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数据输入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AA649F6-1015-4C84-8FE9-E14C1DDDA228}"/>
              </a:ext>
            </a:extLst>
          </p:cNvPr>
          <p:cNvSpPr>
            <a:spLocks noGrp="1"/>
          </p:cNvSpPr>
          <p:nvPr/>
        </p:nvSpPr>
        <p:spPr>
          <a:xfrm>
            <a:off x="4486275" y="2400300"/>
            <a:ext cx="3333750" cy="38100"/>
          </a:xfrm>
          <a:prstGeom prst="rect">
            <a:avLst/>
          </a:prstGeom>
          <a:solidFill>
            <a:srgbClr val="BBD9C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6B6648E-E9C2-4AD8-AABD-F0C22C1FB170}"/>
              </a:ext>
            </a:extLst>
          </p:cNvPr>
          <p:cNvSpPr>
            <a:spLocks noGrp="1"/>
          </p:cNvSpPr>
          <p:nvPr/>
        </p:nvSpPr>
        <p:spPr>
          <a:xfrm>
            <a:off x="4486275" y="2647950"/>
            <a:ext cx="3333750" cy="742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25000"/>
              </a:lnSpc>
              <a:buNone/>
              <a:defRPr sz="210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来源、文件格式和样例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A7D17E9-90CB-4BC3-97D0-88D51CFE96CF}"/>
              </a:ext>
            </a:extLst>
          </p:cNvPr>
          <p:cNvSpPr>
            <a:spLocks noGrp="1"/>
          </p:cNvSpPr>
          <p:nvPr/>
        </p:nvSpPr>
        <p:spPr>
          <a:xfrm>
            <a:off x="8248650" y="1809750"/>
            <a:ext cx="3333750" cy="4572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5000"/>
              </a:lnSpc>
              <a:buNone/>
              <a:defRPr sz="240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预期输出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A4E2E29-08A9-4EE6-88E0-768BBEB11369}"/>
              </a:ext>
            </a:extLst>
          </p:cNvPr>
          <p:cNvSpPr>
            <a:spLocks noGrp="1"/>
          </p:cNvSpPr>
          <p:nvPr/>
        </p:nvSpPr>
        <p:spPr>
          <a:xfrm>
            <a:off x="8248650" y="2400300"/>
            <a:ext cx="3333750" cy="38100"/>
          </a:xfrm>
          <a:prstGeom prst="rect">
            <a:avLst/>
          </a:prstGeom>
          <a:solidFill>
            <a:srgbClr val="BBD9C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6526333-AF09-4EE3-A2EF-722A5785A97F}"/>
              </a:ext>
            </a:extLst>
          </p:cNvPr>
          <p:cNvSpPr>
            <a:spLocks noGrp="1"/>
          </p:cNvSpPr>
          <p:nvPr/>
        </p:nvSpPr>
        <p:spPr>
          <a:xfrm>
            <a:off x="8248650" y="2647950"/>
            <a:ext cx="3333750" cy="742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25000"/>
              </a:lnSpc>
              <a:buNone/>
              <a:defRPr sz="210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内容、格式和保存位置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A7EDB19-75A6-4E67-B067-32926B732814}"/>
              </a:ext>
            </a:extLst>
          </p:cNvPr>
          <p:cNvSpPr>
            <a:spLocks noGrp="1"/>
          </p:cNvSpPr>
          <p:nvPr/>
        </p:nvSpPr>
        <p:spPr>
          <a:xfrm>
            <a:off x="723900" y="3762375"/>
            <a:ext cx="3333750" cy="4572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5000"/>
              </a:lnSpc>
              <a:buNone/>
              <a:defRPr sz="240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修改范围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2AF9D5E-8D92-49CF-B603-8668D9771BA3}"/>
              </a:ext>
            </a:extLst>
          </p:cNvPr>
          <p:cNvSpPr>
            <a:spLocks noGrp="1"/>
          </p:cNvSpPr>
          <p:nvPr/>
        </p:nvSpPr>
        <p:spPr>
          <a:xfrm>
            <a:off x="723900" y="4352925"/>
            <a:ext cx="3333750" cy="38100"/>
          </a:xfrm>
          <a:prstGeom prst="rect">
            <a:avLst/>
          </a:prstGeom>
          <a:solidFill>
            <a:srgbClr val="BBD9C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A4DE68A-ECE3-4CD2-B0D2-07EB6CD5A177}"/>
              </a:ext>
            </a:extLst>
          </p:cNvPr>
          <p:cNvSpPr>
            <a:spLocks noGrp="1"/>
          </p:cNvSpPr>
          <p:nvPr/>
        </p:nvSpPr>
        <p:spPr>
          <a:xfrm>
            <a:off x="723900" y="4600575"/>
            <a:ext cx="3333750" cy="742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25000"/>
              </a:lnSpc>
              <a:buNone/>
              <a:defRPr sz="210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允许改动的文件与接口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83B21AE-89AB-456B-AA54-9034CD267788}"/>
              </a:ext>
            </a:extLst>
          </p:cNvPr>
          <p:cNvSpPr>
            <a:spLocks noGrp="1"/>
          </p:cNvSpPr>
          <p:nvPr/>
        </p:nvSpPr>
        <p:spPr>
          <a:xfrm>
            <a:off x="4486275" y="3762375"/>
            <a:ext cx="3333750" cy="4572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5000"/>
              </a:lnSpc>
              <a:buNone/>
              <a:defRPr sz="240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交付形式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528EB4D-80A7-4124-A94D-804EF4484F55}"/>
              </a:ext>
            </a:extLst>
          </p:cNvPr>
          <p:cNvSpPr>
            <a:spLocks noGrp="1"/>
          </p:cNvSpPr>
          <p:nvPr/>
        </p:nvSpPr>
        <p:spPr>
          <a:xfrm>
            <a:off x="4486275" y="4352925"/>
            <a:ext cx="3333750" cy="38100"/>
          </a:xfrm>
          <a:prstGeom prst="rect">
            <a:avLst/>
          </a:prstGeom>
          <a:solidFill>
            <a:srgbClr val="BBD9C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D708D88-31A6-4E8E-AB4D-5855057F1C38}"/>
              </a:ext>
            </a:extLst>
          </p:cNvPr>
          <p:cNvSpPr>
            <a:spLocks noGrp="1"/>
          </p:cNvSpPr>
          <p:nvPr/>
        </p:nvSpPr>
        <p:spPr>
          <a:xfrm>
            <a:off x="4486275" y="4600575"/>
            <a:ext cx="3333750" cy="742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25000"/>
              </a:lnSpc>
              <a:buNone/>
              <a:defRPr sz="210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源代码、可执行文件或说明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DECD7785-B6D7-4A34-B63A-C5DCA4828CA0}"/>
              </a:ext>
            </a:extLst>
          </p:cNvPr>
          <p:cNvSpPr>
            <a:spLocks noGrp="1"/>
          </p:cNvSpPr>
          <p:nvPr/>
        </p:nvSpPr>
        <p:spPr>
          <a:xfrm>
            <a:off x="8248650" y="3762375"/>
            <a:ext cx="3333750" cy="4572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5000"/>
              </a:lnSpc>
              <a:buNone/>
              <a:defRPr sz="240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验证要求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2D008214-61DD-4488-BC6F-7261236F2423}"/>
              </a:ext>
            </a:extLst>
          </p:cNvPr>
          <p:cNvSpPr>
            <a:spLocks noGrp="1"/>
          </p:cNvSpPr>
          <p:nvPr/>
        </p:nvSpPr>
        <p:spPr>
          <a:xfrm>
            <a:off x="8248650" y="4352925"/>
            <a:ext cx="3333750" cy="38100"/>
          </a:xfrm>
          <a:prstGeom prst="rect">
            <a:avLst/>
          </a:prstGeom>
          <a:solidFill>
            <a:srgbClr val="BBD9C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436DC6F9-03AA-4B3B-9D67-0FF4C38D1568}"/>
              </a:ext>
            </a:extLst>
          </p:cNvPr>
          <p:cNvSpPr>
            <a:spLocks noGrp="1"/>
          </p:cNvSpPr>
          <p:nvPr/>
        </p:nvSpPr>
        <p:spPr>
          <a:xfrm>
            <a:off x="8248650" y="4600575"/>
            <a:ext cx="3333750" cy="742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25000"/>
              </a:lnSpc>
              <a:buNone/>
              <a:defRPr sz="210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需要运行的检查与测试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2030D574-391E-4F90-9842-90D7B9B8D670}"/>
              </a:ext>
            </a:extLst>
          </p:cNvPr>
          <p:cNvSpPr>
            <a:spLocks noGrp="1"/>
          </p:cNvSpPr>
          <p:nvPr/>
        </p:nvSpPr>
        <p:spPr>
          <a:xfrm>
            <a:off x="685800" y="5905500"/>
            <a:ext cx="10820400" cy="4381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ctr">
              <a:lnSpc>
                <a:spcPct val="115000"/>
              </a:lnSpc>
              <a:buNone/>
              <a:defRPr sz="210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信息项目不需要机械齐全，只保留会改变执行结果的内容</a:t>
            </a:r>
          </a:p>
        </p:txBody>
      </p:sp>
    </p:spTree>
    <p:extLst>
      <p:ext uri="{BB962C8B-B14F-4D97-AF65-F5344CB8AC3E}">
        <p14:creationId xmlns:p14="http://schemas.microsoft.com/office/powerpoint/2010/main" val="16573769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>
            <a:extLst>
              <a:ext uri="{FF2B5EF4-FFF2-40B4-BE49-F238E27FC236}">
                <a16:creationId xmlns:a16="http://schemas.microsoft.com/office/drawing/2014/main" id="{EAD71C47-AF35-44DA-87BE-6E666584CDC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B6B4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B3D62CA-7A13-4123-B3DF-F08BD481EE6B}"/>
              </a:ext>
            </a:extLst>
          </p:cNvPr>
          <p:cNvSpPr>
            <a:spLocks noGrp="1"/>
          </p:cNvSpPr>
          <p:nvPr/>
        </p:nvSpPr>
        <p:spPr>
          <a:xfrm>
            <a:off x="609600" y="333375"/>
            <a:ext cx="4572000" cy="3238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5000"/>
              </a:lnSpc>
              <a:buNone/>
              <a:defRPr sz="20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02  发展脉络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0846BCC-CE59-48D2-8691-BFD682352EDF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590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5000"/>
              </a:lnSpc>
              <a:buNone/>
              <a:defRPr sz="330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AI 辅助编程的发展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2FA24BE-9E56-4543-BF05-F9ECA9F0AA6D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BBD9C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405A651-7F34-4E32-AB49-CA11D4ED3656}"/>
              </a:ext>
            </a:extLst>
          </p:cNvPr>
          <p:cNvSpPr>
            <a:spLocks noGrp="1"/>
          </p:cNvSpPr>
          <p:nvPr/>
        </p:nvSpPr>
        <p:spPr>
          <a:xfrm>
            <a:off x="685800" y="2000250"/>
            <a:ext cx="762000" cy="42862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5000"/>
              </a:lnSpc>
              <a:buNone/>
              <a:defRPr sz="240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01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D4E12CA-2F93-4038-BAA4-735C985311D4}"/>
              </a:ext>
            </a:extLst>
          </p:cNvPr>
          <p:cNvSpPr>
            <a:spLocks noGrp="1"/>
          </p:cNvSpPr>
          <p:nvPr/>
        </p:nvSpPr>
        <p:spPr>
          <a:xfrm>
            <a:off x="685800" y="2571750"/>
            <a:ext cx="2381250" cy="57150"/>
          </a:xfrm>
          <a:prstGeom prst="rect">
            <a:avLst/>
          </a:prstGeom>
          <a:solidFill>
            <a:srgbClr val="BBD9C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BEB220C-898D-4718-8FAB-C2B30A2A4388}"/>
              </a:ext>
            </a:extLst>
          </p:cNvPr>
          <p:cNvSpPr>
            <a:spLocks noGrp="1"/>
          </p:cNvSpPr>
          <p:nvPr/>
        </p:nvSpPr>
        <p:spPr>
          <a:xfrm>
            <a:off x="685800" y="2952750"/>
            <a:ext cx="2381250" cy="4953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5000"/>
              </a:lnSpc>
              <a:buNone/>
              <a:defRPr sz="255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代码补全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FF44CC5-18EF-4F33-9E90-A8DA561C3B9A}"/>
              </a:ext>
            </a:extLst>
          </p:cNvPr>
          <p:cNvSpPr>
            <a:spLocks noGrp="1"/>
          </p:cNvSpPr>
          <p:nvPr/>
        </p:nvSpPr>
        <p:spPr>
          <a:xfrm>
            <a:off x="685800" y="3714750"/>
            <a:ext cx="2381250" cy="11430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30000"/>
              </a:lnSpc>
              <a:buNone/>
              <a:defRPr sz="2100" b="0">
                <a:solidFill>
                  <a:srgbClr val="5C706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5C7068"/>
                </a:solidFill>
                <a:latin typeface="Hiragino Sans GB"/>
                <a:ea typeface="Hiragino Sans GB"/>
                <a:cs typeface="Hiragino Sans GB"/>
              </a:rPr>
              <a:t>预测下一行或代码片段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8C344F6-B049-4C5E-865E-7CDF28D77222}"/>
              </a:ext>
            </a:extLst>
          </p:cNvPr>
          <p:cNvSpPr>
            <a:spLocks noGrp="1"/>
          </p:cNvSpPr>
          <p:nvPr/>
        </p:nvSpPr>
        <p:spPr>
          <a:xfrm>
            <a:off x="3467100" y="2000250"/>
            <a:ext cx="762000" cy="42862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5000"/>
              </a:lnSpc>
              <a:buNone/>
              <a:defRPr sz="240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B8FDF14-D95B-4DB0-9806-CACF8AE17CC7}"/>
              </a:ext>
            </a:extLst>
          </p:cNvPr>
          <p:cNvSpPr>
            <a:spLocks noGrp="1"/>
          </p:cNvSpPr>
          <p:nvPr/>
        </p:nvSpPr>
        <p:spPr>
          <a:xfrm>
            <a:off x="3467100" y="2571750"/>
            <a:ext cx="2381250" cy="57150"/>
          </a:xfrm>
          <a:prstGeom prst="rect">
            <a:avLst/>
          </a:prstGeom>
          <a:solidFill>
            <a:srgbClr val="BBD9C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7A7D295-E8E6-4480-9697-70D013DA0264}"/>
              </a:ext>
            </a:extLst>
          </p:cNvPr>
          <p:cNvSpPr>
            <a:spLocks noGrp="1"/>
          </p:cNvSpPr>
          <p:nvPr/>
        </p:nvSpPr>
        <p:spPr>
          <a:xfrm>
            <a:off x="3467100" y="2952750"/>
            <a:ext cx="2381250" cy="4953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5000"/>
              </a:lnSpc>
              <a:buNone/>
              <a:defRPr sz="255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对话式助手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5FC2F04-BFE4-47AC-AFDB-FE93EF746C76}"/>
              </a:ext>
            </a:extLst>
          </p:cNvPr>
          <p:cNvSpPr>
            <a:spLocks noGrp="1"/>
          </p:cNvSpPr>
          <p:nvPr/>
        </p:nvSpPr>
        <p:spPr>
          <a:xfrm>
            <a:off x="3467100" y="3714750"/>
            <a:ext cx="2381250" cy="11430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30000"/>
              </a:lnSpc>
              <a:buNone/>
              <a:defRPr sz="2100" b="0">
                <a:solidFill>
                  <a:srgbClr val="5C706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5C7068"/>
                </a:solidFill>
                <a:latin typeface="Hiragino Sans GB"/>
                <a:ea typeface="Hiragino Sans GB"/>
                <a:cs typeface="Hiragino Sans GB"/>
              </a:rPr>
              <a:t>解释、生成、分析报错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2B9AED0-FD9C-462F-8593-688778BC4792}"/>
              </a:ext>
            </a:extLst>
          </p:cNvPr>
          <p:cNvSpPr>
            <a:spLocks noGrp="1"/>
          </p:cNvSpPr>
          <p:nvPr/>
        </p:nvSpPr>
        <p:spPr>
          <a:xfrm>
            <a:off x="6248400" y="2000250"/>
            <a:ext cx="762000" cy="42862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5000"/>
              </a:lnSpc>
              <a:buNone/>
              <a:defRPr sz="240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03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1B0A7FA-C8C4-4A95-836B-EF92308B7DAF}"/>
              </a:ext>
            </a:extLst>
          </p:cNvPr>
          <p:cNvSpPr>
            <a:spLocks noGrp="1"/>
          </p:cNvSpPr>
          <p:nvPr/>
        </p:nvSpPr>
        <p:spPr>
          <a:xfrm>
            <a:off x="6248400" y="2571750"/>
            <a:ext cx="2381250" cy="57150"/>
          </a:xfrm>
          <a:prstGeom prst="rect">
            <a:avLst/>
          </a:prstGeom>
          <a:solidFill>
            <a:srgbClr val="BBD9C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C3A7A40-380D-4540-9436-FA380921DD65}"/>
              </a:ext>
            </a:extLst>
          </p:cNvPr>
          <p:cNvSpPr>
            <a:spLocks noGrp="1"/>
          </p:cNvSpPr>
          <p:nvPr/>
        </p:nvSpPr>
        <p:spPr>
          <a:xfrm>
            <a:off x="6248400" y="2952750"/>
            <a:ext cx="2381250" cy="4953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5000"/>
              </a:lnSpc>
              <a:buNone/>
              <a:defRPr sz="255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多文件编辑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0814FB9-702F-49B8-8176-541C35D7D73B}"/>
              </a:ext>
            </a:extLst>
          </p:cNvPr>
          <p:cNvSpPr>
            <a:spLocks noGrp="1"/>
          </p:cNvSpPr>
          <p:nvPr/>
        </p:nvSpPr>
        <p:spPr>
          <a:xfrm>
            <a:off x="6248400" y="3714750"/>
            <a:ext cx="2381250" cy="11430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30000"/>
              </a:lnSpc>
              <a:buNone/>
              <a:defRPr sz="2100" b="0">
                <a:solidFill>
                  <a:srgbClr val="5C706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5C7068"/>
                </a:solidFill>
                <a:latin typeface="Hiragino Sans GB"/>
                <a:ea typeface="Hiragino Sans GB"/>
                <a:cs typeface="Hiragino Sans GB"/>
              </a:rPr>
              <a:t>读取项目并同步修改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B641310-ADFC-4B23-9B87-5B55CEB1F35E}"/>
              </a:ext>
            </a:extLst>
          </p:cNvPr>
          <p:cNvSpPr>
            <a:spLocks noGrp="1"/>
          </p:cNvSpPr>
          <p:nvPr/>
        </p:nvSpPr>
        <p:spPr>
          <a:xfrm>
            <a:off x="9029700" y="2000250"/>
            <a:ext cx="762000" cy="42862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5000"/>
              </a:lnSpc>
              <a:buNone/>
              <a:defRPr sz="240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04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A98851C-373A-40E6-8701-1FA38151140F}"/>
              </a:ext>
            </a:extLst>
          </p:cNvPr>
          <p:cNvSpPr>
            <a:spLocks noGrp="1"/>
          </p:cNvSpPr>
          <p:nvPr/>
        </p:nvSpPr>
        <p:spPr>
          <a:xfrm>
            <a:off x="9029700" y="2571750"/>
            <a:ext cx="2381250" cy="57150"/>
          </a:xfrm>
          <a:prstGeom prst="rect">
            <a:avLst/>
          </a:prstGeom>
          <a:solidFill>
            <a:srgbClr val="0B6B4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EE14102-2411-4DC0-8FA0-2FCE6F954515}"/>
              </a:ext>
            </a:extLst>
          </p:cNvPr>
          <p:cNvSpPr>
            <a:spLocks noGrp="1"/>
          </p:cNvSpPr>
          <p:nvPr/>
        </p:nvSpPr>
        <p:spPr>
          <a:xfrm>
            <a:off x="9029700" y="2952750"/>
            <a:ext cx="2381250" cy="4953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5000"/>
              </a:lnSpc>
              <a:buNone/>
              <a:defRPr sz="255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编码 Agent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60AFB4EE-4011-4620-BF6B-FE6A2B31B3DC}"/>
              </a:ext>
            </a:extLst>
          </p:cNvPr>
          <p:cNvSpPr>
            <a:spLocks noGrp="1"/>
          </p:cNvSpPr>
          <p:nvPr/>
        </p:nvSpPr>
        <p:spPr>
          <a:xfrm>
            <a:off x="9029700" y="3714750"/>
            <a:ext cx="2381250" cy="11430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30000"/>
              </a:lnSpc>
              <a:buNone/>
              <a:defRPr sz="2100" b="0">
                <a:solidFill>
                  <a:srgbClr val="5C706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5C7068"/>
                </a:solidFill>
                <a:latin typeface="Hiragino Sans GB"/>
                <a:ea typeface="Hiragino Sans GB"/>
                <a:cs typeface="Hiragino Sans GB"/>
              </a:rPr>
              <a:t>搜索、编辑、运行和迭代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4C3E640-6A56-4BE4-A543-15BFF0195864}"/>
              </a:ext>
            </a:extLst>
          </p:cNvPr>
          <p:cNvSpPr>
            <a:spLocks noGrp="1"/>
          </p:cNvSpPr>
          <p:nvPr/>
        </p:nvSpPr>
        <p:spPr>
          <a:xfrm>
            <a:off x="685800" y="5476875"/>
            <a:ext cx="10820400" cy="4572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ctr">
              <a:lnSpc>
                <a:spcPct val="115000"/>
              </a:lnSpc>
              <a:buNone/>
              <a:defRPr sz="240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开发者仍然负责目标、范围和最终验收</a:t>
            </a:r>
          </a:p>
        </p:txBody>
      </p:sp>
    </p:spTree>
    <p:extLst>
      <p:ext uri="{BB962C8B-B14F-4D97-AF65-F5344CB8AC3E}">
        <p14:creationId xmlns:p14="http://schemas.microsoft.com/office/powerpoint/2010/main" val="5754276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C5EBED9E-0C7B-4FD3-8DBA-98D65E7E737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B6B4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1ECBD64-EC96-4825-B1B7-9F248B2594A3}"/>
              </a:ext>
            </a:extLst>
          </p:cNvPr>
          <p:cNvSpPr>
            <a:spLocks noGrp="1"/>
          </p:cNvSpPr>
          <p:nvPr/>
        </p:nvSpPr>
        <p:spPr>
          <a:xfrm>
            <a:off x="609600" y="333375"/>
            <a:ext cx="4572000" cy="3238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5000"/>
              </a:lnSpc>
              <a:buNone/>
              <a:defRPr sz="20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02  发展脉络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16B52BA-76E0-42D7-9D7A-C321A8372E86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590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5000"/>
              </a:lnSpc>
              <a:buNone/>
              <a:defRPr sz="330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从局部建议到项目修改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624E587-BB38-4290-8349-41691E3E9B3B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BBD9C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93A879BD-0ADA-4A3B-846F-E830E68F1E30}"/>
              </a:ext>
            </a:extLst>
          </p:cNvPr>
          <p:cNvSpPr>
            <a:spLocks noGrp="1"/>
          </p:cNvSpPr>
          <p:nvPr/>
        </p:nvSpPr>
        <p:spPr>
          <a:xfrm>
            <a:off x="742950" y="1857375"/>
            <a:ext cx="4953000" cy="3429000"/>
          </a:xfrm>
          <a:prstGeom prst="roundRect">
            <a:avLst>
              <a:gd name="adj" fmla="val 6111"/>
            </a:avLst>
          </a:prstGeom>
          <a:solidFill>
            <a:srgbClr val="F5FAF8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361B6692-E518-498D-AA1F-7C561671F2D1}"/>
              </a:ext>
            </a:extLst>
          </p:cNvPr>
          <p:cNvSpPr>
            <a:spLocks noGrp="1"/>
          </p:cNvSpPr>
          <p:nvPr/>
        </p:nvSpPr>
        <p:spPr>
          <a:xfrm>
            <a:off x="6496050" y="1857375"/>
            <a:ext cx="4953000" cy="3429000"/>
          </a:xfrm>
          <a:prstGeom prst="roundRect">
            <a:avLst>
              <a:gd name="adj" fmla="val 6111"/>
            </a:avLst>
          </a:prstGeom>
          <a:solidFill>
            <a:srgbClr val="EAF5F0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0BDA819-A153-464F-B61B-83E9C9C18E06}"/>
              </a:ext>
            </a:extLst>
          </p:cNvPr>
          <p:cNvSpPr>
            <a:spLocks noGrp="1"/>
          </p:cNvSpPr>
          <p:nvPr/>
        </p:nvSpPr>
        <p:spPr>
          <a:xfrm>
            <a:off x="1066800" y="2238375"/>
            <a:ext cx="4305300" cy="5238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ctr">
              <a:lnSpc>
                <a:spcPct val="115000"/>
              </a:lnSpc>
              <a:buNone/>
              <a:defRPr sz="285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85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局部建议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A2FFAC7-2601-4F3E-B357-CDA9E1DD48A9}"/>
              </a:ext>
            </a:extLst>
          </p:cNvPr>
          <p:cNvSpPr>
            <a:spLocks noGrp="1"/>
          </p:cNvSpPr>
          <p:nvPr/>
        </p:nvSpPr>
        <p:spPr>
          <a:xfrm>
            <a:off x="1143000" y="3143250"/>
            <a:ext cx="4152900" cy="9525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ctr">
              <a:lnSpc>
                <a:spcPct val="130000"/>
              </a:lnSpc>
              <a:buNone/>
              <a:defRPr sz="2175" b="0">
                <a:solidFill>
                  <a:srgbClr val="5C706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5C7068"/>
                </a:solidFill>
                <a:latin typeface="Hiragino Sans GB"/>
                <a:ea typeface="Hiragino Sans GB"/>
                <a:cs typeface="Hiragino Sans GB"/>
              </a:rPr>
              <a:t>主要上下文</a:t>
            </a:r>
          </a:p>
          <a:p>
            <a:pPr algn="ctr">
              <a:lnSpc>
                <a:spcPct val="130000"/>
              </a:lnSpc>
              <a:buNone/>
              <a:defRPr sz="2175" b="0">
                <a:solidFill>
                  <a:srgbClr val="5C706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5C7068"/>
                </a:solidFill>
                <a:latin typeface="Hiragino Sans GB"/>
                <a:ea typeface="Hiragino Sans GB"/>
                <a:cs typeface="Hiragino Sans GB"/>
              </a:rPr>
              <a:t>当前文件和光标附近代码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D0F24DF-C2C3-421B-80BD-E2CA2847CEA3}"/>
              </a:ext>
            </a:extLst>
          </p:cNvPr>
          <p:cNvSpPr>
            <a:spLocks noGrp="1"/>
          </p:cNvSpPr>
          <p:nvPr/>
        </p:nvSpPr>
        <p:spPr>
          <a:xfrm>
            <a:off x="1143000" y="4476750"/>
            <a:ext cx="4152900" cy="5143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ctr">
              <a:lnSpc>
                <a:spcPct val="115000"/>
              </a:lnSpc>
              <a:buNone/>
              <a:defRPr sz="217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开发者决定每一处修改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84667B2-0AF0-4172-8EDF-65CCC797EE6D}"/>
              </a:ext>
            </a:extLst>
          </p:cNvPr>
          <p:cNvSpPr>
            <a:spLocks noGrp="1"/>
          </p:cNvSpPr>
          <p:nvPr/>
        </p:nvSpPr>
        <p:spPr>
          <a:xfrm>
            <a:off x="6819900" y="2238375"/>
            <a:ext cx="4305300" cy="5238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ctr">
              <a:lnSpc>
                <a:spcPct val="115000"/>
              </a:lnSpc>
              <a:buNone/>
              <a:defRPr sz="285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85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项目修改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283516F-93F5-4786-A25D-01E2B4EBA9D7}"/>
              </a:ext>
            </a:extLst>
          </p:cNvPr>
          <p:cNvSpPr>
            <a:spLocks noGrp="1"/>
          </p:cNvSpPr>
          <p:nvPr/>
        </p:nvSpPr>
        <p:spPr>
          <a:xfrm>
            <a:off x="6896100" y="3143250"/>
            <a:ext cx="4152900" cy="9525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ctr">
              <a:lnSpc>
                <a:spcPct val="130000"/>
              </a:lnSpc>
              <a:buNone/>
              <a:defRPr sz="2175" b="0">
                <a:solidFill>
                  <a:srgbClr val="5C706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5C7068"/>
                </a:solidFill>
                <a:latin typeface="Hiragino Sans GB"/>
                <a:ea typeface="Hiragino Sans GB"/>
                <a:cs typeface="Hiragino Sans GB"/>
              </a:rPr>
              <a:t>主要上下文</a:t>
            </a:r>
          </a:p>
          <a:p>
            <a:pPr algn="ctr">
              <a:lnSpc>
                <a:spcPct val="130000"/>
              </a:lnSpc>
              <a:buNone/>
              <a:defRPr sz="2175" b="0">
                <a:solidFill>
                  <a:srgbClr val="5C706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5C7068"/>
                </a:solidFill>
                <a:latin typeface="Hiragino Sans GB"/>
                <a:ea typeface="Hiragino Sans GB"/>
                <a:cs typeface="Hiragino Sans GB"/>
              </a:rPr>
              <a:t>多个项目文件与现有调用关系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CB7C991-1FD3-4DBF-8568-9A6F1EC71612}"/>
              </a:ext>
            </a:extLst>
          </p:cNvPr>
          <p:cNvSpPr>
            <a:spLocks noGrp="1"/>
          </p:cNvSpPr>
          <p:nvPr/>
        </p:nvSpPr>
        <p:spPr>
          <a:xfrm>
            <a:off x="6896100" y="4476750"/>
            <a:ext cx="4152900" cy="5143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ctr">
              <a:lnSpc>
                <a:spcPct val="115000"/>
              </a:lnSpc>
              <a:buNone/>
              <a:defRPr sz="217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工具可同步生成多文件修改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460A89C-1C2C-4759-BDC6-9F8EC8079F93}"/>
              </a:ext>
            </a:extLst>
          </p:cNvPr>
          <p:cNvSpPr>
            <a:spLocks noGrp="1"/>
          </p:cNvSpPr>
          <p:nvPr/>
        </p:nvSpPr>
        <p:spPr>
          <a:xfrm>
            <a:off x="685800" y="5810250"/>
            <a:ext cx="10820400" cy="4572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ctr">
              <a:lnSpc>
                <a:spcPct val="115000"/>
              </a:lnSpc>
              <a:buNone/>
              <a:defRPr sz="217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变化的不只是输出长度，还包括可见范围和对项目状态的影响</a:t>
            </a:r>
          </a:p>
        </p:txBody>
      </p:sp>
    </p:spTree>
    <p:extLst>
      <p:ext uri="{BB962C8B-B14F-4D97-AF65-F5344CB8AC3E}">
        <p14:creationId xmlns:p14="http://schemas.microsoft.com/office/powerpoint/2010/main" val="3637702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>
            <a:extLst>
              <a:ext uri="{FF2B5EF4-FFF2-40B4-BE49-F238E27FC236}">
                <a16:creationId xmlns:a16="http://schemas.microsoft.com/office/drawing/2014/main" id="{57A35EFF-0F94-48B0-B292-3C172B6D59D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B6B4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8D7444D-EB41-4CA7-B0FE-F446BFA4544E}"/>
              </a:ext>
            </a:extLst>
          </p:cNvPr>
          <p:cNvSpPr>
            <a:spLocks noGrp="1"/>
          </p:cNvSpPr>
          <p:nvPr/>
        </p:nvSpPr>
        <p:spPr>
          <a:xfrm>
            <a:off x="609600" y="333375"/>
            <a:ext cx="4572000" cy="3238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5000"/>
              </a:lnSpc>
              <a:buNone/>
              <a:defRPr sz="20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02  发展脉络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8CDCDAA-EE91-4555-A196-FB14A7FAD5CA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590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5000"/>
              </a:lnSpc>
              <a:buNone/>
              <a:defRPr sz="330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编码 Agent 的连续执行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E43AA88-86B9-439B-B769-919F318B0115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BBD9C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CDCA6A5-096E-4AB7-B2A7-255EB09BBDBC}"/>
              </a:ext>
            </a:extLst>
          </p:cNvPr>
          <p:cNvSpPr>
            <a:spLocks noGrp="1"/>
          </p:cNvSpPr>
          <p:nvPr/>
        </p:nvSpPr>
        <p:spPr>
          <a:xfrm>
            <a:off x="685800" y="1952625"/>
            <a:ext cx="85725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5000"/>
              </a:lnSpc>
              <a:buNone/>
              <a:defRPr sz="270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0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01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6F8423E-CE9C-4B49-9D3A-1FD3D822CDE3}"/>
              </a:ext>
            </a:extLst>
          </p:cNvPr>
          <p:cNvSpPr>
            <a:spLocks noGrp="1"/>
          </p:cNvSpPr>
          <p:nvPr/>
        </p:nvSpPr>
        <p:spPr>
          <a:xfrm>
            <a:off x="685800" y="2619375"/>
            <a:ext cx="2400300" cy="47625"/>
          </a:xfrm>
          <a:prstGeom prst="rect">
            <a:avLst/>
          </a:prstGeom>
          <a:solidFill>
            <a:srgbClr val="BBD9C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E7943E6-2853-4646-88CE-CB6146718F0A}"/>
              </a:ext>
            </a:extLst>
          </p:cNvPr>
          <p:cNvSpPr>
            <a:spLocks noGrp="1"/>
          </p:cNvSpPr>
          <p:nvPr/>
        </p:nvSpPr>
        <p:spPr>
          <a:xfrm>
            <a:off x="685800" y="3048000"/>
            <a:ext cx="2400300" cy="61912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5000"/>
              </a:lnSpc>
              <a:buNone/>
              <a:defRPr sz="2475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75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接收任务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A7DA359-D92F-47C2-8BE0-E50B52CA7C53}"/>
              </a:ext>
            </a:extLst>
          </p:cNvPr>
          <p:cNvSpPr>
            <a:spLocks noGrp="1"/>
          </p:cNvSpPr>
          <p:nvPr/>
        </p:nvSpPr>
        <p:spPr>
          <a:xfrm>
            <a:off x="685800" y="3952875"/>
            <a:ext cx="2400300" cy="1028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30000"/>
              </a:lnSpc>
              <a:buNone/>
              <a:defRPr sz="2100" b="0">
                <a:solidFill>
                  <a:srgbClr val="5C706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5C7068"/>
                </a:solidFill>
                <a:latin typeface="Hiragino Sans GB"/>
                <a:ea typeface="Hiragino Sans GB"/>
                <a:cs typeface="Hiragino Sans GB"/>
              </a:rPr>
              <a:t>识别目标与约束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40B37C6-A52B-40CF-AEEA-2D7AEA226AB5}"/>
              </a:ext>
            </a:extLst>
          </p:cNvPr>
          <p:cNvSpPr>
            <a:spLocks noGrp="1"/>
          </p:cNvSpPr>
          <p:nvPr/>
        </p:nvSpPr>
        <p:spPr>
          <a:xfrm>
            <a:off x="3486150" y="1952625"/>
            <a:ext cx="85725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5000"/>
              </a:lnSpc>
              <a:buNone/>
              <a:defRPr sz="270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0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33F2855-1C2C-43BD-A7F0-A809E290DED4}"/>
              </a:ext>
            </a:extLst>
          </p:cNvPr>
          <p:cNvSpPr>
            <a:spLocks noGrp="1"/>
          </p:cNvSpPr>
          <p:nvPr/>
        </p:nvSpPr>
        <p:spPr>
          <a:xfrm>
            <a:off x="3486150" y="2619375"/>
            <a:ext cx="2400300" cy="47625"/>
          </a:xfrm>
          <a:prstGeom prst="rect">
            <a:avLst/>
          </a:prstGeom>
          <a:solidFill>
            <a:srgbClr val="BBD9C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E3E907D-249F-4F50-8176-B538EF230BDF}"/>
              </a:ext>
            </a:extLst>
          </p:cNvPr>
          <p:cNvSpPr>
            <a:spLocks noGrp="1"/>
          </p:cNvSpPr>
          <p:nvPr/>
        </p:nvSpPr>
        <p:spPr>
          <a:xfrm>
            <a:off x="3486150" y="3048000"/>
            <a:ext cx="2400300" cy="61912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5000"/>
              </a:lnSpc>
              <a:buNone/>
              <a:defRPr sz="2475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75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检查项目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87A7969-0FFA-42A1-9365-176480889C24}"/>
              </a:ext>
            </a:extLst>
          </p:cNvPr>
          <p:cNvSpPr>
            <a:spLocks noGrp="1"/>
          </p:cNvSpPr>
          <p:nvPr/>
        </p:nvSpPr>
        <p:spPr>
          <a:xfrm>
            <a:off x="3486150" y="3952875"/>
            <a:ext cx="2400300" cy="1028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30000"/>
              </a:lnSpc>
              <a:buNone/>
              <a:defRPr sz="2100" b="0">
                <a:solidFill>
                  <a:srgbClr val="5C706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5C7068"/>
                </a:solidFill>
                <a:latin typeface="Hiragino Sans GB"/>
                <a:ea typeface="Hiragino Sans GB"/>
                <a:cs typeface="Hiragino Sans GB"/>
              </a:rPr>
              <a:t>定位相关文件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663397D-9702-4653-A186-5A77AF5103E1}"/>
              </a:ext>
            </a:extLst>
          </p:cNvPr>
          <p:cNvSpPr>
            <a:spLocks noGrp="1"/>
          </p:cNvSpPr>
          <p:nvPr/>
        </p:nvSpPr>
        <p:spPr>
          <a:xfrm>
            <a:off x="6286500" y="1952625"/>
            <a:ext cx="85725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5000"/>
              </a:lnSpc>
              <a:buNone/>
              <a:defRPr sz="270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0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03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2C4AE97-043F-49F8-9E76-1F284C553B61}"/>
              </a:ext>
            </a:extLst>
          </p:cNvPr>
          <p:cNvSpPr>
            <a:spLocks noGrp="1"/>
          </p:cNvSpPr>
          <p:nvPr/>
        </p:nvSpPr>
        <p:spPr>
          <a:xfrm>
            <a:off x="6286500" y="2619375"/>
            <a:ext cx="2400300" cy="47625"/>
          </a:xfrm>
          <a:prstGeom prst="rect">
            <a:avLst/>
          </a:prstGeom>
          <a:solidFill>
            <a:srgbClr val="BBD9C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2C37442-9DAA-4BB8-906E-8C3FA6DF1659}"/>
              </a:ext>
            </a:extLst>
          </p:cNvPr>
          <p:cNvSpPr>
            <a:spLocks noGrp="1"/>
          </p:cNvSpPr>
          <p:nvPr/>
        </p:nvSpPr>
        <p:spPr>
          <a:xfrm>
            <a:off x="6286500" y="3048000"/>
            <a:ext cx="2400300" cy="61912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5000"/>
              </a:lnSpc>
              <a:buNone/>
              <a:defRPr sz="2475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75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修改与运行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18D1FAB-4DE9-440D-BF24-6EC161993809}"/>
              </a:ext>
            </a:extLst>
          </p:cNvPr>
          <p:cNvSpPr>
            <a:spLocks noGrp="1"/>
          </p:cNvSpPr>
          <p:nvPr/>
        </p:nvSpPr>
        <p:spPr>
          <a:xfrm>
            <a:off x="6286500" y="3952875"/>
            <a:ext cx="2400300" cy="1028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30000"/>
              </a:lnSpc>
              <a:buNone/>
              <a:defRPr sz="2100" b="0">
                <a:solidFill>
                  <a:srgbClr val="5C706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5C7068"/>
                </a:solidFill>
                <a:latin typeface="Hiragino Sans GB"/>
                <a:ea typeface="Hiragino Sans GB"/>
                <a:cs typeface="Hiragino Sans GB"/>
              </a:rPr>
              <a:t>产生文件变化和工具结果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0F35ED6-4CE1-468C-B83E-F8E3A4B8BAC5}"/>
              </a:ext>
            </a:extLst>
          </p:cNvPr>
          <p:cNvSpPr>
            <a:spLocks noGrp="1"/>
          </p:cNvSpPr>
          <p:nvPr/>
        </p:nvSpPr>
        <p:spPr>
          <a:xfrm>
            <a:off x="9086850" y="1952625"/>
            <a:ext cx="85725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5000"/>
              </a:lnSpc>
              <a:buNone/>
              <a:defRPr sz="270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0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04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28A0EF6-775D-400B-AFF1-A5511D8F2D02}"/>
              </a:ext>
            </a:extLst>
          </p:cNvPr>
          <p:cNvSpPr>
            <a:spLocks noGrp="1"/>
          </p:cNvSpPr>
          <p:nvPr/>
        </p:nvSpPr>
        <p:spPr>
          <a:xfrm>
            <a:off x="9086850" y="2619375"/>
            <a:ext cx="2400300" cy="47625"/>
          </a:xfrm>
          <a:prstGeom prst="rect">
            <a:avLst/>
          </a:prstGeom>
          <a:solidFill>
            <a:srgbClr val="0B6B4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7FDD8590-1954-4534-9CC7-C02D0E0017CD}"/>
              </a:ext>
            </a:extLst>
          </p:cNvPr>
          <p:cNvSpPr>
            <a:spLocks noGrp="1"/>
          </p:cNvSpPr>
          <p:nvPr/>
        </p:nvSpPr>
        <p:spPr>
          <a:xfrm>
            <a:off x="9086850" y="3048000"/>
            <a:ext cx="2400300" cy="61912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5000"/>
              </a:lnSpc>
              <a:buNone/>
              <a:defRPr sz="2475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75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根据结果调整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6082C1F-9761-40A2-9DF3-CD4FF413C935}"/>
              </a:ext>
            </a:extLst>
          </p:cNvPr>
          <p:cNvSpPr>
            <a:spLocks noGrp="1"/>
          </p:cNvSpPr>
          <p:nvPr/>
        </p:nvSpPr>
        <p:spPr>
          <a:xfrm>
            <a:off x="9086850" y="3952875"/>
            <a:ext cx="2400300" cy="1028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30000"/>
              </a:lnSpc>
              <a:buNone/>
              <a:defRPr sz="2100" b="0">
                <a:solidFill>
                  <a:srgbClr val="5C706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5C7068"/>
                </a:solidFill>
                <a:latin typeface="Hiragino Sans GB"/>
                <a:ea typeface="Hiragino Sans GB"/>
                <a:cs typeface="Hiragino Sans GB"/>
              </a:rPr>
              <a:t>失败时继续定位与修正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B388924-2C8A-4AF1-A79A-E8603DBBC9B8}"/>
              </a:ext>
            </a:extLst>
          </p:cNvPr>
          <p:cNvSpPr>
            <a:spLocks noGrp="1"/>
          </p:cNvSpPr>
          <p:nvPr/>
        </p:nvSpPr>
        <p:spPr>
          <a:xfrm>
            <a:off x="685800" y="5715000"/>
            <a:ext cx="1082040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ctr">
              <a:lnSpc>
                <a:spcPct val="115000"/>
              </a:lnSpc>
              <a:buNone/>
              <a:defRPr sz="240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每一步都会生成新上下文，影响下一步判断</a:t>
            </a:r>
          </a:p>
        </p:txBody>
      </p:sp>
    </p:spTree>
    <p:extLst>
      <p:ext uri="{BB962C8B-B14F-4D97-AF65-F5344CB8AC3E}">
        <p14:creationId xmlns:p14="http://schemas.microsoft.com/office/powerpoint/2010/main" val="5614387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142FE8C1-E41A-4AF6-AFDA-8D6B89E0991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B6B4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9DFBDAD-9CA0-4E93-8DE7-B0A94896B383}"/>
              </a:ext>
            </a:extLst>
          </p:cNvPr>
          <p:cNvSpPr>
            <a:spLocks noGrp="1"/>
          </p:cNvSpPr>
          <p:nvPr/>
        </p:nvSpPr>
        <p:spPr>
          <a:xfrm>
            <a:off x="609600" y="333375"/>
            <a:ext cx="4572000" cy="3238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5000"/>
              </a:lnSpc>
              <a:buNone/>
              <a:defRPr sz="20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03  基本概念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5B47391-AC67-40AA-8FBF-9021C0CB5BFF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590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5000"/>
              </a:lnSpc>
              <a:buNone/>
              <a:defRPr sz="330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编码 Agent 的基本结构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283E313-8AC1-40A9-8C20-A79862221AA8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BBD9C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B1E9311-B64A-49E3-9F74-725EB99E2DB3}"/>
              </a:ext>
            </a:extLst>
          </p:cNvPr>
          <p:cNvSpPr>
            <a:spLocks noGrp="1"/>
          </p:cNvSpPr>
          <p:nvPr/>
        </p:nvSpPr>
        <p:spPr>
          <a:xfrm>
            <a:off x="819150" y="1714500"/>
            <a:ext cx="10553700" cy="7143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ctr">
              <a:lnSpc>
                <a:spcPct val="115000"/>
              </a:lnSpc>
              <a:buNone/>
              <a:defRPr sz="32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2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编码 Agent = 模型 + 上下文 + 工具 + 工作循环</a:t>
            </a: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E4564762-9E30-4760-A734-AE62B6EE4AD3}"/>
              </a:ext>
            </a:extLst>
          </p:cNvPr>
          <p:cNvSpPr>
            <a:spLocks noGrp="1"/>
          </p:cNvSpPr>
          <p:nvPr/>
        </p:nvSpPr>
        <p:spPr>
          <a:xfrm>
            <a:off x="723900" y="3000375"/>
            <a:ext cx="2400300" cy="2000250"/>
          </a:xfrm>
          <a:prstGeom prst="roundRect">
            <a:avLst>
              <a:gd name="adj" fmla="val 8571"/>
            </a:avLst>
          </a:prstGeom>
          <a:solidFill>
            <a:srgbClr val="EAF5F0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C2059DA-BB38-4BE3-B7C1-9FDEF7B59839}"/>
              </a:ext>
            </a:extLst>
          </p:cNvPr>
          <p:cNvSpPr>
            <a:spLocks noGrp="1"/>
          </p:cNvSpPr>
          <p:nvPr/>
        </p:nvSpPr>
        <p:spPr>
          <a:xfrm>
            <a:off x="895350" y="3286125"/>
            <a:ext cx="205740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ctr">
              <a:lnSpc>
                <a:spcPct val="115000"/>
              </a:lnSpc>
              <a:buNone/>
              <a:defRPr sz="255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模型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60C2C5F-1DCD-446A-80B6-C47CA51CADA6}"/>
              </a:ext>
            </a:extLst>
          </p:cNvPr>
          <p:cNvSpPr>
            <a:spLocks noGrp="1"/>
          </p:cNvSpPr>
          <p:nvPr/>
        </p:nvSpPr>
        <p:spPr>
          <a:xfrm>
            <a:off x="895350" y="4000500"/>
            <a:ext cx="2057400" cy="8191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ctr">
              <a:lnSpc>
                <a:spcPct val="130000"/>
              </a:lnSpc>
              <a:buNone/>
              <a:defRPr sz="2100" b="0">
                <a:solidFill>
                  <a:srgbClr val="5C706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5C7068"/>
                </a:solidFill>
                <a:latin typeface="Hiragino Sans GB"/>
                <a:ea typeface="Hiragino Sans GB"/>
                <a:cs typeface="Hiragino Sans GB"/>
              </a:rPr>
              <a:t>理解任务</a:t>
            </a:r>
          </a:p>
          <a:p>
            <a:pPr algn="ctr">
              <a:lnSpc>
                <a:spcPct val="130000"/>
              </a:lnSpc>
              <a:buNone/>
              <a:defRPr sz="2100" b="0">
                <a:solidFill>
                  <a:srgbClr val="5C706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5C7068"/>
                </a:solidFill>
                <a:latin typeface="Hiragino Sans GB"/>
                <a:ea typeface="Hiragino Sans GB"/>
                <a:cs typeface="Hiragino Sans GB"/>
              </a:rPr>
              <a:t>生成方案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62DE1E58-1240-4525-8B21-17CA741CCDA7}"/>
              </a:ext>
            </a:extLst>
          </p:cNvPr>
          <p:cNvSpPr>
            <a:spLocks noGrp="1"/>
          </p:cNvSpPr>
          <p:nvPr/>
        </p:nvSpPr>
        <p:spPr>
          <a:xfrm>
            <a:off x="3486150" y="3000375"/>
            <a:ext cx="2400300" cy="2000250"/>
          </a:xfrm>
          <a:prstGeom prst="roundRect">
            <a:avLst>
              <a:gd name="adj" fmla="val 8571"/>
            </a:avLst>
          </a:prstGeom>
          <a:solidFill>
            <a:srgbClr val="F5FAF8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4211803-D58B-4279-AA4A-002AF46BC3FE}"/>
              </a:ext>
            </a:extLst>
          </p:cNvPr>
          <p:cNvSpPr>
            <a:spLocks noGrp="1"/>
          </p:cNvSpPr>
          <p:nvPr/>
        </p:nvSpPr>
        <p:spPr>
          <a:xfrm>
            <a:off x="3657600" y="3286125"/>
            <a:ext cx="205740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ctr">
              <a:lnSpc>
                <a:spcPct val="115000"/>
              </a:lnSpc>
              <a:buNone/>
              <a:defRPr sz="255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上下文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4252AA1-F6C8-4D2F-BDED-099E857AA8FD}"/>
              </a:ext>
            </a:extLst>
          </p:cNvPr>
          <p:cNvSpPr>
            <a:spLocks noGrp="1"/>
          </p:cNvSpPr>
          <p:nvPr/>
        </p:nvSpPr>
        <p:spPr>
          <a:xfrm>
            <a:off x="3657600" y="4000500"/>
            <a:ext cx="2057400" cy="8191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ctr">
              <a:lnSpc>
                <a:spcPct val="130000"/>
              </a:lnSpc>
              <a:buNone/>
              <a:defRPr sz="2100" b="0">
                <a:solidFill>
                  <a:srgbClr val="5C706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5C7068"/>
                </a:solidFill>
                <a:latin typeface="Hiragino Sans GB"/>
                <a:ea typeface="Hiragino Sans GB"/>
                <a:cs typeface="Hiragino Sans GB"/>
              </a:rPr>
              <a:t>用户要求</a:t>
            </a:r>
          </a:p>
          <a:p>
            <a:pPr algn="ctr">
              <a:lnSpc>
                <a:spcPct val="130000"/>
              </a:lnSpc>
              <a:buNone/>
              <a:defRPr sz="2100" b="0">
                <a:solidFill>
                  <a:srgbClr val="5C706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5C7068"/>
                </a:solidFill>
                <a:latin typeface="Hiragino Sans GB"/>
                <a:ea typeface="Hiragino Sans GB"/>
                <a:cs typeface="Hiragino Sans GB"/>
              </a:rPr>
              <a:t>项目与工具结果</a:t>
            </a:r>
          </a:p>
        </p:txBody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CFD7149B-3C12-4DB9-8D40-9988610E8AF1}"/>
              </a:ext>
            </a:extLst>
          </p:cNvPr>
          <p:cNvSpPr>
            <a:spLocks noGrp="1"/>
          </p:cNvSpPr>
          <p:nvPr/>
        </p:nvSpPr>
        <p:spPr>
          <a:xfrm>
            <a:off x="6248400" y="3000375"/>
            <a:ext cx="2400300" cy="2000250"/>
          </a:xfrm>
          <a:prstGeom prst="roundRect">
            <a:avLst>
              <a:gd name="adj" fmla="val 8571"/>
            </a:avLst>
          </a:prstGeom>
          <a:solidFill>
            <a:srgbClr val="EAF5F0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60E6590-BA98-444E-A88A-1FAAF72B39A9}"/>
              </a:ext>
            </a:extLst>
          </p:cNvPr>
          <p:cNvSpPr>
            <a:spLocks noGrp="1"/>
          </p:cNvSpPr>
          <p:nvPr/>
        </p:nvSpPr>
        <p:spPr>
          <a:xfrm>
            <a:off x="6419850" y="3286125"/>
            <a:ext cx="205740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ctr">
              <a:lnSpc>
                <a:spcPct val="115000"/>
              </a:lnSpc>
              <a:buNone/>
              <a:defRPr sz="255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工具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2C1AD90-7156-423F-A397-B2317FDC0D12}"/>
              </a:ext>
            </a:extLst>
          </p:cNvPr>
          <p:cNvSpPr>
            <a:spLocks noGrp="1"/>
          </p:cNvSpPr>
          <p:nvPr/>
        </p:nvSpPr>
        <p:spPr>
          <a:xfrm>
            <a:off x="6419850" y="4000500"/>
            <a:ext cx="2057400" cy="8191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ctr">
              <a:lnSpc>
                <a:spcPct val="130000"/>
              </a:lnSpc>
              <a:buNone/>
              <a:defRPr sz="2100" b="0">
                <a:solidFill>
                  <a:srgbClr val="5C706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5C7068"/>
                </a:solidFill>
                <a:latin typeface="Hiragino Sans GB"/>
                <a:ea typeface="Hiragino Sans GB"/>
                <a:cs typeface="Hiragino Sans GB"/>
              </a:rPr>
              <a:t>搜索、读取</a:t>
            </a:r>
          </a:p>
          <a:p>
            <a:pPr algn="ctr">
              <a:lnSpc>
                <a:spcPct val="130000"/>
              </a:lnSpc>
              <a:buNone/>
              <a:defRPr sz="2100" b="0">
                <a:solidFill>
                  <a:srgbClr val="5C706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5C7068"/>
                </a:solidFill>
                <a:latin typeface="Hiragino Sans GB"/>
                <a:ea typeface="Hiragino Sans GB"/>
                <a:cs typeface="Hiragino Sans GB"/>
              </a:rPr>
              <a:t>编辑和运行</a:t>
            </a: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20193789-B3CB-42A3-B78F-1BEE58B9CA1B}"/>
              </a:ext>
            </a:extLst>
          </p:cNvPr>
          <p:cNvSpPr>
            <a:spLocks noGrp="1"/>
          </p:cNvSpPr>
          <p:nvPr/>
        </p:nvSpPr>
        <p:spPr>
          <a:xfrm>
            <a:off x="9010650" y="3000375"/>
            <a:ext cx="2400300" cy="2000250"/>
          </a:xfrm>
          <a:prstGeom prst="roundRect">
            <a:avLst>
              <a:gd name="adj" fmla="val 8571"/>
            </a:avLst>
          </a:prstGeom>
          <a:solidFill>
            <a:srgbClr val="EAF5F0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8C15BAB-190C-4073-9534-5DB66E0BC19C}"/>
              </a:ext>
            </a:extLst>
          </p:cNvPr>
          <p:cNvSpPr>
            <a:spLocks noGrp="1"/>
          </p:cNvSpPr>
          <p:nvPr/>
        </p:nvSpPr>
        <p:spPr>
          <a:xfrm>
            <a:off x="9182100" y="3286125"/>
            <a:ext cx="205740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ctr">
              <a:lnSpc>
                <a:spcPct val="115000"/>
              </a:lnSpc>
              <a:buNone/>
              <a:defRPr sz="255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工作循环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2819F73-90B5-42F9-B3C2-8E12C5DD7959}"/>
              </a:ext>
            </a:extLst>
          </p:cNvPr>
          <p:cNvSpPr>
            <a:spLocks noGrp="1"/>
          </p:cNvSpPr>
          <p:nvPr/>
        </p:nvSpPr>
        <p:spPr>
          <a:xfrm>
            <a:off x="9182100" y="4000500"/>
            <a:ext cx="2057400" cy="8191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ctr">
              <a:lnSpc>
                <a:spcPct val="130000"/>
              </a:lnSpc>
              <a:buNone/>
              <a:defRPr sz="2100" b="0">
                <a:solidFill>
                  <a:srgbClr val="5C706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5C7068"/>
                </a:solidFill>
                <a:latin typeface="Hiragino Sans GB"/>
                <a:ea typeface="Hiragino Sans GB"/>
                <a:cs typeface="Hiragino Sans GB"/>
              </a:rPr>
              <a:t>根据新结果</a:t>
            </a:r>
          </a:p>
          <a:p>
            <a:pPr algn="ctr">
              <a:lnSpc>
                <a:spcPct val="130000"/>
              </a:lnSpc>
              <a:buNone/>
              <a:defRPr sz="2100" b="0">
                <a:solidFill>
                  <a:srgbClr val="5C706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5C7068"/>
                </a:solidFill>
                <a:latin typeface="Hiragino Sans GB"/>
                <a:ea typeface="Hiragino Sans GB"/>
                <a:cs typeface="Hiragino Sans GB"/>
              </a:rPr>
              <a:t>继续调整</a:t>
            </a:r>
          </a:p>
        </p:txBody>
      </p:sp>
    </p:spTree>
    <p:extLst>
      <p:ext uri="{BB962C8B-B14F-4D97-AF65-F5344CB8AC3E}">
        <p14:creationId xmlns:p14="http://schemas.microsoft.com/office/powerpoint/2010/main" val="1913990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447CFD36-70FD-4565-856E-423FACEF6ED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B6B4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1CF2DC8-776B-43C6-BB51-41A0A28D0937}"/>
              </a:ext>
            </a:extLst>
          </p:cNvPr>
          <p:cNvSpPr>
            <a:spLocks noGrp="1"/>
          </p:cNvSpPr>
          <p:nvPr/>
        </p:nvSpPr>
        <p:spPr>
          <a:xfrm>
            <a:off x="609600" y="333375"/>
            <a:ext cx="4572000" cy="3238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5000"/>
              </a:lnSpc>
              <a:buNone/>
              <a:defRPr sz="20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03  基本概念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D22F5FE-DA18-4F98-A0CD-E51641BA5B00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590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5000"/>
              </a:lnSpc>
              <a:buNone/>
              <a:defRPr sz="330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四个组成部分各自解决什么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8332F2E-70AA-4612-AD96-036A86ED323B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BBD9C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778E048-22DA-49D9-9E66-274333148C52}"/>
              </a:ext>
            </a:extLst>
          </p:cNvPr>
          <p:cNvSpPr>
            <a:spLocks noGrp="1"/>
          </p:cNvSpPr>
          <p:nvPr/>
        </p:nvSpPr>
        <p:spPr>
          <a:xfrm>
            <a:off x="781050" y="1790700"/>
            <a:ext cx="1714500" cy="5524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l">
              <a:lnSpc>
                <a:spcPct val="115000"/>
              </a:lnSpc>
              <a:buNone/>
              <a:defRPr sz="247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7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模型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0897AA2-EA50-44B9-B289-1913DC167CB3}"/>
              </a:ext>
            </a:extLst>
          </p:cNvPr>
          <p:cNvSpPr>
            <a:spLocks noGrp="1"/>
          </p:cNvSpPr>
          <p:nvPr/>
        </p:nvSpPr>
        <p:spPr>
          <a:xfrm>
            <a:off x="2571750" y="1714500"/>
            <a:ext cx="4524375" cy="7048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l">
              <a:lnSpc>
                <a:spcPct val="115000"/>
              </a:lnSpc>
              <a:buNone/>
              <a:defRPr sz="210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怎样理解任务并生成下一步方案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E50C41D-5EA6-471E-BD3F-91CCCA1F4A87}"/>
              </a:ext>
            </a:extLst>
          </p:cNvPr>
          <p:cNvSpPr>
            <a:spLocks noGrp="1"/>
          </p:cNvSpPr>
          <p:nvPr/>
        </p:nvSpPr>
        <p:spPr>
          <a:xfrm>
            <a:off x="781050" y="2552700"/>
            <a:ext cx="6315075" cy="19050"/>
          </a:xfrm>
          <a:prstGeom prst="rect">
            <a:avLst/>
          </a:prstGeom>
          <a:solidFill>
            <a:srgbClr val="BBD9C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589AAB0-E42D-4E06-962C-F15405BBB476}"/>
              </a:ext>
            </a:extLst>
          </p:cNvPr>
          <p:cNvSpPr>
            <a:spLocks noGrp="1"/>
          </p:cNvSpPr>
          <p:nvPr/>
        </p:nvSpPr>
        <p:spPr>
          <a:xfrm>
            <a:off x="781050" y="2857500"/>
            <a:ext cx="1714500" cy="5524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l">
              <a:lnSpc>
                <a:spcPct val="115000"/>
              </a:lnSpc>
              <a:buNone/>
              <a:defRPr sz="247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7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上下文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AE60BEA-EA46-4592-846B-07551D6F9686}"/>
              </a:ext>
            </a:extLst>
          </p:cNvPr>
          <p:cNvSpPr>
            <a:spLocks noGrp="1"/>
          </p:cNvSpPr>
          <p:nvPr/>
        </p:nvSpPr>
        <p:spPr>
          <a:xfrm>
            <a:off x="2571750" y="2781300"/>
            <a:ext cx="4524375" cy="7048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l">
              <a:lnSpc>
                <a:spcPct val="115000"/>
              </a:lnSpc>
              <a:buNone/>
              <a:defRPr sz="210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当前判断可以使用哪些信息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4753016-7CF9-4BCB-8E56-24AD528CE32B}"/>
              </a:ext>
            </a:extLst>
          </p:cNvPr>
          <p:cNvSpPr>
            <a:spLocks noGrp="1"/>
          </p:cNvSpPr>
          <p:nvPr/>
        </p:nvSpPr>
        <p:spPr>
          <a:xfrm>
            <a:off x="781050" y="3619500"/>
            <a:ext cx="6315075" cy="19050"/>
          </a:xfrm>
          <a:prstGeom prst="rect">
            <a:avLst/>
          </a:prstGeom>
          <a:solidFill>
            <a:srgbClr val="BBD9C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1F79EE9-043B-4D0E-8FE2-86409066FE1B}"/>
              </a:ext>
            </a:extLst>
          </p:cNvPr>
          <p:cNvSpPr>
            <a:spLocks noGrp="1"/>
          </p:cNvSpPr>
          <p:nvPr/>
        </p:nvSpPr>
        <p:spPr>
          <a:xfrm>
            <a:off x="781050" y="3924300"/>
            <a:ext cx="1714500" cy="5524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l">
              <a:lnSpc>
                <a:spcPct val="115000"/>
              </a:lnSpc>
              <a:buNone/>
              <a:defRPr sz="247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7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工具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72E827C-6C29-4BCF-AF4F-FE0EA703623E}"/>
              </a:ext>
            </a:extLst>
          </p:cNvPr>
          <p:cNvSpPr>
            <a:spLocks noGrp="1"/>
          </p:cNvSpPr>
          <p:nvPr/>
        </p:nvSpPr>
        <p:spPr>
          <a:xfrm>
            <a:off x="2571750" y="3848100"/>
            <a:ext cx="4524375" cy="7048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l">
              <a:lnSpc>
                <a:spcPct val="115000"/>
              </a:lnSpc>
              <a:buNone/>
              <a:defRPr sz="210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怎样读取或改变真实项目状态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C13E497-20C7-45C9-B37F-0158DAC45C95}"/>
              </a:ext>
            </a:extLst>
          </p:cNvPr>
          <p:cNvSpPr>
            <a:spLocks noGrp="1"/>
          </p:cNvSpPr>
          <p:nvPr/>
        </p:nvSpPr>
        <p:spPr>
          <a:xfrm>
            <a:off x="781050" y="4686300"/>
            <a:ext cx="6315075" cy="19050"/>
          </a:xfrm>
          <a:prstGeom prst="rect">
            <a:avLst/>
          </a:prstGeom>
          <a:solidFill>
            <a:srgbClr val="BBD9C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167C0FE-FF5D-404F-8F01-C19ECE812811}"/>
              </a:ext>
            </a:extLst>
          </p:cNvPr>
          <p:cNvSpPr>
            <a:spLocks noGrp="1"/>
          </p:cNvSpPr>
          <p:nvPr/>
        </p:nvSpPr>
        <p:spPr>
          <a:xfrm>
            <a:off x="781050" y="4991100"/>
            <a:ext cx="1714500" cy="5524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l">
              <a:lnSpc>
                <a:spcPct val="115000"/>
              </a:lnSpc>
              <a:buNone/>
              <a:defRPr sz="247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7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工作循环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254DFBD-5B43-4D4A-8B8A-286942DA890E}"/>
              </a:ext>
            </a:extLst>
          </p:cNvPr>
          <p:cNvSpPr>
            <a:spLocks noGrp="1"/>
          </p:cNvSpPr>
          <p:nvPr/>
        </p:nvSpPr>
        <p:spPr>
          <a:xfrm>
            <a:off x="2571750" y="4914900"/>
            <a:ext cx="4524375" cy="7048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l">
              <a:lnSpc>
                <a:spcPct val="115000"/>
              </a:lnSpc>
              <a:buNone/>
              <a:defRPr sz="210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怎样利用新结果继续执行或停止</a:t>
            </a: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381875" y="2301875"/>
            <a:ext cx="4095750" cy="2730500"/>
          </a:xfrm>
          <a:prstGeom prst="rect">
            <a:avLst/>
          </a:prstGeom>
        </p:spPr>
      </p:pic>
      <p:sp>
        <p:nvSpPr>
          <p:cNvPr id="17" name="矩形 16">
            <a:extLst>
              <a:ext uri="{FF2B5EF4-FFF2-40B4-BE49-F238E27FC236}">
                <a16:creationId xmlns:a16="http://schemas.microsoft.com/office/drawing/2014/main" id="{F0E3DCBF-B127-4DBC-892D-A5DD56AB969B}"/>
              </a:ext>
            </a:extLst>
          </p:cNvPr>
          <p:cNvSpPr>
            <a:spLocks noGrp="1"/>
          </p:cNvSpPr>
          <p:nvPr/>
        </p:nvSpPr>
        <p:spPr>
          <a:xfrm>
            <a:off x="685800" y="6048375"/>
            <a:ext cx="10820400" cy="4000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ctr">
              <a:lnSpc>
                <a:spcPct val="115000"/>
              </a:lnSpc>
              <a:buNone/>
              <a:defRPr sz="217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编码 Agent 的能力来自系统组合，不能只看模型名称</a:t>
            </a:r>
          </a:p>
        </p:txBody>
      </p:sp>
    </p:spTree>
    <p:extLst>
      <p:ext uri="{BB962C8B-B14F-4D97-AF65-F5344CB8AC3E}">
        <p14:creationId xmlns:p14="http://schemas.microsoft.com/office/powerpoint/2010/main" val="15146946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9EFA646A-3430-46F4-ADFB-5BC864A38EF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B6B4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5B1031C-528F-4EB4-BDBC-ECB82ACCB452}"/>
              </a:ext>
            </a:extLst>
          </p:cNvPr>
          <p:cNvSpPr>
            <a:spLocks noGrp="1"/>
          </p:cNvSpPr>
          <p:nvPr/>
        </p:nvSpPr>
        <p:spPr>
          <a:xfrm>
            <a:off x="609600" y="333375"/>
            <a:ext cx="4572000" cy="3238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5000"/>
              </a:lnSpc>
              <a:buNone/>
              <a:defRPr sz="20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03  基本概念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9A3C6BC-DF23-438B-8B1A-06849D8B74FB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590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5000"/>
              </a:lnSpc>
              <a:buNone/>
              <a:defRPr sz="330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Codex 的 Agent 工作循环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6787CC2-D135-433F-82BD-32A44C32B778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BBD9C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8AD4E73D-50EF-41D5-A1E5-BA8C836A2655}"/>
              </a:ext>
            </a:extLst>
          </p:cNvPr>
          <p:cNvSpPr>
            <a:spLocks noGrp="1"/>
          </p:cNvSpPr>
          <p:nvPr/>
        </p:nvSpPr>
        <p:spPr>
          <a:xfrm>
            <a:off x="800100" y="1657350"/>
            <a:ext cx="10591800" cy="3971925"/>
          </a:xfrm>
          <a:prstGeom prst="roundRect">
            <a:avLst>
              <a:gd name="adj" fmla="val 4317"/>
            </a:avLst>
          </a:prstGeom>
          <a:solidFill>
            <a:srgbClr val="F5FAF8"/>
          </a:solidFill>
          <a:ln w="9525">
            <a:solidFill>
              <a:srgbClr val="BBD9CD"/>
            </a:solidFill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915737" y="1714500"/>
            <a:ext cx="8360525" cy="3857625"/>
          </a:xfrm>
          <a:prstGeom prst="roundRect">
            <a:avLst>
              <a:gd name="adj" fmla="val 3457"/>
            </a:avLst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5876273C-658D-4D2B-9C30-87AE0AEDE8AE}"/>
              </a:ext>
            </a:extLst>
          </p:cNvPr>
          <p:cNvSpPr>
            <a:spLocks noGrp="1"/>
          </p:cNvSpPr>
          <p:nvPr/>
        </p:nvSpPr>
        <p:spPr>
          <a:xfrm>
            <a:off x="952500" y="5810250"/>
            <a:ext cx="10287000" cy="5334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ctr">
              <a:lnSpc>
                <a:spcPct val="115000"/>
              </a:lnSpc>
              <a:buNone/>
              <a:defRPr sz="210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模型提出工具调用，Agent 执行后把结果交回模型，直到得到最终回答或需要用户补充信息。</a:t>
            </a:r>
          </a:p>
        </p:txBody>
      </p:sp>
    </p:spTree>
    <p:extLst>
      <p:ext uri="{BB962C8B-B14F-4D97-AF65-F5344CB8AC3E}">
        <p14:creationId xmlns:p14="http://schemas.microsoft.com/office/powerpoint/2010/main" val="3567678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D291E163-A159-41CD-8CB4-C319FAC2015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B6B4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A8461F8-235B-471E-BD7B-EE823103702B}"/>
              </a:ext>
            </a:extLst>
          </p:cNvPr>
          <p:cNvSpPr>
            <a:spLocks noGrp="1"/>
          </p:cNvSpPr>
          <p:nvPr/>
        </p:nvSpPr>
        <p:spPr>
          <a:xfrm>
            <a:off x="609600" y="333375"/>
            <a:ext cx="4572000" cy="3238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5000"/>
              </a:lnSpc>
              <a:buNone/>
              <a:defRPr sz="20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03  基本概念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80AE3F0-CF43-4EB2-8E0B-4B9136022977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590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5000"/>
              </a:lnSpc>
              <a:buNone/>
              <a:defRPr sz="330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工具结果如何改变下一步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9C6DBE1-0CCD-4B6C-8EBD-551C853AECC1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BBD9C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4211753-42A4-4322-9730-7F52DF761E42}"/>
              </a:ext>
            </a:extLst>
          </p:cNvPr>
          <p:cNvSpPr>
            <a:spLocks noGrp="1"/>
          </p:cNvSpPr>
          <p:nvPr/>
        </p:nvSpPr>
        <p:spPr>
          <a:xfrm>
            <a:off x="781050" y="1885950"/>
            <a:ext cx="66675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5000"/>
              </a:lnSpc>
              <a:buNone/>
              <a:defRPr sz="25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01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5286A6B-53A9-4F50-A0A0-600F271A0544}"/>
              </a:ext>
            </a:extLst>
          </p:cNvPr>
          <p:cNvSpPr>
            <a:spLocks noGrp="1"/>
          </p:cNvSpPr>
          <p:nvPr/>
        </p:nvSpPr>
        <p:spPr>
          <a:xfrm>
            <a:off x="1619250" y="1809750"/>
            <a:ext cx="4191000" cy="7810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l">
              <a:lnSpc>
                <a:spcPct val="115000"/>
              </a:lnSpc>
              <a:buNone/>
              <a:defRPr sz="225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搜索找到两处 Stack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1B8C950-4266-4D74-92D0-60EA4A8D800B}"/>
              </a:ext>
            </a:extLst>
          </p:cNvPr>
          <p:cNvSpPr>
            <a:spLocks noGrp="1"/>
          </p:cNvSpPr>
          <p:nvPr/>
        </p:nvSpPr>
        <p:spPr>
          <a:xfrm>
            <a:off x="6048375" y="1885950"/>
            <a:ext cx="47625" cy="647700"/>
          </a:xfrm>
          <a:prstGeom prst="rect">
            <a:avLst/>
          </a:prstGeom>
          <a:solidFill>
            <a:srgbClr val="16815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DEFC8F1-32F5-4C4D-A178-9908F89EB501}"/>
              </a:ext>
            </a:extLst>
          </p:cNvPr>
          <p:cNvSpPr>
            <a:spLocks noGrp="1"/>
          </p:cNvSpPr>
          <p:nvPr/>
        </p:nvSpPr>
        <p:spPr>
          <a:xfrm>
            <a:off x="6429375" y="1809750"/>
            <a:ext cx="4810125" cy="7810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l">
              <a:lnSpc>
                <a:spcPct val="115000"/>
              </a:lnSpc>
              <a:buNone/>
              <a:defRPr sz="2175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继续阅读调用位置，确认目标实现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6DB100A-2111-4671-9A5D-8AD2CF499BD7}"/>
              </a:ext>
            </a:extLst>
          </p:cNvPr>
          <p:cNvSpPr>
            <a:spLocks noGrp="1"/>
          </p:cNvSpPr>
          <p:nvPr/>
        </p:nvSpPr>
        <p:spPr>
          <a:xfrm>
            <a:off x="781050" y="2857500"/>
            <a:ext cx="10458450" cy="19050"/>
          </a:xfrm>
          <a:prstGeom prst="rect">
            <a:avLst/>
          </a:prstGeom>
          <a:solidFill>
            <a:srgbClr val="BBD9C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A0FD355-0815-4B8F-92B7-EC551A1562C0}"/>
              </a:ext>
            </a:extLst>
          </p:cNvPr>
          <p:cNvSpPr>
            <a:spLocks noGrp="1"/>
          </p:cNvSpPr>
          <p:nvPr/>
        </p:nvSpPr>
        <p:spPr>
          <a:xfrm>
            <a:off x="781050" y="3267075"/>
            <a:ext cx="66675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5000"/>
              </a:lnSpc>
              <a:buNone/>
              <a:defRPr sz="25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118CAB9-B7E0-4414-86EB-17D8EEB63A3A}"/>
              </a:ext>
            </a:extLst>
          </p:cNvPr>
          <p:cNvSpPr>
            <a:spLocks noGrp="1"/>
          </p:cNvSpPr>
          <p:nvPr/>
        </p:nvSpPr>
        <p:spPr>
          <a:xfrm>
            <a:off x="1619250" y="3190875"/>
            <a:ext cx="4191000" cy="7810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l">
              <a:lnSpc>
                <a:spcPct val="115000"/>
              </a:lnSpc>
              <a:buNone/>
              <a:defRPr sz="225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测试报告 IndexError 不符合约定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F6E3D3C-4D16-418E-B95E-476DD79255EE}"/>
              </a:ext>
            </a:extLst>
          </p:cNvPr>
          <p:cNvSpPr>
            <a:spLocks noGrp="1"/>
          </p:cNvSpPr>
          <p:nvPr/>
        </p:nvSpPr>
        <p:spPr>
          <a:xfrm>
            <a:off x="6048375" y="3267075"/>
            <a:ext cx="47625" cy="647700"/>
          </a:xfrm>
          <a:prstGeom prst="rect">
            <a:avLst/>
          </a:prstGeom>
          <a:solidFill>
            <a:srgbClr val="16815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22E5F3E-5B69-427D-A59A-6E73AECAF305}"/>
              </a:ext>
            </a:extLst>
          </p:cNvPr>
          <p:cNvSpPr>
            <a:spLocks noGrp="1"/>
          </p:cNvSpPr>
          <p:nvPr/>
        </p:nvSpPr>
        <p:spPr>
          <a:xfrm>
            <a:off x="6429375" y="3190875"/>
            <a:ext cx="4810125" cy="7810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l">
              <a:lnSpc>
                <a:spcPct val="115000"/>
              </a:lnSpc>
              <a:buNone/>
              <a:defRPr sz="2175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检查现有异常类型和测试期望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C51BF86-589D-4562-9811-56BF72BC98FE}"/>
              </a:ext>
            </a:extLst>
          </p:cNvPr>
          <p:cNvSpPr>
            <a:spLocks noGrp="1"/>
          </p:cNvSpPr>
          <p:nvPr/>
        </p:nvSpPr>
        <p:spPr>
          <a:xfrm>
            <a:off x="781050" y="4238625"/>
            <a:ext cx="10458450" cy="19050"/>
          </a:xfrm>
          <a:prstGeom prst="rect">
            <a:avLst/>
          </a:prstGeom>
          <a:solidFill>
            <a:srgbClr val="BBD9C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79926BF-3928-4FD6-B3DD-C294000E3572}"/>
              </a:ext>
            </a:extLst>
          </p:cNvPr>
          <p:cNvSpPr>
            <a:spLocks noGrp="1"/>
          </p:cNvSpPr>
          <p:nvPr/>
        </p:nvSpPr>
        <p:spPr>
          <a:xfrm>
            <a:off x="781050" y="4648200"/>
            <a:ext cx="66675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5000"/>
              </a:lnSpc>
              <a:buNone/>
              <a:defRPr sz="25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03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01B0005-E1DB-4D63-9722-3850CAF58481}"/>
              </a:ext>
            </a:extLst>
          </p:cNvPr>
          <p:cNvSpPr>
            <a:spLocks noGrp="1"/>
          </p:cNvSpPr>
          <p:nvPr/>
        </p:nvSpPr>
        <p:spPr>
          <a:xfrm>
            <a:off x="1619250" y="4572000"/>
            <a:ext cx="4191000" cy="7810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l">
              <a:lnSpc>
                <a:spcPct val="115000"/>
              </a:lnSpc>
              <a:buNone/>
              <a:defRPr sz="225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修复后相关测试通过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DEA0511-0B15-409A-A6F5-44C5462B159D}"/>
              </a:ext>
            </a:extLst>
          </p:cNvPr>
          <p:cNvSpPr>
            <a:spLocks noGrp="1"/>
          </p:cNvSpPr>
          <p:nvPr/>
        </p:nvSpPr>
        <p:spPr>
          <a:xfrm>
            <a:off x="6048375" y="4648200"/>
            <a:ext cx="47625" cy="647700"/>
          </a:xfrm>
          <a:prstGeom prst="rect">
            <a:avLst/>
          </a:prstGeom>
          <a:solidFill>
            <a:srgbClr val="16815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4105EC6-9A3A-4B59-BB10-F4B01AD209BD}"/>
              </a:ext>
            </a:extLst>
          </p:cNvPr>
          <p:cNvSpPr>
            <a:spLocks noGrp="1"/>
          </p:cNvSpPr>
          <p:nvPr/>
        </p:nvSpPr>
        <p:spPr>
          <a:xfrm>
            <a:off x="6429375" y="4572000"/>
            <a:ext cx="4810125" cy="7810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l">
              <a:lnSpc>
                <a:spcPct val="115000"/>
              </a:lnSpc>
              <a:buNone/>
              <a:defRPr sz="2175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查看差异，检查是否存在无关修改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18DD91C7-81E1-483F-ADA4-3C9D33DB126F}"/>
              </a:ext>
            </a:extLst>
          </p:cNvPr>
          <p:cNvSpPr>
            <a:spLocks noGrp="1"/>
          </p:cNvSpPr>
          <p:nvPr/>
        </p:nvSpPr>
        <p:spPr>
          <a:xfrm>
            <a:off x="685800" y="5905500"/>
            <a:ext cx="10820400" cy="42862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ctr">
              <a:lnSpc>
                <a:spcPct val="115000"/>
              </a:lnSpc>
              <a:buNone/>
              <a:defRPr sz="217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工具调用的价值在于获得真实证据，而不是单纯增加操作步骤</a:t>
            </a:r>
          </a:p>
        </p:txBody>
      </p:sp>
    </p:spTree>
    <p:extLst>
      <p:ext uri="{BB962C8B-B14F-4D97-AF65-F5344CB8AC3E}">
        <p14:creationId xmlns:p14="http://schemas.microsoft.com/office/powerpoint/2010/main" val="9783370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65D4FA79-01D6-4A7C-8D36-766369C706D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B6B4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494762B-0712-4367-BC35-8D26B0900292}"/>
              </a:ext>
            </a:extLst>
          </p:cNvPr>
          <p:cNvSpPr>
            <a:spLocks noGrp="1"/>
          </p:cNvSpPr>
          <p:nvPr/>
        </p:nvSpPr>
        <p:spPr>
          <a:xfrm>
            <a:off x="609600" y="333375"/>
            <a:ext cx="4572000" cy="3238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5000"/>
              </a:lnSpc>
              <a:buNone/>
              <a:defRPr sz="20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03  基本概念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E1696C1-05B5-4FB7-A288-B309FE87322C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590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5000"/>
              </a:lnSpc>
              <a:buNone/>
              <a:defRPr sz="330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编码 Agent 可以执行的工作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D8BB8A5-2DF0-4D9C-8C49-C5322E20CBB5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BBD9C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C5477C90-EEFA-4FBF-9D94-A3D23AD3E7CD}"/>
              </a:ext>
            </a:extLst>
          </p:cNvPr>
          <p:cNvSpPr>
            <a:spLocks noGrp="1"/>
          </p:cNvSpPr>
          <p:nvPr/>
        </p:nvSpPr>
        <p:spPr>
          <a:xfrm>
            <a:off x="781050" y="2000250"/>
            <a:ext cx="133350" cy="133350"/>
          </a:xfrm>
          <a:prstGeom prst="roundRect">
            <a:avLst>
              <a:gd name="adj" fmla="val 50000"/>
            </a:avLst>
          </a:prstGeom>
          <a:solidFill>
            <a:srgbClr val="0B6B4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B166F70-00DE-44E5-A9E7-9E23D90D8DA2}"/>
              </a:ext>
            </a:extLst>
          </p:cNvPr>
          <p:cNvSpPr>
            <a:spLocks noGrp="1"/>
          </p:cNvSpPr>
          <p:nvPr/>
        </p:nvSpPr>
        <p:spPr>
          <a:xfrm>
            <a:off x="1066800" y="1905000"/>
            <a:ext cx="4572000" cy="7810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5000"/>
              </a:lnSpc>
              <a:buNone/>
              <a:defRPr sz="225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搜索并阅读项目文件</a:t>
            </a: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8FEB7CB6-07E2-4BC6-AE12-E91FE024AC57}"/>
              </a:ext>
            </a:extLst>
          </p:cNvPr>
          <p:cNvSpPr>
            <a:spLocks noGrp="1"/>
          </p:cNvSpPr>
          <p:nvPr/>
        </p:nvSpPr>
        <p:spPr>
          <a:xfrm>
            <a:off x="781050" y="2781300"/>
            <a:ext cx="133350" cy="133350"/>
          </a:xfrm>
          <a:prstGeom prst="roundRect">
            <a:avLst>
              <a:gd name="adj" fmla="val 50000"/>
            </a:avLst>
          </a:prstGeom>
          <a:solidFill>
            <a:srgbClr val="0B6B4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6541BCF-9240-401D-B10C-51DA17DEC0B9}"/>
              </a:ext>
            </a:extLst>
          </p:cNvPr>
          <p:cNvSpPr>
            <a:spLocks noGrp="1"/>
          </p:cNvSpPr>
          <p:nvPr/>
        </p:nvSpPr>
        <p:spPr>
          <a:xfrm>
            <a:off x="1066800" y="2686050"/>
            <a:ext cx="4572000" cy="7810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5000"/>
              </a:lnSpc>
              <a:buNone/>
              <a:defRPr sz="225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修改一个或多个文件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DB6998A0-0F34-458E-9D17-63F9DCDFFE7A}"/>
              </a:ext>
            </a:extLst>
          </p:cNvPr>
          <p:cNvSpPr>
            <a:spLocks noGrp="1"/>
          </p:cNvSpPr>
          <p:nvPr/>
        </p:nvSpPr>
        <p:spPr>
          <a:xfrm>
            <a:off x="781050" y="3562350"/>
            <a:ext cx="133350" cy="133350"/>
          </a:xfrm>
          <a:prstGeom prst="roundRect">
            <a:avLst>
              <a:gd name="adj" fmla="val 50000"/>
            </a:avLst>
          </a:prstGeom>
          <a:solidFill>
            <a:srgbClr val="0B6B4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C2B5337-672E-40CA-8BE3-20B9ED5F1286}"/>
              </a:ext>
            </a:extLst>
          </p:cNvPr>
          <p:cNvSpPr>
            <a:spLocks noGrp="1"/>
          </p:cNvSpPr>
          <p:nvPr/>
        </p:nvSpPr>
        <p:spPr>
          <a:xfrm>
            <a:off x="1066800" y="3467100"/>
            <a:ext cx="4572000" cy="7810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5000"/>
              </a:lnSpc>
              <a:buNone/>
              <a:defRPr sz="225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运行程序、构建命令和测试</a:t>
            </a:r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6285D190-37C7-41BE-9571-D014AE1EE22C}"/>
              </a:ext>
            </a:extLst>
          </p:cNvPr>
          <p:cNvSpPr>
            <a:spLocks noGrp="1"/>
          </p:cNvSpPr>
          <p:nvPr/>
        </p:nvSpPr>
        <p:spPr>
          <a:xfrm>
            <a:off x="781050" y="4343400"/>
            <a:ext cx="133350" cy="133350"/>
          </a:xfrm>
          <a:prstGeom prst="roundRect">
            <a:avLst>
              <a:gd name="adj" fmla="val 50000"/>
            </a:avLst>
          </a:prstGeom>
          <a:solidFill>
            <a:srgbClr val="0B6B4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D8EBD78-2BCF-4C18-A1EE-0198D17683F0}"/>
              </a:ext>
            </a:extLst>
          </p:cNvPr>
          <p:cNvSpPr>
            <a:spLocks noGrp="1"/>
          </p:cNvSpPr>
          <p:nvPr/>
        </p:nvSpPr>
        <p:spPr>
          <a:xfrm>
            <a:off x="1066800" y="4248150"/>
            <a:ext cx="4572000" cy="7810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5000"/>
              </a:lnSpc>
              <a:buNone/>
              <a:defRPr sz="225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查看差异并汇报验证结果</a:t>
            </a: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0DC13C3E-B02E-4A10-96F0-56D70FC7C9A2}"/>
              </a:ext>
            </a:extLst>
          </p:cNvPr>
          <p:cNvSpPr>
            <a:spLocks noGrp="1"/>
          </p:cNvSpPr>
          <p:nvPr/>
        </p:nvSpPr>
        <p:spPr>
          <a:xfrm>
            <a:off x="6191250" y="1762125"/>
            <a:ext cx="5143500" cy="3810000"/>
          </a:xfrm>
          <a:prstGeom prst="roundRect">
            <a:avLst>
              <a:gd name="adj" fmla="val 4500"/>
            </a:avLst>
          </a:prstGeom>
          <a:solidFill>
            <a:srgbClr val="F5FAF8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84CC13E-168B-42E8-B2F2-2D7DE9AA3A8B}"/>
              </a:ext>
            </a:extLst>
          </p:cNvPr>
          <p:cNvSpPr>
            <a:spLocks noGrp="1"/>
          </p:cNvSpPr>
          <p:nvPr/>
        </p:nvSpPr>
        <p:spPr>
          <a:xfrm>
            <a:off x="6477000" y="2047875"/>
            <a:ext cx="457200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5000"/>
              </a:lnSpc>
              <a:buNone/>
              <a:defRPr sz="25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空栈错误修复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F4DC3AE-DAFC-4189-82FC-202BF27F99B1}"/>
              </a:ext>
            </a:extLst>
          </p:cNvPr>
          <p:cNvSpPr>
            <a:spLocks noGrp="1"/>
          </p:cNvSpPr>
          <p:nvPr/>
        </p:nvSpPr>
        <p:spPr>
          <a:xfrm>
            <a:off x="6477000" y="2714625"/>
            <a:ext cx="4476750" cy="7620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5000"/>
              </a:lnSpc>
              <a:buNone/>
              <a:defRPr sz="2100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任务：修复 Stack.pop() 在空栈时出现的错误，并补充测试。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0326487-6AC9-4D11-883B-824449D92EE6}"/>
              </a:ext>
            </a:extLst>
          </p:cNvPr>
          <p:cNvSpPr>
            <a:spLocks noGrp="1"/>
          </p:cNvSpPr>
          <p:nvPr/>
        </p:nvSpPr>
        <p:spPr>
          <a:xfrm>
            <a:off x="6477000" y="3600450"/>
            <a:ext cx="4476750" cy="16668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8000"/>
              </a:lnSpc>
              <a:buNone/>
              <a:defRPr sz="2025" b="0">
                <a:solidFill>
                  <a:srgbClr val="5C706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5C7068"/>
                </a:solidFill>
                <a:latin typeface="Hiragino Sans GB"/>
                <a:ea typeface="Hiragino Sans GB"/>
                <a:cs typeface="Hiragino Sans GB"/>
              </a:rPr>
              <a:t>定位实现</a:t>
            </a:r>
          </a:p>
          <a:p>
            <a:pPr algn="l">
              <a:lnSpc>
                <a:spcPct val="118000"/>
              </a:lnSpc>
              <a:buNone/>
              <a:defRPr sz="2025" b="0">
                <a:solidFill>
                  <a:srgbClr val="5C706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5C7068"/>
                </a:solidFill>
                <a:latin typeface="Hiragino Sans GB"/>
                <a:ea typeface="Hiragino Sans GB"/>
                <a:cs typeface="Hiragino Sans GB"/>
              </a:rPr>
              <a:t>阅读异常处理</a:t>
            </a:r>
          </a:p>
          <a:p>
            <a:pPr algn="l">
              <a:lnSpc>
                <a:spcPct val="118000"/>
              </a:lnSpc>
              <a:buNone/>
              <a:defRPr sz="2025" b="0">
                <a:solidFill>
                  <a:srgbClr val="5C706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5C7068"/>
                </a:solidFill>
                <a:latin typeface="Hiragino Sans GB"/>
                <a:ea typeface="Hiragino Sans GB"/>
                <a:cs typeface="Hiragino Sans GB"/>
              </a:rPr>
              <a:t>找到测试文件</a:t>
            </a:r>
          </a:p>
          <a:p>
            <a:pPr algn="l">
              <a:lnSpc>
                <a:spcPct val="118000"/>
              </a:lnSpc>
              <a:buNone/>
              <a:defRPr sz="2025" b="0">
                <a:solidFill>
                  <a:srgbClr val="5C706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5C7068"/>
                </a:solidFill>
                <a:latin typeface="Hiragino Sans GB"/>
                <a:ea typeface="Hiragino Sans GB"/>
                <a:cs typeface="Hiragino Sans GB"/>
              </a:rPr>
              <a:t>修改实现与测试</a:t>
            </a:r>
          </a:p>
          <a:p>
            <a:pPr algn="l">
              <a:lnSpc>
                <a:spcPct val="118000"/>
              </a:lnSpc>
              <a:buNone/>
              <a:defRPr sz="2025" b="0">
                <a:solidFill>
                  <a:srgbClr val="5C706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5C7068"/>
                </a:solidFill>
                <a:latin typeface="Hiragino Sans GB"/>
                <a:ea typeface="Hiragino Sans GB"/>
                <a:cs typeface="Hiragino Sans GB"/>
              </a:rPr>
              <a:t>运行测试并修正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2FFD62F-024A-4A4A-8018-F23C48ACDF18}"/>
              </a:ext>
            </a:extLst>
          </p:cNvPr>
          <p:cNvSpPr>
            <a:spLocks noGrp="1"/>
          </p:cNvSpPr>
          <p:nvPr/>
        </p:nvSpPr>
        <p:spPr>
          <a:xfrm>
            <a:off x="685800" y="5905500"/>
            <a:ext cx="10820400" cy="4000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ctr">
              <a:lnSpc>
                <a:spcPct val="115000"/>
              </a:lnSpc>
              <a:buNone/>
              <a:defRPr sz="210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具体能力取决于当前产品、使用界面和授权范围</a:t>
            </a:r>
          </a:p>
        </p:txBody>
      </p:sp>
    </p:spTree>
    <p:extLst>
      <p:ext uri="{BB962C8B-B14F-4D97-AF65-F5344CB8AC3E}">
        <p14:creationId xmlns:p14="http://schemas.microsoft.com/office/powerpoint/2010/main" val="20380699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>
            <a:extLst>
              <a:ext uri="{FF2B5EF4-FFF2-40B4-BE49-F238E27FC236}">
                <a16:creationId xmlns:a16="http://schemas.microsoft.com/office/drawing/2014/main" id="{D644A6A4-5121-41F6-A6E5-871CF028C8C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B6B4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D896FE5-3082-4C72-9D3F-C9671F9A4FD0}"/>
              </a:ext>
            </a:extLst>
          </p:cNvPr>
          <p:cNvSpPr>
            <a:spLocks noGrp="1"/>
          </p:cNvSpPr>
          <p:nvPr/>
        </p:nvSpPr>
        <p:spPr>
          <a:xfrm>
            <a:off x="609600" y="333375"/>
            <a:ext cx="4572000" cy="3238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5000"/>
              </a:lnSpc>
              <a:buNone/>
              <a:defRPr sz="20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03  基本概念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73C4533-8B41-44BA-A6DA-5F87394DA636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590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5000"/>
              </a:lnSpc>
              <a:buNone/>
              <a:defRPr sz="330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空栈修复任务的可检查产物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7D8FB0C-E556-4DA1-821C-7302B3358B60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BBD9C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2DDB653-9852-49A7-B2F9-8CC06DC8B177}"/>
              </a:ext>
            </a:extLst>
          </p:cNvPr>
          <p:cNvSpPr>
            <a:spLocks noGrp="1"/>
          </p:cNvSpPr>
          <p:nvPr/>
        </p:nvSpPr>
        <p:spPr>
          <a:xfrm>
            <a:off x="914400" y="1762125"/>
            <a:ext cx="2667000" cy="590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l">
              <a:lnSpc>
                <a:spcPct val="115000"/>
              </a:lnSpc>
              <a:buNone/>
              <a:defRPr sz="25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实现文件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2277CF0-EB2D-4AAA-A50C-617F3C58B569}"/>
              </a:ext>
            </a:extLst>
          </p:cNvPr>
          <p:cNvSpPr>
            <a:spLocks noGrp="1"/>
          </p:cNvSpPr>
          <p:nvPr/>
        </p:nvSpPr>
        <p:spPr>
          <a:xfrm>
            <a:off x="3857625" y="1762125"/>
            <a:ext cx="7334250" cy="590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l">
              <a:lnSpc>
                <a:spcPct val="115000"/>
              </a:lnSpc>
              <a:buNone/>
              <a:defRPr sz="225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pop() 的实际修改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7997055-2352-414E-BDA9-60151E04ACCE}"/>
              </a:ext>
            </a:extLst>
          </p:cNvPr>
          <p:cNvSpPr>
            <a:spLocks noGrp="1"/>
          </p:cNvSpPr>
          <p:nvPr/>
        </p:nvSpPr>
        <p:spPr>
          <a:xfrm>
            <a:off x="914400" y="2543175"/>
            <a:ext cx="10277475" cy="19050"/>
          </a:xfrm>
          <a:prstGeom prst="rect">
            <a:avLst/>
          </a:prstGeom>
          <a:solidFill>
            <a:srgbClr val="BBD9C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0FBBE10-D327-443D-97C8-1FB9B51FCF50}"/>
              </a:ext>
            </a:extLst>
          </p:cNvPr>
          <p:cNvSpPr>
            <a:spLocks noGrp="1"/>
          </p:cNvSpPr>
          <p:nvPr/>
        </p:nvSpPr>
        <p:spPr>
          <a:xfrm>
            <a:off x="914400" y="2809875"/>
            <a:ext cx="2667000" cy="590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l">
              <a:lnSpc>
                <a:spcPct val="115000"/>
              </a:lnSpc>
              <a:buNone/>
              <a:defRPr sz="25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测试文件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1EC813B-5303-40CE-8088-6759AA84AF4D}"/>
              </a:ext>
            </a:extLst>
          </p:cNvPr>
          <p:cNvSpPr>
            <a:spLocks noGrp="1"/>
          </p:cNvSpPr>
          <p:nvPr/>
        </p:nvSpPr>
        <p:spPr>
          <a:xfrm>
            <a:off x="3857625" y="2809875"/>
            <a:ext cx="7334250" cy="590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l">
              <a:lnSpc>
                <a:spcPct val="115000"/>
              </a:lnSpc>
              <a:buNone/>
              <a:defRPr sz="225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新增的空栈用例与期望结果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A3ED742-4110-46B7-8A10-B2EDA1FDEF22}"/>
              </a:ext>
            </a:extLst>
          </p:cNvPr>
          <p:cNvSpPr>
            <a:spLocks noGrp="1"/>
          </p:cNvSpPr>
          <p:nvPr/>
        </p:nvSpPr>
        <p:spPr>
          <a:xfrm>
            <a:off x="914400" y="3590925"/>
            <a:ext cx="10277475" cy="19050"/>
          </a:xfrm>
          <a:prstGeom prst="rect">
            <a:avLst/>
          </a:prstGeom>
          <a:solidFill>
            <a:srgbClr val="BBD9C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3285D0F-CA71-4083-8FFE-E3EC2C47CC68}"/>
              </a:ext>
            </a:extLst>
          </p:cNvPr>
          <p:cNvSpPr>
            <a:spLocks noGrp="1"/>
          </p:cNvSpPr>
          <p:nvPr/>
        </p:nvSpPr>
        <p:spPr>
          <a:xfrm>
            <a:off x="914400" y="3857625"/>
            <a:ext cx="2667000" cy="590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l">
              <a:lnSpc>
                <a:spcPct val="115000"/>
              </a:lnSpc>
              <a:buNone/>
              <a:defRPr sz="25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运行记录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4BF4948-9228-47A8-9944-82579B2D70E6}"/>
              </a:ext>
            </a:extLst>
          </p:cNvPr>
          <p:cNvSpPr>
            <a:spLocks noGrp="1"/>
          </p:cNvSpPr>
          <p:nvPr/>
        </p:nvSpPr>
        <p:spPr>
          <a:xfrm>
            <a:off x="3857625" y="3857625"/>
            <a:ext cx="7334250" cy="590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l">
              <a:lnSpc>
                <a:spcPct val="115000"/>
              </a:lnSpc>
              <a:buNone/>
              <a:defRPr sz="225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测试命令、运行结果和失败信息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F05AD00-3148-4B1F-93FB-1FE6ECEE73BA}"/>
              </a:ext>
            </a:extLst>
          </p:cNvPr>
          <p:cNvSpPr>
            <a:spLocks noGrp="1"/>
          </p:cNvSpPr>
          <p:nvPr/>
        </p:nvSpPr>
        <p:spPr>
          <a:xfrm>
            <a:off x="914400" y="4638675"/>
            <a:ext cx="10277475" cy="19050"/>
          </a:xfrm>
          <a:prstGeom prst="rect">
            <a:avLst/>
          </a:prstGeom>
          <a:solidFill>
            <a:srgbClr val="BBD9C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9E251AE-27AB-416F-A1C1-78FB9CF6BAC4}"/>
              </a:ext>
            </a:extLst>
          </p:cNvPr>
          <p:cNvSpPr>
            <a:spLocks noGrp="1"/>
          </p:cNvSpPr>
          <p:nvPr/>
        </p:nvSpPr>
        <p:spPr>
          <a:xfrm>
            <a:off x="914400" y="4905375"/>
            <a:ext cx="2667000" cy="590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l">
              <a:lnSpc>
                <a:spcPct val="115000"/>
              </a:lnSpc>
              <a:buNone/>
              <a:defRPr sz="25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文件差异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79FA837-E86A-4ECB-8E7A-792DB7854619}"/>
              </a:ext>
            </a:extLst>
          </p:cNvPr>
          <p:cNvSpPr>
            <a:spLocks noGrp="1"/>
          </p:cNvSpPr>
          <p:nvPr/>
        </p:nvSpPr>
        <p:spPr>
          <a:xfrm>
            <a:off x="3857625" y="4905375"/>
            <a:ext cx="7334250" cy="590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l">
              <a:lnSpc>
                <a:spcPct val="115000"/>
              </a:lnSpc>
              <a:buNone/>
              <a:defRPr sz="225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最终改动与任务范围的对照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36BFAC9-8FD4-43C6-8F2B-398E75BF70F7}"/>
              </a:ext>
            </a:extLst>
          </p:cNvPr>
          <p:cNvSpPr>
            <a:spLocks noGrp="1"/>
          </p:cNvSpPr>
          <p:nvPr/>
        </p:nvSpPr>
        <p:spPr>
          <a:xfrm>
            <a:off x="685800" y="6048375"/>
            <a:ext cx="10820400" cy="4000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ctr">
              <a:lnSpc>
                <a:spcPct val="115000"/>
              </a:lnSpc>
              <a:buNone/>
              <a:defRPr sz="22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这些产物可以被人阅读、复现和重新验证</a:t>
            </a:r>
          </a:p>
        </p:txBody>
      </p:sp>
    </p:spTree>
    <p:extLst>
      <p:ext uri="{BB962C8B-B14F-4D97-AF65-F5344CB8AC3E}">
        <p14:creationId xmlns:p14="http://schemas.microsoft.com/office/powerpoint/2010/main" val="1929847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E52604C3-95F0-4805-A3F7-76D4D84B7A4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B6B4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01A78EC-FA17-44FB-A468-AC1E3C54BE0F}"/>
              </a:ext>
            </a:extLst>
          </p:cNvPr>
          <p:cNvSpPr>
            <a:spLocks noGrp="1"/>
          </p:cNvSpPr>
          <p:nvPr/>
        </p:nvSpPr>
        <p:spPr>
          <a:xfrm>
            <a:off x="609600" y="333375"/>
            <a:ext cx="4572000" cy="3238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5000"/>
              </a:lnSpc>
              <a:buNone/>
              <a:defRPr sz="20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04  三种 AI 编程方式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6EFB044-FC28-4754-91A9-4A4E8B7E0F40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590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5000"/>
              </a:lnSpc>
              <a:buNone/>
              <a:defRPr sz="330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IDE 自动补全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CF96276-85B2-4CF6-90EA-694630A02559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BBD9C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7458E3A-4E8C-468F-9912-98ADD0206CDA}"/>
              </a:ext>
            </a:extLst>
          </p:cNvPr>
          <p:cNvSpPr>
            <a:spLocks noGrp="1"/>
          </p:cNvSpPr>
          <p:nvPr/>
        </p:nvSpPr>
        <p:spPr>
          <a:xfrm>
            <a:off x="704850" y="1619250"/>
            <a:ext cx="10782300" cy="5238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5000"/>
              </a:lnSpc>
              <a:buNone/>
              <a:defRPr sz="255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关注当前输入位置，预测下一行或一小段代码</a:t>
            </a: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EFF15191-B854-44C0-8AD3-1933D3FFCE6D}"/>
              </a:ext>
            </a:extLst>
          </p:cNvPr>
          <p:cNvSpPr>
            <a:spLocks noGrp="1"/>
          </p:cNvSpPr>
          <p:nvPr/>
        </p:nvSpPr>
        <p:spPr>
          <a:xfrm>
            <a:off x="1009650" y="2419350"/>
            <a:ext cx="10172700" cy="3162300"/>
          </a:xfrm>
          <a:prstGeom prst="roundRect">
            <a:avLst>
              <a:gd name="adj" fmla="val 5422"/>
            </a:avLst>
          </a:prstGeom>
          <a:solidFill>
            <a:srgbClr val="F5FAF8"/>
          </a:solidFill>
          <a:ln w="9525">
            <a:solidFill>
              <a:srgbClr val="BBD9CD"/>
            </a:solidFill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66800" y="2481682"/>
            <a:ext cx="10058400" cy="3037637"/>
          </a:xfrm>
          <a:prstGeom prst="roundRect">
            <a:avLst>
              <a:gd name="adj" fmla="val 4375"/>
            </a:avLst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5FBD9871-3673-4BA9-8050-4CD8A7AEFADE}"/>
              </a:ext>
            </a:extLst>
          </p:cNvPr>
          <p:cNvSpPr>
            <a:spLocks noGrp="1"/>
          </p:cNvSpPr>
          <p:nvPr/>
        </p:nvSpPr>
        <p:spPr>
          <a:xfrm>
            <a:off x="704850" y="5905500"/>
            <a:ext cx="10782300" cy="3810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ctr">
              <a:lnSpc>
                <a:spcPct val="115000"/>
              </a:lnSpc>
              <a:buNone/>
              <a:defRPr sz="210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适合：补全变量、函数调用和小段逻辑</a:t>
            </a:r>
          </a:p>
        </p:txBody>
      </p:sp>
    </p:spTree>
    <p:extLst>
      <p:ext uri="{BB962C8B-B14F-4D97-AF65-F5344CB8AC3E}">
        <p14:creationId xmlns:p14="http://schemas.microsoft.com/office/powerpoint/2010/main" val="19408924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7FB1276E-B8DC-427F-9791-6BA48EF14F1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B6B4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D3960E4-3185-46D0-A1D1-537522D17DFD}"/>
              </a:ext>
            </a:extLst>
          </p:cNvPr>
          <p:cNvSpPr>
            <a:spLocks noGrp="1"/>
          </p:cNvSpPr>
          <p:nvPr/>
        </p:nvSpPr>
        <p:spPr>
          <a:xfrm>
            <a:off x="609600" y="333375"/>
            <a:ext cx="4572000" cy="3238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5000"/>
              </a:lnSpc>
              <a:buNone/>
              <a:defRPr sz="20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04  三种 AI 编程方式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B726450-6695-4DF6-8E3C-7B78939A5DFE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590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5000"/>
              </a:lnSpc>
              <a:buNone/>
              <a:defRPr sz="330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通用对话式 AI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BF3E3BD-0CF7-468C-B37A-4B89AFEE336A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BBD9C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2ACF720-0270-406E-8DF6-F61E043AD717}"/>
              </a:ext>
            </a:extLst>
          </p:cNvPr>
          <p:cNvSpPr>
            <a:spLocks noGrp="1"/>
          </p:cNvSpPr>
          <p:nvPr/>
        </p:nvSpPr>
        <p:spPr>
          <a:xfrm>
            <a:off x="704850" y="1619250"/>
            <a:ext cx="10782300" cy="6096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5000"/>
              </a:lnSpc>
              <a:buNone/>
              <a:defRPr sz="255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根据用户消息、代码和附件生成解释、方案或代码回答</a:t>
            </a: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061D720F-8698-47A7-9725-A3C3ADDC0590}"/>
              </a:ext>
            </a:extLst>
          </p:cNvPr>
          <p:cNvSpPr>
            <a:spLocks noGrp="1"/>
          </p:cNvSpPr>
          <p:nvPr/>
        </p:nvSpPr>
        <p:spPr>
          <a:xfrm>
            <a:off x="819150" y="2609850"/>
            <a:ext cx="10553700" cy="2447925"/>
          </a:xfrm>
          <a:prstGeom prst="roundRect">
            <a:avLst>
              <a:gd name="adj" fmla="val 7004"/>
            </a:avLst>
          </a:prstGeom>
          <a:solidFill>
            <a:srgbClr val="F5FAF8"/>
          </a:solidFill>
          <a:ln w="9525">
            <a:solidFill>
              <a:srgbClr val="BBD9CD"/>
            </a:solidFill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003088" y="2667000"/>
            <a:ext cx="8185824" cy="2333625"/>
          </a:xfrm>
          <a:prstGeom prst="roundRect">
            <a:avLst>
              <a:gd name="adj" fmla="val 5714"/>
            </a:avLst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755DCB5D-E56A-4F25-90A5-190BF64DFA9E}"/>
              </a:ext>
            </a:extLst>
          </p:cNvPr>
          <p:cNvSpPr>
            <a:spLocks noGrp="1"/>
          </p:cNvSpPr>
          <p:nvPr/>
        </p:nvSpPr>
        <p:spPr>
          <a:xfrm>
            <a:off x="704850" y="5562600"/>
            <a:ext cx="10782300" cy="4191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ctr">
              <a:lnSpc>
                <a:spcPct val="115000"/>
              </a:lnSpc>
              <a:buNone/>
              <a:defRPr sz="22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适合：概念解释、方案讨论和独立代码示例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C59E6E3-147F-4019-9CEE-EF66B8DBD0AB}"/>
              </a:ext>
            </a:extLst>
          </p:cNvPr>
          <p:cNvSpPr>
            <a:spLocks noGrp="1"/>
          </p:cNvSpPr>
          <p:nvPr/>
        </p:nvSpPr>
        <p:spPr>
          <a:xfrm>
            <a:off x="704850" y="6057900"/>
            <a:ext cx="10782300" cy="3429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ctr">
              <a:lnSpc>
                <a:spcPct val="115000"/>
              </a:lnSpc>
              <a:buNone/>
              <a:defRPr sz="2025" b="0">
                <a:solidFill>
                  <a:srgbClr val="5C706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5C7068"/>
                </a:solidFill>
                <a:latin typeface="Hiragino Sans GB"/>
                <a:ea typeface="Hiragino Sans GB"/>
                <a:cs typeface="Hiragino Sans GB"/>
              </a:rPr>
              <a:t>它能看到什么，要根据具体产品和当前会话确认</a:t>
            </a:r>
          </a:p>
        </p:txBody>
      </p:sp>
    </p:spTree>
    <p:extLst>
      <p:ext uri="{BB962C8B-B14F-4D97-AF65-F5344CB8AC3E}">
        <p14:creationId xmlns:p14="http://schemas.microsoft.com/office/powerpoint/2010/main" val="2966373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C965DA5C-4280-4C60-B0F7-02259C96B87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B6B4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CB475D7-EB4F-4780-BD26-D91968F48978}"/>
              </a:ext>
            </a:extLst>
          </p:cNvPr>
          <p:cNvSpPr>
            <a:spLocks noGrp="1"/>
          </p:cNvSpPr>
          <p:nvPr/>
        </p:nvSpPr>
        <p:spPr>
          <a:xfrm>
            <a:off x="609600" y="333375"/>
            <a:ext cx="4572000" cy="3238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5000"/>
              </a:lnSpc>
              <a:buNone/>
              <a:defRPr sz="20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04  三种 AI 编程方式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588F5D7-6F0E-4779-822D-688DE9A1D57E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590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5000"/>
              </a:lnSpc>
              <a:buNone/>
              <a:defRPr sz="330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编码 Agent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E73B768-FD7B-4695-B3CA-A1350E918921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BBD9C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8D00B3D-8BF5-430A-9175-1FC6A1404597}"/>
              </a:ext>
            </a:extLst>
          </p:cNvPr>
          <p:cNvSpPr>
            <a:spLocks noGrp="1"/>
          </p:cNvSpPr>
          <p:nvPr/>
        </p:nvSpPr>
        <p:spPr>
          <a:xfrm>
            <a:off x="704850" y="1600200"/>
            <a:ext cx="10782300" cy="666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5000"/>
              </a:lnSpc>
              <a:buNone/>
              <a:defRPr sz="255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面向真实项目任务，可在授权范围内搜索项目、修改文件并运行工具</a:t>
            </a: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04938B4A-6CB2-44A9-933E-5CB81F985A26}"/>
              </a:ext>
            </a:extLst>
          </p:cNvPr>
          <p:cNvSpPr>
            <a:spLocks noGrp="1"/>
          </p:cNvSpPr>
          <p:nvPr/>
        </p:nvSpPr>
        <p:spPr>
          <a:xfrm>
            <a:off x="1466850" y="2419350"/>
            <a:ext cx="9258300" cy="3448050"/>
          </a:xfrm>
          <a:prstGeom prst="roundRect">
            <a:avLst>
              <a:gd name="adj" fmla="val 4972"/>
            </a:avLst>
          </a:prstGeom>
          <a:solidFill>
            <a:srgbClr val="F5FAF8"/>
          </a:solidFill>
          <a:ln w="9525">
            <a:solidFill>
              <a:srgbClr val="BBD9CD"/>
            </a:solidFill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132667" y="2476500"/>
            <a:ext cx="5926667" cy="3333750"/>
          </a:xfrm>
          <a:prstGeom prst="roundRect">
            <a:avLst>
              <a:gd name="adj" fmla="val 4000"/>
            </a:avLst>
          </a:prstGeom>
        </p:spPr>
      </p:pic>
    </p:spTree>
    <p:extLst>
      <p:ext uri="{BB962C8B-B14F-4D97-AF65-F5344CB8AC3E}">
        <p14:creationId xmlns:p14="http://schemas.microsoft.com/office/powerpoint/2010/main" val="4924588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207A8CE4-4D1D-4986-AD27-2082E082E98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B6B4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EB4600C-D7D2-4F78-A3B4-EA69E5C5A9ED}"/>
              </a:ext>
            </a:extLst>
          </p:cNvPr>
          <p:cNvSpPr>
            <a:spLocks noGrp="1"/>
          </p:cNvSpPr>
          <p:nvPr/>
        </p:nvSpPr>
        <p:spPr>
          <a:xfrm>
            <a:off x="609600" y="333375"/>
            <a:ext cx="4572000" cy="3238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5000"/>
              </a:lnSpc>
              <a:buNone/>
              <a:defRPr sz="20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04  三种 AI 编程方式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692557B-45CD-4335-B046-A9AA887E3BA9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590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5000"/>
              </a:lnSpc>
              <a:buNone/>
              <a:defRPr sz="330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三种 AI 编程方式的区别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E4A847D-7EAC-40AD-BCA5-42D323392DFF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BBD9C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C360F93-64F4-4039-8A25-0675865451B2}"/>
              </a:ext>
            </a:extLst>
          </p:cNvPr>
          <p:cNvSpPr>
            <a:spLocks noGrp="1"/>
          </p:cNvSpPr>
          <p:nvPr/>
        </p:nvSpPr>
        <p:spPr>
          <a:xfrm>
            <a:off x="666750" y="1809750"/>
            <a:ext cx="2476500" cy="666750"/>
          </a:xfrm>
          <a:prstGeom prst="rect">
            <a:avLst/>
          </a:prstGeom>
          <a:solidFill>
            <a:srgbClr val="0B6B4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563393A-F5AC-4FF5-BBFB-BCF50533C438}"/>
              </a:ext>
            </a:extLst>
          </p:cNvPr>
          <p:cNvSpPr>
            <a:spLocks noGrp="1"/>
          </p:cNvSpPr>
          <p:nvPr/>
        </p:nvSpPr>
        <p:spPr>
          <a:xfrm>
            <a:off x="742950" y="1924050"/>
            <a:ext cx="2324100" cy="4381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ctr">
              <a:lnSpc>
                <a:spcPct val="115000"/>
              </a:lnSpc>
              <a:buNone/>
              <a:defRPr sz="21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形态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FF7534E-8BD5-4169-85F7-5536B1FA1459}"/>
              </a:ext>
            </a:extLst>
          </p:cNvPr>
          <p:cNvSpPr>
            <a:spLocks noGrp="1"/>
          </p:cNvSpPr>
          <p:nvPr/>
        </p:nvSpPr>
        <p:spPr>
          <a:xfrm>
            <a:off x="3143250" y="1809750"/>
            <a:ext cx="2762250" cy="666750"/>
          </a:xfrm>
          <a:prstGeom prst="rect">
            <a:avLst/>
          </a:prstGeom>
          <a:solidFill>
            <a:srgbClr val="0B6B4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5D498F5-C394-4B73-86A6-FD9229F46BB7}"/>
              </a:ext>
            </a:extLst>
          </p:cNvPr>
          <p:cNvSpPr>
            <a:spLocks noGrp="1"/>
          </p:cNvSpPr>
          <p:nvPr/>
        </p:nvSpPr>
        <p:spPr>
          <a:xfrm>
            <a:off x="3219450" y="1924050"/>
            <a:ext cx="2609850" cy="4381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ctr">
              <a:lnSpc>
                <a:spcPct val="115000"/>
              </a:lnSpc>
              <a:buNone/>
              <a:defRPr sz="21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主要输入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6B9B35F-D358-4282-A094-B646821333ED}"/>
              </a:ext>
            </a:extLst>
          </p:cNvPr>
          <p:cNvSpPr>
            <a:spLocks noGrp="1"/>
          </p:cNvSpPr>
          <p:nvPr/>
        </p:nvSpPr>
        <p:spPr>
          <a:xfrm>
            <a:off x="5905500" y="1809750"/>
            <a:ext cx="2857500" cy="666750"/>
          </a:xfrm>
          <a:prstGeom prst="rect">
            <a:avLst/>
          </a:prstGeom>
          <a:solidFill>
            <a:srgbClr val="0B6B4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E01E0A1-9787-4995-B86E-1BFE6F7E25DF}"/>
              </a:ext>
            </a:extLst>
          </p:cNvPr>
          <p:cNvSpPr>
            <a:spLocks noGrp="1"/>
          </p:cNvSpPr>
          <p:nvPr/>
        </p:nvSpPr>
        <p:spPr>
          <a:xfrm>
            <a:off x="5981700" y="1924050"/>
            <a:ext cx="2705100" cy="4381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ctr">
              <a:lnSpc>
                <a:spcPct val="115000"/>
              </a:lnSpc>
              <a:buNone/>
              <a:defRPr sz="21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主要输出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5C8ADFB-CB34-47F8-894C-D5F60BA1301B}"/>
              </a:ext>
            </a:extLst>
          </p:cNvPr>
          <p:cNvSpPr>
            <a:spLocks noGrp="1"/>
          </p:cNvSpPr>
          <p:nvPr/>
        </p:nvSpPr>
        <p:spPr>
          <a:xfrm>
            <a:off x="8763000" y="1809750"/>
            <a:ext cx="3143250" cy="666750"/>
          </a:xfrm>
          <a:prstGeom prst="rect">
            <a:avLst/>
          </a:prstGeom>
          <a:solidFill>
            <a:srgbClr val="0B6B4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0BB2B76-1214-40BB-B862-F22E64E4D853}"/>
              </a:ext>
            </a:extLst>
          </p:cNvPr>
          <p:cNvSpPr>
            <a:spLocks noGrp="1"/>
          </p:cNvSpPr>
          <p:nvPr/>
        </p:nvSpPr>
        <p:spPr>
          <a:xfrm>
            <a:off x="8839200" y="1924050"/>
            <a:ext cx="2990850" cy="4381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ctr">
              <a:lnSpc>
                <a:spcPct val="115000"/>
              </a:lnSpc>
              <a:buNone/>
              <a:defRPr sz="21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典型任务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19804EB-ED99-4BE1-9B52-461B3B618A97}"/>
              </a:ext>
            </a:extLst>
          </p:cNvPr>
          <p:cNvSpPr>
            <a:spLocks noGrp="1"/>
          </p:cNvSpPr>
          <p:nvPr/>
        </p:nvSpPr>
        <p:spPr>
          <a:xfrm>
            <a:off x="666750" y="2476500"/>
            <a:ext cx="247650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BBD9CD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8765AB5-FAAB-4A41-9D33-50A194316D4F}"/>
              </a:ext>
            </a:extLst>
          </p:cNvPr>
          <p:cNvSpPr>
            <a:spLocks noGrp="1"/>
          </p:cNvSpPr>
          <p:nvPr/>
        </p:nvSpPr>
        <p:spPr>
          <a:xfrm>
            <a:off x="800100" y="2609850"/>
            <a:ext cx="2209800" cy="8763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20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IDE 自动补全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8071EFA-C2B9-469A-B3E7-141D03411646}"/>
              </a:ext>
            </a:extLst>
          </p:cNvPr>
          <p:cNvSpPr>
            <a:spLocks noGrp="1"/>
          </p:cNvSpPr>
          <p:nvPr/>
        </p:nvSpPr>
        <p:spPr>
          <a:xfrm>
            <a:off x="3143250" y="2476500"/>
            <a:ext cx="276225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BBD9CD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7249BD5-E241-4B7F-9B64-F73A0935A56E}"/>
              </a:ext>
            </a:extLst>
          </p:cNvPr>
          <p:cNvSpPr>
            <a:spLocks noGrp="1"/>
          </p:cNvSpPr>
          <p:nvPr/>
        </p:nvSpPr>
        <p:spPr>
          <a:xfrm>
            <a:off x="3276600" y="2609850"/>
            <a:ext cx="2495550" cy="8763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l">
              <a:lnSpc>
                <a:spcPct val="118000"/>
              </a:lnSpc>
              <a:buNone/>
              <a:defRPr sz="2025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当前文件与光标附近代码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1B222E5-9466-4D40-AD63-D3BF9E160341}"/>
              </a:ext>
            </a:extLst>
          </p:cNvPr>
          <p:cNvSpPr>
            <a:spLocks noGrp="1"/>
          </p:cNvSpPr>
          <p:nvPr/>
        </p:nvSpPr>
        <p:spPr>
          <a:xfrm>
            <a:off x="5905500" y="2476500"/>
            <a:ext cx="285750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BBD9CD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FB640AD-2058-4529-8983-4254262DAE5F}"/>
              </a:ext>
            </a:extLst>
          </p:cNvPr>
          <p:cNvSpPr>
            <a:spLocks noGrp="1"/>
          </p:cNvSpPr>
          <p:nvPr/>
        </p:nvSpPr>
        <p:spPr>
          <a:xfrm>
            <a:off x="6038850" y="2609850"/>
            <a:ext cx="2590800" cy="8763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l">
              <a:lnSpc>
                <a:spcPct val="118000"/>
              </a:lnSpc>
              <a:buNone/>
              <a:defRPr sz="2025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下一行或代码片段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BFA6594-FD0A-4E4A-A102-B759D557C000}"/>
              </a:ext>
            </a:extLst>
          </p:cNvPr>
          <p:cNvSpPr>
            <a:spLocks noGrp="1"/>
          </p:cNvSpPr>
          <p:nvPr/>
        </p:nvSpPr>
        <p:spPr>
          <a:xfrm>
            <a:off x="8763000" y="2476500"/>
            <a:ext cx="314325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BBD9CD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AD24165-BF5B-4392-9B38-2F1ECF60C3D5}"/>
              </a:ext>
            </a:extLst>
          </p:cNvPr>
          <p:cNvSpPr>
            <a:spLocks noGrp="1"/>
          </p:cNvSpPr>
          <p:nvPr/>
        </p:nvSpPr>
        <p:spPr>
          <a:xfrm>
            <a:off x="8896350" y="2609850"/>
            <a:ext cx="2876550" cy="8763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l">
              <a:lnSpc>
                <a:spcPct val="118000"/>
              </a:lnSpc>
              <a:buNone/>
              <a:defRPr sz="2025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补全循环、条件和函数调用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BF0CC3B-4EBF-49EF-B342-AA58B2C5DF3A}"/>
              </a:ext>
            </a:extLst>
          </p:cNvPr>
          <p:cNvSpPr>
            <a:spLocks noGrp="1"/>
          </p:cNvSpPr>
          <p:nvPr/>
        </p:nvSpPr>
        <p:spPr>
          <a:xfrm>
            <a:off x="666750" y="3619500"/>
            <a:ext cx="2476500" cy="1143000"/>
          </a:xfrm>
          <a:prstGeom prst="rect">
            <a:avLst/>
          </a:prstGeom>
          <a:solidFill>
            <a:srgbClr val="F5FAF8"/>
          </a:solidFill>
          <a:ln w="9525">
            <a:solidFill>
              <a:srgbClr val="BBD9CD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30A0F962-DCBA-49C1-8452-94B7F77D5D4F}"/>
              </a:ext>
            </a:extLst>
          </p:cNvPr>
          <p:cNvSpPr>
            <a:spLocks noGrp="1"/>
          </p:cNvSpPr>
          <p:nvPr/>
        </p:nvSpPr>
        <p:spPr>
          <a:xfrm>
            <a:off x="800100" y="3752850"/>
            <a:ext cx="2209800" cy="8763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20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通用对话式 AI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10501E6D-447A-4273-B598-21EDCAA547D5}"/>
              </a:ext>
            </a:extLst>
          </p:cNvPr>
          <p:cNvSpPr>
            <a:spLocks noGrp="1"/>
          </p:cNvSpPr>
          <p:nvPr/>
        </p:nvSpPr>
        <p:spPr>
          <a:xfrm>
            <a:off x="3143250" y="3619500"/>
            <a:ext cx="2762250" cy="1143000"/>
          </a:xfrm>
          <a:prstGeom prst="rect">
            <a:avLst/>
          </a:prstGeom>
          <a:solidFill>
            <a:srgbClr val="F5FAF8"/>
          </a:solidFill>
          <a:ln w="9525">
            <a:solidFill>
              <a:srgbClr val="BBD9CD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D8F20109-210D-478A-BB97-D626F76AD3AC}"/>
              </a:ext>
            </a:extLst>
          </p:cNvPr>
          <p:cNvSpPr>
            <a:spLocks noGrp="1"/>
          </p:cNvSpPr>
          <p:nvPr/>
        </p:nvSpPr>
        <p:spPr>
          <a:xfrm>
            <a:off x="3276600" y="3752850"/>
            <a:ext cx="2495550" cy="8763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l">
              <a:lnSpc>
                <a:spcPct val="118000"/>
              </a:lnSpc>
              <a:buNone/>
              <a:defRPr sz="2025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用户消息、代码和附件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7183AA61-ECF3-46B7-812C-F5BF03A55DBF}"/>
              </a:ext>
            </a:extLst>
          </p:cNvPr>
          <p:cNvSpPr>
            <a:spLocks noGrp="1"/>
          </p:cNvSpPr>
          <p:nvPr/>
        </p:nvSpPr>
        <p:spPr>
          <a:xfrm>
            <a:off x="5905500" y="3619500"/>
            <a:ext cx="2857500" cy="1143000"/>
          </a:xfrm>
          <a:prstGeom prst="rect">
            <a:avLst/>
          </a:prstGeom>
          <a:solidFill>
            <a:srgbClr val="F5FAF8"/>
          </a:solidFill>
          <a:ln w="9525">
            <a:solidFill>
              <a:srgbClr val="BBD9CD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5E777CE7-4466-49A5-ACBA-30843DD78E93}"/>
              </a:ext>
            </a:extLst>
          </p:cNvPr>
          <p:cNvSpPr>
            <a:spLocks noGrp="1"/>
          </p:cNvSpPr>
          <p:nvPr/>
        </p:nvSpPr>
        <p:spPr>
          <a:xfrm>
            <a:off x="6038850" y="3752850"/>
            <a:ext cx="2590800" cy="8763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l">
              <a:lnSpc>
                <a:spcPct val="118000"/>
              </a:lnSpc>
              <a:buNone/>
              <a:defRPr sz="2025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文字说明或代码回答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D26D1554-9B4E-4555-9BA0-02720EDF7E8E}"/>
              </a:ext>
            </a:extLst>
          </p:cNvPr>
          <p:cNvSpPr>
            <a:spLocks noGrp="1"/>
          </p:cNvSpPr>
          <p:nvPr/>
        </p:nvSpPr>
        <p:spPr>
          <a:xfrm>
            <a:off x="8763000" y="3619500"/>
            <a:ext cx="3143250" cy="1143000"/>
          </a:xfrm>
          <a:prstGeom prst="rect">
            <a:avLst/>
          </a:prstGeom>
          <a:solidFill>
            <a:srgbClr val="F5FAF8"/>
          </a:solidFill>
          <a:ln w="9525">
            <a:solidFill>
              <a:srgbClr val="BBD9CD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B9CCC305-1F11-4A8D-A005-9780F03CB7D0}"/>
              </a:ext>
            </a:extLst>
          </p:cNvPr>
          <p:cNvSpPr>
            <a:spLocks noGrp="1"/>
          </p:cNvSpPr>
          <p:nvPr/>
        </p:nvSpPr>
        <p:spPr>
          <a:xfrm>
            <a:off x="8896350" y="3752850"/>
            <a:ext cx="2876550" cy="8763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l">
              <a:lnSpc>
                <a:spcPct val="118000"/>
              </a:lnSpc>
              <a:buNone/>
              <a:defRPr sz="2025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解释概念、分析错误、生成示例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BAA3E6AE-45F2-4FB3-9317-494918F92360}"/>
              </a:ext>
            </a:extLst>
          </p:cNvPr>
          <p:cNvSpPr>
            <a:spLocks noGrp="1"/>
          </p:cNvSpPr>
          <p:nvPr/>
        </p:nvSpPr>
        <p:spPr>
          <a:xfrm>
            <a:off x="666750" y="4762500"/>
            <a:ext cx="247650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BBD9CD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826D3DE0-9A94-45E2-A99F-0D1C0A7FB021}"/>
              </a:ext>
            </a:extLst>
          </p:cNvPr>
          <p:cNvSpPr>
            <a:spLocks noGrp="1"/>
          </p:cNvSpPr>
          <p:nvPr/>
        </p:nvSpPr>
        <p:spPr>
          <a:xfrm>
            <a:off x="800100" y="4895850"/>
            <a:ext cx="2209800" cy="8763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20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编码 Agent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AF909302-8337-4AA0-B9E5-E1021A0EA98D}"/>
              </a:ext>
            </a:extLst>
          </p:cNvPr>
          <p:cNvSpPr>
            <a:spLocks noGrp="1"/>
          </p:cNvSpPr>
          <p:nvPr/>
        </p:nvSpPr>
        <p:spPr>
          <a:xfrm>
            <a:off x="3143250" y="4762500"/>
            <a:ext cx="276225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BBD9CD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1487F749-81B3-443F-B909-20CC56C7AF8E}"/>
              </a:ext>
            </a:extLst>
          </p:cNvPr>
          <p:cNvSpPr>
            <a:spLocks noGrp="1"/>
          </p:cNvSpPr>
          <p:nvPr/>
        </p:nvSpPr>
        <p:spPr>
          <a:xfrm>
            <a:off x="3276600" y="4895850"/>
            <a:ext cx="2495550" cy="8763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l">
              <a:lnSpc>
                <a:spcPct val="118000"/>
              </a:lnSpc>
              <a:buNone/>
              <a:defRPr sz="2025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开发任务、项目上下文和工具结果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BF980D7F-2C3E-461C-B215-E1FC6A5D57F9}"/>
              </a:ext>
            </a:extLst>
          </p:cNvPr>
          <p:cNvSpPr>
            <a:spLocks noGrp="1"/>
          </p:cNvSpPr>
          <p:nvPr/>
        </p:nvSpPr>
        <p:spPr>
          <a:xfrm>
            <a:off x="5905500" y="4762500"/>
            <a:ext cx="285750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BBD9CD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268F287E-9745-4F8B-9961-D66C8F9A7E3D}"/>
              </a:ext>
            </a:extLst>
          </p:cNvPr>
          <p:cNvSpPr>
            <a:spLocks noGrp="1"/>
          </p:cNvSpPr>
          <p:nvPr/>
        </p:nvSpPr>
        <p:spPr>
          <a:xfrm>
            <a:off x="6038850" y="4895850"/>
            <a:ext cx="2590800" cy="8763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l">
              <a:lnSpc>
                <a:spcPct val="118000"/>
              </a:lnSpc>
              <a:buNone/>
              <a:defRPr sz="2025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项目修改、测试结果和工作说明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105B13E2-395C-4AF4-8DC8-3344452C3194}"/>
              </a:ext>
            </a:extLst>
          </p:cNvPr>
          <p:cNvSpPr>
            <a:spLocks noGrp="1"/>
          </p:cNvSpPr>
          <p:nvPr/>
        </p:nvSpPr>
        <p:spPr>
          <a:xfrm>
            <a:off x="8763000" y="4762500"/>
            <a:ext cx="314325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BBD9CD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C699D962-14BC-4111-91CF-E22742895B31}"/>
              </a:ext>
            </a:extLst>
          </p:cNvPr>
          <p:cNvSpPr>
            <a:spLocks noGrp="1"/>
          </p:cNvSpPr>
          <p:nvPr/>
        </p:nvSpPr>
        <p:spPr>
          <a:xfrm>
            <a:off x="8896350" y="4895850"/>
            <a:ext cx="2876550" cy="8763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l">
              <a:lnSpc>
                <a:spcPct val="118000"/>
              </a:lnSpc>
              <a:buNone/>
              <a:defRPr sz="2025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修复缺陷、增加功能、修改多个文件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91174481-2024-4ED2-9EE0-7FB23C05CB24}"/>
              </a:ext>
            </a:extLst>
          </p:cNvPr>
          <p:cNvSpPr>
            <a:spLocks noGrp="1"/>
          </p:cNvSpPr>
          <p:nvPr/>
        </p:nvSpPr>
        <p:spPr>
          <a:xfrm>
            <a:off x="666750" y="6048375"/>
            <a:ext cx="11239500" cy="4000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ctr">
              <a:lnSpc>
                <a:spcPct val="115000"/>
              </a:lnSpc>
              <a:buNone/>
              <a:defRPr sz="210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三种方式可以配合使用，关键是匹配任务和权限</a:t>
            </a:r>
          </a:p>
        </p:txBody>
      </p:sp>
    </p:spTree>
    <p:extLst>
      <p:ext uri="{BB962C8B-B14F-4D97-AF65-F5344CB8AC3E}">
        <p14:creationId xmlns:p14="http://schemas.microsoft.com/office/powerpoint/2010/main" val="2686241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2E10F9C3-4D4F-4280-AB2C-7EF1A9329BB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B6B4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4B434EB-AE99-4B2A-925A-568D93D467AC}"/>
              </a:ext>
            </a:extLst>
          </p:cNvPr>
          <p:cNvSpPr>
            <a:spLocks noGrp="1"/>
          </p:cNvSpPr>
          <p:nvPr/>
        </p:nvSpPr>
        <p:spPr>
          <a:xfrm>
            <a:off x="609600" y="333375"/>
            <a:ext cx="4572000" cy="3238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5000"/>
              </a:lnSpc>
              <a:buNone/>
              <a:defRPr sz="20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04  三种 AI 编程方式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93F4ECE-B87A-4917-9F4A-33F6A045DE5F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590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5000"/>
              </a:lnSpc>
              <a:buNone/>
              <a:defRPr sz="330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三种方式的可见上下文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782A8BE-C346-4A34-8341-5F8EDE36837C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BBD9C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FD099BB-F18E-4A15-A65D-71FCA43412E1}"/>
              </a:ext>
            </a:extLst>
          </p:cNvPr>
          <p:cNvSpPr>
            <a:spLocks noGrp="1"/>
          </p:cNvSpPr>
          <p:nvPr/>
        </p:nvSpPr>
        <p:spPr>
          <a:xfrm>
            <a:off x="666750" y="1809750"/>
            <a:ext cx="3429000" cy="5715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ctr">
              <a:lnSpc>
                <a:spcPct val="115000"/>
              </a:lnSpc>
              <a:buNone/>
              <a:defRPr sz="247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7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IDE 自动补全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25963E2-49E9-4F03-A46B-F2CE642892BD}"/>
              </a:ext>
            </a:extLst>
          </p:cNvPr>
          <p:cNvSpPr>
            <a:spLocks noGrp="1"/>
          </p:cNvSpPr>
          <p:nvPr/>
        </p:nvSpPr>
        <p:spPr>
          <a:xfrm>
            <a:off x="857250" y="2619375"/>
            <a:ext cx="3048000" cy="47625"/>
          </a:xfrm>
          <a:prstGeom prst="rect">
            <a:avLst/>
          </a:prstGeom>
          <a:solidFill>
            <a:srgbClr val="BBD9C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1AA98D2-A33C-4FDF-A975-F9F0F822555D}"/>
              </a:ext>
            </a:extLst>
          </p:cNvPr>
          <p:cNvSpPr>
            <a:spLocks noGrp="1"/>
          </p:cNvSpPr>
          <p:nvPr/>
        </p:nvSpPr>
        <p:spPr>
          <a:xfrm>
            <a:off x="857250" y="3048000"/>
            <a:ext cx="3048000" cy="9525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ctr">
              <a:lnSpc>
                <a:spcPct val="130000"/>
              </a:lnSpc>
              <a:buNone/>
              <a:defRPr sz="2175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当前文件</a:t>
            </a:r>
          </a:p>
          <a:p>
            <a:pPr algn="ctr">
              <a:lnSpc>
                <a:spcPct val="130000"/>
              </a:lnSpc>
              <a:buNone/>
              <a:defRPr sz="2175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光标附近代码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E1D9F54-B4AD-4E8D-9C3B-77D57502897B}"/>
              </a:ext>
            </a:extLst>
          </p:cNvPr>
          <p:cNvSpPr>
            <a:spLocks noGrp="1"/>
          </p:cNvSpPr>
          <p:nvPr/>
        </p:nvSpPr>
        <p:spPr>
          <a:xfrm>
            <a:off x="857250" y="4476750"/>
            <a:ext cx="3048000" cy="10668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ctr">
              <a:lnSpc>
                <a:spcPct val="125000"/>
              </a:lnSpc>
              <a:buNone/>
              <a:defRPr sz="2025" b="0">
                <a:solidFill>
                  <a:srgbClr val="5C706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5C7068"/>
                </a:solidFill>
                <a:latin typeface="Hiragino Sans GB"/>
                <a:ea typeface="Hiragino Sans GB"/>
                <a:cs typeface="Hiragino Sans GB"/>
              </a:rPr>
              <a:t>不能仅凭局部代码确认整个项目行为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635F40C-4DCE-4CA8-A53A-6A9D89E8637F}"/>
              </a:ext>
            </a:extLst>
          </p:cNvPr>
          <p:cNvSpPr>
            <a:spLocks noGrp="1"/>
          </p:cNvSpPr>
          <p:nvPr/>
        </p:nvSpPr>
        <p:spPr>
          <a:xfrm>
            <a:off x="4476750" y="1809750"/>
            <a:ext cx="3429000" cy="5715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ctr">
              <a:lnSpc>
                <a:spcPct val="115000"/>
              </a:lnSpc>
              <a:buNone/>
              <a:defRPr sz="247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7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通用对话式 AI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423C1CC-7184-4AED-A8ED-BA8D65EBB424}"/>
              </a:ext>
            </a:extLst>
          </p:cNvPr>
          <p:cNvSpPr>
            <a:spLocks noGrp="1"/>
          </p:cNvSpPr>
          <p:nvPr/>
        </p:nvSpPr>
        <p:spPr>
          <a:xfrm>
            <a:off x="4667250" y="2619375"/>
            <a:ext cx="3048000" cy="47625"/>
          </a:xfrm>
          <a:prstGeom prst="rect">
            <a:avLst/>
          </a:prstGeom>
          <a:solidFill>
            <a:srgbClr val="BBD9C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0432BAC-D132-4F21-9490-B8A2363BEAB0}"/>
              </a:ext>
            </a:extLst>
          </p:cNvPr>
          <p:cNvSpPr>
            <a:spLocks noGrp="1"/>
          </p:cNvSpPr>
          <p:nvPr/>
        </p:nvSpPr>
        <p:spPr>
          <a:xfrm>
            <a:off x="4667250" y="3048000"/>
            <a:ext cx="3048000" cy="9525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ctr">
              <a:lnSpc>
                <a:spcPct val="130000"/>
              </a:lnSpc>
              <a:buNone/>
              <a:defRPr sz="2175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消息、粘贴的代码</a:t>
            </a:r>
          </a:p>
          <a:p>
            <a:pPr algn="ctr">
              <a:lnSpc>
                <a:spcPct val="130000"/>
              </a:lnSpc>
              <a:buNone/>
              <a:defRPr sz="2175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用户附加的文件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E9DAE2B-0DD3-4268-B006-F2BE08B8AB23}"/>
              </a:ext>
            </a:extLst>
          </p:cNvPr>
          <p:cNvSpPr>
            <a:spLocks noGrp="1"/>
          </p:cNvSpPr>
          <p:nvPr/>
        </p:nvSpPr>
        <p:spPr>
          <a:xfrm>
            <a:off x="4667250" y="4476750"/>
            <a:ext cx="3048000" cy="10668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ctr">
              <a:lnSpc>
                <a:spcPct val="125000"/>
              </a:lnSpc>
              <a:buNone/>
              <a:defRPr sz="2025" b="0">
                <a:solidFill>
                  <a:srgbClr val="5C706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5C7068"/>
                </a:solidFill>
                <a:latin typeface="Hiragino Sans GB"/>
                <a:ea typeface="Hiragino Sans GB"/>
                <a:cs typeface="Hiragino Sans GB"/>
              </a:rPr>
              <a:t>具体范围取决于产品和当前会话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BEB1AC5-7697-4F65-8C7B-1840B641955F}"/>
              </a:ext>
            </a:extLst>
          </p:cNvPr>
          <p:cNvSpPr>
            <a:spLocks noGrp="1"/>
          </p:cNvSpPr>
          <p:nvPr/>
        </p:nvSpPr>
        <p:spPr>
          <a:xfrm>
            <a:off x="8286750" y="1809750"/>
            <a:ext cx="3429000" cy="5715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ctr">
              <a:lnSpc>
                <a:spcPct val="115000"/>
              </a:lnSpc>
              <a:buNone/>
              <a:defRPr sz="247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7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编码 Agent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65E7881-4797-4C16-BCB3-FD27F5201C7D}"/>
              </a:ext>
            </a:extLst>
          </p:cNvPr>
          <p:cNvSpPr>
            <a:spLocks noGrp="1"/>
          </p:cNvSpPr>
          <p:nvPr/>
        </p:nvSpPr>
        <p:spPr>
          <a:xfrm>
            <a:off x="8477250" y="2619375"/>
            <a:ext cx="3048000" cy="47625"/>
          </a:xfrm>
          <a:prstGeom prst="rect">
            <a:avLst/>
          </a:prstGeom>
          <a:solidFill>
            <a:srgbClr val="BBD9C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A9B2658-B4AB-41BB-9114-67C513CB79D2}"/>
              </a:ext>
            </a:extLst>
          </p:cNvPr>
          <p:cNvSpPr>
            <a:spLocks noGrp="1"/>
          </p:cNvSpPr>
          <p:nvPr/>
        </p:nvSpPr>
        <p:spPr>
          <a:xfrm>
            <a:off x="8477250" y="3048000"/>
            <a:ext cx="3048000" cy="9525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ctr">
              <a:lnSpc>
                <a:spcPct val="130000"/>
              </a:lnSpc>
              <a:buNone/>
              <a:defRPr sz="2175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授权的工作区</a:t>
            </a:r>
          </a:p>
          <a:p>
            <a:pPr algn="ctr">
              <a:lnSpc>
                <a:spcPct val="130000"/>
              </a:lnSpc>
              <a:buNone/>
              <a:defRPr sz="2175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项目文件和工具结果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BBC284F-7876-4511-A308-4F40E2812DB5}"/>
              </a:ext>
            </a:extLst>
          </p:cNvPr>
          <p:cNvSpPr>
            <a:spLocks noGrp="1"/>
          </p:cNvSpPr>
          <p:nvPr/>
        </p:nvSpPr>
        <p:spPr>
          <a:xfrm>
            <a:off x="8477250" y="4476750"/>
            <a:ext cx="3048000" cy="10668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ctr">
              <a:lnSpc>
                <a:spcPct val="125000"/>
              </a:lnSpc>
              <a:buNone/>
              <a:defRPr sz="2025" b="0">
                <a:solidFill>
                  <a:srgbClr val="5C706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5C7068"/>
                </a:solidFill>
                <a:latin typeface="Hiragino Sans GB"/>
                <a:ea typeface="Hiragino Sans GB"/>
                <a:cs typeface="Hiragino Sans GB"/>
              </a:rPr>
              <a:t>可见范围不等于已经理解正确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18FAE9F-3108-44BB-A661-43D2CF6AB5D0}"/>
              </a:ext>
            </a:extLst>
          </p:cNvPr>
          <p:cNvSpPr>
            <a:spLocks noGrp="1"/>
          </p:cNvSpPr>
          <p:nvPr/>
        </p:nvSpPr>
        <p:spPr>
          <a:xfrm>
            <a:off x="685800" y="5953125"/>
            <a:ext cx="10820400" cy="4191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ctr">
              <a:lnSpc>
                <a:spcPct val="115000"/>
              </a:lnSpc>
              <a:buNone/>
              <a:defRPr sz="22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使用前要确认当前界面真正能读取哪些内容</a:t>
            </a:r>
          </a:p>
        </p:txBody>
      </p:sp>
    </p:spTree>
    <p:extLst>
      <p:ext uri="{BB962C8B-B14F-4D97-AF65-F5344CB8AC3E}">
        <p14:creationId xmlns:p14="http://schemas.microsoft.com/office/powerpoint/2010/main" val="21369090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E9F1ACCC-BE3F-4797-A766-013D0A93B5F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B6B4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8A0ED33-D3D3-4F7C-AA70-48883BA729B5}"/>
              </a:ext>
            </a:extLst>
          </p:cNvPr>
          <p:cNvSpPr>
            <a:spLocks noGrp="1"/>
          </p:cNvSpPr>
          <p:nvPr/>
        </p:nvSpPr>
        <p:spPr>
          <a:xfrm>
            <a:off x="609600" y="333375"/>
            <a:ext cx="4572000" cy="3238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5000"/>
              </a:lnSpc>
              <a:buNone/>
              <a:defRPr sz="20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05  主流形态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031EAA0-F732-4A9C-B409-295653991153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590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5000"/>
              </a:lnSpc>
              <a:buNone/>
              <a:defRPr sz="330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AI IDE 与编辑器内嵌 Agent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4F231BE-B46E-4B08-9342-12F98E2BABF3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BBD9C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88E301B3-1848-4524-9416-E3240C2E929E}"/>
              </a:ext>
            </a:extLst>
          </p:cNvPr>
          <p:cNvSpPr>
            <a:spLocks noGrp="1"/>
          </p:cNvSpPr>
          <p:nvPr/>
        </p:nvSpPr>
        <p:spPr>
          <a:xfrm>
            <a:off x="609600" y="1609725"/>
            <a:ext cx="7353300" cy="4210050"/>
          </a:xfrm>
          <a:prstGeom prst="roundRect">
            <a:avLst>
              <a:gd name="adj" fmla="val 4072"/>
            </a:avLst>
          </a:prstGeom>
          <a:solidFill>
            <a:srgbClr val="F5FAF8"/>
          </a:solidFill>
          <a:ln w="9525">
            <a:solidFill>
              <a:srgbClr val="BBD9CD"/>
            </a:solidFill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66750" y="1678781"/>
            <a:ext cx="7239000" cy="4071938"/>
          </a:xfrm>
          <a:prstGeom prst="roundRect">
            <a:avLst>
              <a:gd name="adj" fmla="val 3256"/>
            </a:avLst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6681E96E-9A16-4A05-8E4F-AA7EE4EFACAB}"/>
              </a:ext>
            </a:extLst>
          </p:cNvPr>
          <p:cNvSpPr>
            <a:spLocks noGrp="1"/>
          </p:cNvSpPr>
          <p:nvPr/>
        </p:nvSpPr>
        <p:spPr>
          <a:xfrm>
            <a:off x="8286750" y="1952625"/>
            <a:ext cx="2667000" cy="42862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5000"/>
              </a:lnSpc>
              <a:buNone/>
              <a:defRPr sz="22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特点</a:t>
            </a:r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7C2FA877-CF5C-4A90-BF22-59C479C1B941}"/>
              </a:ext>
            </a:extLst>
          </p:cNvPr>
          <p:cNvSpPr>
            <a:spLocks noGrp="1"/>
          </p:cNvSpPr>
          <p:nvPr/>
        </p:nvSpPr>
        <p:spPr>
          <a:xfrm>
            <a:off x="8286750" y="2714625"/>
            <a:ext cx="133350" cy="133350"/>
          </a:xfrm>
          <a:prstGeom prst="roundRect">
            <a:avLst>
              <a:gd name="adj" fmla="val 50000"/>
            </a:avLst>
          </a:prstGeom>
          <a:solidFill>
            <a:srgbClr val="0B6B4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262F5E2-C92E-472B-8607-3A4027B37C27}"/>
              </a:ext>
            </a:extLst>
          </p:cNvPr>
          <p:cNvSpPr>
            <a:spLocks noGrp="1"/>
          </p:cNvSpPr>
          <p:nvPr/>
        </p:nvSpPr>
        <p:spPr>
          <a:xfrm>
            <a:off x="8572500" y="2619375"/>
            <a:ext cx="2571750" cy="742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5000"/>
              </a:lnSpc>
              <a:buNone/>
              <a:defRPr sz="210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会话与代码同窗口</a:t>
            </a: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9958353F-5865-4C83-B938-47DB2F9B1FF1}"/>
              </a:ext>
            </a:extLst>
          </p:cNvPr>
          <p:cNvSpPr>
            <a:spLocks noGrp="1"/>
          </p:cNvSpPr>
          <p:nvPr/>
        </p:nvSpPr>
        <p:spPr>
          <a:xfrm>
            <a:off x="8286750" y="3457575"/>
            <a:ext cx="133350" cy="133350"/>
          </a:xfrm>
          <a:prstGeom prst="roundRect">
            <a:avLst>
              <a:gd name="adj" fmla="val 50000"/>
            </a:avLst>
          </a:prstGeom>
          <a:solidFill>
            <a:srgbClr val="0B6B4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44DF7ED-02EA-449D-901C-88C77CE262FC}"/>
              </a:ext>
            </a:extLst>
          </p:cNvPr>
          <p:cNvSpPr>
            <a:spLocks noGrp="1"/>
          </p:cNvSpPr>
          <p:nvPr/>
        </p:nvSpPr>
        <p:spPr>
          <a:xfrm>
            <a:off x="8572500" y="3362325"/>
            <a:ext cx="2571750" cy="742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5000"/>
              </a:lnSpc>
              <a:buNone/>
              <a:defRPr sz="210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可直接审查代码差异</a:t>
            </a:r>
          </a:p>
        </p:txBody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0F3FCD95-0FB6-4331-8E7F-633A776F21A2}"/>
              </a:ext>
            </a:extLst>
          </p:cNvPr>
          <p:cNvSpPr>
            <a:spLocks noGrp="1"/>
          </p:cNvSpPr>
          <p:nvPr/>
        </p:nvSpPr>
        <p:spPr>
          <a:xfrm>
            <a:off x="8286750" y="4200525"/>
            <a:ext cx="133350" cy="133350"/>
          </a:xfrm>
          <a:prstGeom prst="roundRect">
            <a:avLst>
              <a:gd name="adj" fmla="val 50000"/>
            </a:avLst>
          </a:prstGeom>
          <a:solidFill>
            <a:srgbClr val="0B6B4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CD48CE3-1877-4F66-A70A-5B2008F6239D}"/>
              </a:ext>
            </a:extLst>
          </p:cNvPr>
          <p:cNvSpPr>
            <a:spLocks noGrp="1"/>
          </p:cNvSpPr>
          <p:nvPr/>
        </p:nvSpPr>
        <p:spPr>
          <a:xfrm>
            <a:off x="8572500" y="4105275"/>
            <a:ext cx="2571750" cy="742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5000"/>
              </a:lnSpc>
              <a:buNone/>
              <a:defRPr sz="210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结合编辑器、调试和测试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3324E6B-4A2D-4349-922C-B8F1B57A4897}"/>
              </a:ext>
            </a:extLst>
          </p:cNvPr>
          <p:cNvSpPr>
            <a:spLocks noGrp="1"/>
          </p:cNvSpPr>
          <p:nvPr/>
        </p:nvSpPr>
        <p:spPr>
          <a:xfrm>
            <a:off x="8143875" y="5191125"/>
            <a:ext cx="3143250" cy="9048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ctr">
              <a:lnSpc>
                <a:spcPct val="115000"/>
              </a:lnSpc>
              <a:buNone/>
              <a:defRPr sz="2100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适合在编辑代码的同时提出修改并立即查看结果</a:t>
            </a:r>
          </a:p>
        </p:txBody>
      </p:sp>
    </p:spTree>
    <p:extLst>
      <p:ext uri="{BB962C8B-B14F-4D97-AF65-F5344CB8AC3E}">
        <p14:creationId xmlns:p14="http://schemas.microsoft.com/office/powerpoint/2010/main" val="14250174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FFF67488-27F2-40C1-A2D5-126F75CE1CB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B6B4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534FF92-3203-4E17-BC5E-0209F578BCAC}"/>
              </a:ext>
            </a:extLst>
          </p:cNvPr>
          <p:cNvSpPr>
            <a:spLocks noGrp="1"/>
          </p:cNvSpPr>
          <p:nvPr/>
        </p:nvSpPr>
        <p:spPr>
          <a:xfrm>
            <a:off x="609600" y="333375"/>
            <a:ext cx="4572000" cy="3238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5000"/>
              </a:lnSpc>
              <a:buNone/>
              <a:defRPr sz="20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05  主流形态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B317335-40A9-43C8-904A-FC413DD470EA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590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5000"/>
              </a:lnSpc>
              <a:buNone/>
              <a:defRPr sz="330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CLI Agent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02BBE1C-B973-4C3A-8E91-9D9BDF5A8BCF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BBD9C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20587AF-8869-4D57-A870-66757A866E5B}"/>
              </a:ext>
            </a:extLst>
          </p:cNvPr>
          <p:cNvSpPr>
            <a:spLocks noGrp="1"/>
          </p:cNvSpPr>
          <p:nvPr/>
        </p:nvSpPr>
        <p:spPr>
          <a:xfrm>
            <a:off x="685800" y="1562100"/>
            <a:ext cx="10820400" cy="666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5000"/>
              </a:lnSpc>
              <a:buNone/>
              <a:defRPr sz="255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在终端中运行，直接结合当前项目目录搜索文件、编辑代码和执行命令</a:t>
            </a: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CF39ACFC-D568-4048-A3DD-D96DE7C1D3C5}"/>
              </a:ext>
            </a:extLst>
          </p:cNvPr>
          <p:cNvSpPr>
            <a:spLocks noGrp="1"/>
          </p:cNvSpPr>
          <p:nvPr/>
        </p:nvSpPr>
        <p:spPr>
          <a:xfrm>
            <a:off x="1123950" y="2371725"/>
            <a:ext cx="9944100" cy="3505200"/>
          </a:xfrm>
          <a:prstGeom prst="roundRect">
            <a:avLst>
              <a:gd name="adj" fmla="val 4891"/>
            </a:avLst>
          </a:prstGeom>
          <a:solidFill>
            <a:srgbClr val="F5FAF8"/>
          </a:solidFill>
          <a:ln w="9525">
            <a:solidFill>
              <a:srgbClr val="BBD9CD"/>
            </a:solidFill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950817" y="2428875"/>
            <a:ext cx="6290365" cy="3390900"/>
          </a:xfrm>
          <a:prstGeom prst="roundRect">
            <a:avLst>
              <a:gd name="adj" fmla="val 3933"/>
            </a:avLst>
          </a:prstGeom>
        </p:spPr>
      </p:pic>
    </p:spTree>
    <p:extLst>
      <p:ext uri="{BB962C8B-B14F-4D97-AF65-F5344CB8AC3E}">
        <p14:creationId xmlns:p14="http://schemas.microsoft.com/office/powerpoint/2010/main" val="1004601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7C78F37E-2E2F-47B3-A8EA-2E8769FA73C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B6B4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6AB56EE-FA07-4ABF-8813-AE2A0B05B84E}"/>
              </a:ext>
            </a:extLst>
          </p:cNvPr>
          <p:cNvSpPr>
            <a:spLocks noGrp="1"/>
          </p:cNvSpPr>
          <p:nvPr/>
        </p:nvSpPr>
        <p:spPr>
          <a:xfrm>
            <a:off x="609600" y="333375"/>
            <a:ext cx="4572000" cy="3238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5000"/>
              </a:lnSpc>
              <a:buNone/>
              <a:defRPr sz="20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05  主流形态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2348371-1044-47C5-820C-74F2CFAA63D6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590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5000"/>
              </a:lnSpc>
              <a:buNone/>
              <a:defRPr sz="330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本地独立客户端 Agent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35BEE4F-7B93-4522-991F-A07187BF6495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BBD9C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3B5804DE-0294-4B72-8F19-B556C8B2F21C}"/>
              </a:ext>
            </a:extLst>
          </p:cNvPr>
          <p:cNvSpPr>
            <a:spLocks noGrp="1"/>
          </p:cNvSpPr>
          <p:nvPr/>
        </p:nvSpPr>
        <p:spPr>
          <a:xfrm>
            <a:off x="723900" y="1609725"/>
            <a:ext cx="6019800" cy="4495800"/>
          </a:xfrm>
          <a:prstGeom prst="roundRect">
            <a:avLst>
              <a:gd name="adj" fmla="val 3814"/>
            </a:avLst>
          </a:prstGeom>
          <a:solidFill>
            <a:srgbClr val="F5FAF8"/>
          </a:solidFill>
          <a:ln w="9525">
            <a:solidFill>
              <a:srgbClr val="BBD9CD"/>
            </a:solidFill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304678" y="1666875"/>
            <a:ext cx="4858244" cy="4381500"/>
          </a:xfrm>
          <a:prstGeom prst="roundRect">
            <a:avLst>
              <a:gd name="adj" fmla="val 3043"/>
            </a:avLst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065AA75D-1E23-4084-B6FE-DE03A96C1699}"/>
              </a:ext>
            </a:extLst>
          </p:cNvPr>
          <p:cNvSpPr>
            <a:spLocks noGrp="1"/>
          </p:cNvSpPr>
          <p:nvPr/>
        </p:nvSpPr>
        <p:spPr>
          <a:xfrm>
            <a:off x="7181850" y="1952625"/>
            <a:ext cx="4095750" cy="8763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5000"/>
              </a:lnSpc>
              <a:buNone/>
              <a:defRPr sz="270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0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在独立窗口中集中管理本地项目与任务线程</a:t>
            </a:r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3DFED130-F5F3-4314-9422-CEF6B8FEB2A7}"/>
              </a:ext>
            </a:extLst>
          </p:cNvPr>
          <p:cNvSpPr>
            <a:spLocks noGrp="1"/>
          </p:cNvSpPr>
          <p:nvPr/>
        </p:nvSpPr>
        <p:spPr>
          <a:xfrm>
            <a:off x="7239000" y="3381375"/>
            <a:ext cx="133350" cy="133350"/>
          </a:xfrm>
          <a:prstGeom prst="roundRect">
            <a:avLst>
              <a:gd name="adj" fmla="val 50000"/>
            </a:avLst>
          </a:prstGeom>
          <a:solidFill>
            <a:srgbClr val="0B6B4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60B70C8-ED45-4E10-9AA2-6C1A883F5CCD}"/>
              </a:ext>
            </a:extLst>
          </p:cNvPr>
          <p:cNvSpPr>
            <a:spLocks noGrp="1"/>
          </p:cNvSpPr>
          <p:nvPr/>
        </p:nvSpPr>
        <p:spPr>
          <a:xfrm>
            <a:off x="7524750" y="3286125"/>
            <a:ext cx="3714750" cy="6286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5000"/>
              </a:lnSpc>
              <a:buNone/>
              <a:defRPr sz="210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选择本机项目目录</a:t>
            </a: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E20DDA3F-3DAB-465F-893B-DCE065139F46}"/>
              </a:ext>
            </a:extLst>
          </p:cNvPr>
          <p:cNvSpPr>
            <a:spLocks noGrp="1"/>
          </p:cNvSpPr>
          <p:nvPr/>
        </p:nvSpPr>
        <p:spPr>
          <a:xfrm>
            <a:off x="7239000" y="4010025"/>
            <a:ext cx="133350" cy="133350"/>
          </a:xfrm>
          <a:prstGeom prst="roundRect">
            <a:avLst>
              <a:gd name="adj" fmla="val 50000"/>
            </a:avLst>
          </a:prstGeom>
          <a:solidFill>
            <a:srgbClr val="0B6B4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BABA5A1-E89C-40FE-86AA-AF29791C4FFB}"/>
              </a:ext>
            </a:extLst>
          </p:cNvPr>
          <p:cNvSpPr>
            <a:spLocks noGrp="1"/>
          </p:cNvSpPr>
          <p:nvPr/>
        </p:nvSpPr>
        <p:spPr>
          <a:xfrm>
            <a:off x="7524750" y="3914775"/>
            <a:ext cx="3714750" cy="6286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5000"/>
              </a:lnSpc>
              <a:buNone/>
              <a:defRPr sz="210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管理多个任务线程</a:t>
            </a:r>
          </a:p>
        </p:txBody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A1DC5238-FA1C-4A0A-A68C-C2234424AFAC}"/>
              </a:ext>
            </a:extLst>
          </p:cNvPr>
          <p:cNvSpPr>
            <a:spLocks noGrp="1"/>
          </p:cNvSpPr>
          <p:nvPr/>
        </p:nvSpPr>
        <p:spPr>
          <a:xfrm>
            <a:off x="7239000" y="4638675"/>
            <a:ext cx="133350" cy="133350"/>
          </a:xfrm>
          <a:prstGeom prst="roundRect">
            <a:avLst>
              <a:gd name="adj" fmla="val 50000"/>
            </a:avLst>
          </a:prstGeom>
          <a:solidFill>
            <a:srgbClr val="0B6B4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BFA25A0-94DE-41C1-9D63-E359963442AC}"/>
              </a:ext>
            </a:extLst>
          </p:cNvPr>
          <p:cNvSpPr>
            <a:spLocks noGrp="1"/>
          </p:cNvSpPr>
          <p:nvPr/>
        </p:nvSpPr>
        <p:spPr>
          <a:xfrm>
            <a:off x="7524750" y="4543425"/>
            <a:ext cx="3714750" cy="6286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5000"/>
              </a:lnSpc>
              <a:buNone/>
              <a:defRPr sz="210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查看执行过程与文件差异</a:t>
            </a:r>
          </a:p>
        </p:txBody>
      </p:sp>
      <p:sp>
        <p:nvSpPr>
          <p:cNvPr id="14" name="圆角矩形 13">
            <a:extLst>
              <a:ext uri="{FF2B5EF4-FFF2-40B4-BE49-F238E27FC236}">
                <a16:creationId xmlns:a16="http://schemas.microsoft.com/office/drawing/2014/main" id="{A67E20F7-4746-4488-990C-FB2A5F20B3EC}"/>
              </a:ext>
            </a:extLst>
          </p:cNvPr>
          <p:cNvSpPr>
            <a:spLocks noGrp="1"/>
          </p:cNvSpPr>
          <p:nvPr/>
        </p:nvSpPr>
        <p:spPr>
          <a:xfrm>
            <a:off x="7239000" y="5267325"/>
            <a:ext cx="133350" cy="133350"/>
          </a:xfrm>
          <a:prstGeom prst="roundRect">
            <a:avLst>
              <a:gd name="adj" fmla="val 50000"/>
            </a:avLst>
          </a:prstGeom>
          <a:solidFill>
            <a:srgbClr val="0B6B4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4F77209-1AB4-44D9-AABF-57B16D68A274}"/>
              </a:ext>
            </a:extLst>
          </p:cNvPr>
          <p:cNvSpPr>
            <a:spLocks noGrp="1"/>
          </p:cNvSpPr>
          <p:nvPr/>
        </p:nvSpPr>
        <p:spPr>
          <a:xfrm>
            <a:off x="7524750" y="5172075"/>
            <a:ext cx="3714750" cy="6286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5000"/>
              </a:lnSpc>
              <a:buNone/>
              <a:defRPr sz="210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核对测试结果和交付说明</a:t>
            </a:r>
          </a:p>
        </p:txBody>
      </p:sp>
    </p:spTree>
    <p:extLst>
      <p:ext uri="{BB962C8B-B14F-4D97-AF65-F5344CB8AC3E}">
        <p14:creationId xmlns:p14="http://schemas.microsoft.com/office/powerpoint/2010/main" val="19787669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>
            <a:extLst>
              <a:ext uri="{FF2B5EF4-FFF2-40B4-BE49-F238E27FC236}">
                <a16:creationId xmlns:a16="http://schemas.microsoft.com/office/drawing/2014/main" id="{F0680050-2BAC-4DBD-BDBC-79CFF1A8F78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B6B4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1A459F0-9C4B-4AC5-9C0F-9BF8B266F518}"/>
              </a:ext>
            </a:extLst>
          </p:cNvPr>
          <p:cNvSpPr>
            <a:spLocks noGrp="1"/>
          </p:cNvSpPr>
          <p:nvPr/>
        </p:nvSpPr>
        <p:spPr>
          <a:xfrm>
            <a:off x="609600" y="333375"/>
            <a:ext cx="4572000" cy="3238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5000"/>
              </a:lnSpc>
              <a:buNone/>
              <a:defRPr sz="20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05  主流形态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7D8837A-1C10-4312-A7E7-100A42759A76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590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5000"/>
              </a:lnSpc>
              <a:buNone/>
              <a:defRPr sz="330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根据任务选择工具形态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F7630F7-9A67-4C92-906D-037A85DF064A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BBD9C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0837252-5212-477C-A226-D14019A24F98}"/>
              </a:ext>
            </a:extLst>
          </p:cNvPr>
          <p:cNvSpPr>
            <a:spLocks noGrp="1"/>
          </p:cNvSpPr>
          <p:nvPr/>
        </p:nvSpPr>
        <p:spPr>
          <a:xfrm>
            <a:off x="723900" y="1847850"/>
            <a:ext cx="2190750" cy="5238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l">
              <a:lnSpc>
                <a:spcPct val="115000"/>
              </a:lnSpc>
              <a:buNone/>
              <a:defRPr sz="22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即时建议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C69F123-F7BE-4064-8BFE-9ABB9507D8BB}"/>
              </a:ext>
            </a:extLst>
          </p:cNvPr>
          <p:cNvSpPr>
            <a:spLocks noGrp="1"/>
          </p:cNvSpPr>
          <p:nvPr/>
        </p:nvSpPr>
        <p:spPr>
          <a:xfrm>
            <a:off x="3143250" y="1733550"/>
            <a:ext cx="5095875" cy="742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l">
              <a:lnSpc>
                <a:spcPct val="115000"/>
              </a:lnSpc>
              <a:buNone/>
              <a:defRPr sz="210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编写代码时补全局部逻辑</a:t>
            </a: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55AFEA73-71CC-42E7-B016-E5995EC35908}"/>
              </a:ext>
            </a:extLst>
          </p:cNvPr>
          <p:cNvSpPr>
            <a:spLocks noGrp="1"/>
          </p:cNvSpPr>
          <p:nvPr/>
        </p:nvSpPr>
        <p:spPr>
          <a:xfrm>
            <a:off x="8477250" y="1733550"/>
            <a:ext cx="2857500" cy="742950"/>
          </a:xfrm>
          <a:prstGeom prst="roundRect">
            <a:avLst>
              <a:gd name="adj" fmla="val 20513"/>
            </a:avLst>
          </a:prstGeom>
          <a:solidFill>
            <a:srgbClr val="EAF5F0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02C3F73-2017-4942-87A2-1532ADFDE313}"/>
              </a:ext>
            </a:extLst>
          </p:cNvPr>
          <p:cNvSpPr>
            <a:spLocks noGrp="1"/>
          </p:cNvSpPr>
          <p:nvPr/>
        </p:nvSpPr>
        <p:spPr>
          <a:xfrm>
            <a:off x="8667750" y="1828800"/>
            <a:ext cx="2476500" cy="5524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ctr">
              <a:lnSpc>
                <a:spcPct val="115000"/>
              </a:lnSpc>
              <a:buNone/>
              <a:defRPr sz="2175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IDE 自动补全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740A4D6-BBA8-4E41-9112-2B1E79C677BD}"/>
              </a:ext>
            </a:extLst>
          </p:cNvPr>
          <p:cNvSpPr>
            <a:spLocks noGrp="1"/>
          </p:cNvSpPr>
          <p:nvPr/>
        </p:nvSpPr>
        <p:spPr>
          <a:xfrm>
            <a:off x="723900" y="2619375"/>
            <a:ext cx="10610850" cy="19050"/>
          </a:xfrm>
          <a:prstGeom prst="rect">
            <a:avLst/>
          </a:prstGeom>
          <a:solidFill>
            <a:srgbClr val="BBD9C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AB6A48E-CCD9-4868-9545-66C7A967DC74}"/>
              </a:ext>
            </a:extLst>
          </p:cNvPr>
          <p:cNvSpPr>
            <a:spLocks noGrp="1"/>
          </p:cNvSpPr>
          <p:nvPr/>
        </p:nvSpPr>
        <p:spPr>
          <a:xfrm>
            <a:off x="723900" y="2914650"/>
            <a:ext cx="2190750" cy="5238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l">
              <a:lnSpc>
                <a:spcPct val="115000"/>
              </a:lnSpc>
              <a:buNone/>
              <a:defRPr sz="22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编辑器协作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A8AB037-B034-400B-9C0C-FEC9F9257539}"/>
              </a:ext>
            </a:extLst>
          </p:cNvPr>
          <p:cNvSpPr>
            <a:spLocks noGrp="1"/>
          </p:cNvSpPr>
          <p:nvPr/>
        </p:nvSpPr>
        <p:spPr>
          <a:xfrm>
            <a:off x="3143250" y="2800350"/>
            <a:ext cx="5095875" cy="742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l">
              <a:lnSpc>
                <a:spcPct val="115000"/>
              </a:lnSpc>
              <a:buNone/>
              <a:defRPr sz="210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阅读项目、提出修改并审查差异</a:t>
            </a:r>
          </a:p>
        </p:txBody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CA85DE7B-D285-4797-A9F3-87D5D2872540}"/>
              </a:ext>
            </a:extLst>
          </p:cNvPr>
          <p:cNvSpPr>
            <a:spLocks noGrp="1"/>
          </p:cNvSpPr>
          <p:nvPr/>
        </p:nvSpPr>
        <p:spPr>
          <a:xfrm>
            <a:off x="8477250" y="2800350"/>
            <a:ext cx="2857500" cy="742950"/>
          </a:xfrm>
          <a:prstGeom prst="roundRect">
            <a:avLst>
              <a:gd name="adj" fmla="val 20513"/>
            </a:avLst>
          </a:prstGeom>
          <a:solidFill>
            <a:srgbClr val="F5FAF8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6420827-B8EB-475A-961C-02C93D480A6E}"/>
              </a:ext>
            </a:extLst>
          </p:cNvPr>
          <p:cNvSpPr>
            <a:spLocks noGrp="1"/>
          </p:cNvSpPr>
          <p:nvPr/>
        </p:nvSpPr>
        <p:spPr>
          <a:xfrm>
            <a:off x="8667750" y="2895600"/>
            <a:ext cx="2476500" cy="5524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ctr">
              <a:lnSpc>
                <a:spcPct val="115000"/>
              </a:lnSpc>
              <a:buNone/>
              <a:defRPr sz="2175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AI IDE / 内嵌 Agent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23202A0-CDBE-417A-90FD-952D86000EC2}"/>
              </a:ext>
            </a:extLst>
          </p:cNvPr>
          <p:cNvSpPr>
            <a:spLocks noGrp="1"/>
          </p:cNvSpPr>
          <p:nvPr/>
        </p:nvSpPr>
        <p:spPr>
          <a:xfrm>
            <a:off x="723900" y="3686175"/>
            <a:ext cx="10610850" cy="19050"/>
          </a:xfrm>
          <a:prstGeom prst="rect">
            <a:avLst/>
          </a:prstGeom>
          <a:solidFill>
            <a:srgbClr val="BBD9C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DBABFCD-5967-42E9-A2F6-95C28098B6C0}"/>
              </a:ext>
            </a:extLst>
          </p:cNvPr>
          <p:cNvSpPr>
            <a:spLocks noGrp="1"/>
          </p:cNvSpPr>
          <p:nvPr/>
        </p:nvSpPr>
        <p:spPr>
          <a:xfrm>
            <a:off x="723900" y="3981450"/>
            <a:ext cx="2190750" cy="5238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l">
              <a:lnSpc>
                <a:spcPct val="115000"/>
              </a:lnSpc>
              <a:buNone/>
              <a:defRPr sz="22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终端工作流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94C098C-9B11-4724-BC37-125D97F03E19}"/>
              </a:ext>
            </a:extLst>
          </p:cNvPr>
          <p:cNvSpPr>
            <a:spLocks noGrp="1"/>
          </p:cNvSpPr>
          <p:nvPr/>
        </p:nvSpPr>
        <p:spPr>
          <a:xfrm>
            <a:off x="3143250" y="3867150"/>
            <a:ext cx="5095875" cy="742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l">
              <a:lnSpc>
                <a:spcPct val="115000"/>
              </a:lnSpc>
              <a:buNone/>
              <a:defRPr sz="210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直接运行搜索、构建和测试命令</a:t>
            </a:r>
          </a:p>
        </p:txBody>
      </p:sp>
      <p:sp>
        <p:nvSpPr>
          <p:cNvPr id="17" name="圆角矩形 16">
            <a:extLst>
              <a:ext uri="{FF2B5EF4-FFF2-40B4-BE49-F238E27FC236}">
                <a16:creationId xmlns:a16="http://schemas.microsoft.com/office/drawing/2014/main" id="{05AF88A3-E579-4E6C-9AA9-6ACF5D110099}"/>
              </a:ext>
            </a:extLst>
          </p:cNvPr>
          <p:cNvSpPr>
            <a:spLocks noGrp="1"/>
          </p:cNvSpPr>
          <p:nvPr/>
        </p:nvSpPr>
        <p:spPr>
          <a:xfrm>
            <a:off x="8477250" y="3867150"/>
            <a:ext cx="2857500" cy="742950"/>
          </a:xfrm>
          <a:prstGeom prst="roundRect">
            <a:avLst>
              <a:gd name="adj" fmla="val 20513"/>
            </a:avLst>
          </a:prstGeom>
          <a:solidFill>
            <a:srgbClr val="EAF5F0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DFA3208-FE22-429B-9ED8-9E143FF5AF06}"/>
              </a:ext>
            </a:extLst>
          </p:cNvPr>
          <p:cNvSpPr>
            <a:spLocks noGrp="1"/>
          </p:cNvSpPr>
          <p:nvPr/>
        </p:nvSpPr>
        <p:spPr>
          <a:xfrm>
            <a:off x="8667750" y="3962400"/>
            <a:ext cx="2476500" cy="5524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ctr">
              <a:lnSpc>
                <a:spcPct val="115000"/>
              </a:lnSpc>
              <a:buNone/>
              <a:defRPr sz="2175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CLI Agent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E5BC40A-3A5E-49E0-BFEB-38FD9854E297}"/>
              </a:ext>
            </a:extLst>
          </p:cNvPr>
          <p:cNvSpPr>
            <a:spLocks noGrp="1"/>
          </p:cNvSpPr>
          <p:nvPr/>
        </p:nvSpPr>
        <p:spPr>
          <a:xfrm>
            <a:off x="723900" y="4752975"/>
            <a:ext cx="10610850" cy="19050"/>
          </a:xfrm>
          <a:prstGeom prst="rect">
            <a:avLst/>
          </a:prstGeom>
          <a:solidFill>
            <a:srgbClr val="BBD9C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6723B383-1243-45DF-81F2-35FB23160450}"/>
              </a:ext>
            </a:extLst>
          </p:cNvPr>
          <p:cNvSpPr>
            <a:spLocks noGrp="1"/>
          </p:cNvSpPr>
          <p:nvPr/>
        </p:nvSpPr>
        <p:spPr>
          <a:xfrm>
            <a:off x="723900" y="5048250"/>
            <a:ext cx="2190750" cy="5238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l">
              <a:lnSpc>
                <a:spcPct val="115000"/>
              </a:lnSpc>
              <a:buNone/>
              <a:defRPr sz="22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多任务管理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A59C99E6-DF2B-446C-AD5B-D1264CD40334}"/>
              </a:ext>
            </a:extLst>
          </p:cNvPr>
          <p:cNvSpPr>
            <a:spLocks noGrp="1"/>
          </p:cNvSpPr>
          <p:nvPr/>
        </p:nvSpPr>
        <p:spPr>
          <a:xfrm>
            <a:off x="3143250" y="4933950"/>
            <a:ext cx="5095875" cy="742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l">
              <a:lnSpc>
                <a:spcPct val="115000"/>
              </a:lnSpc>
              <a:buNone/>
              <a:defRPr sz="210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在独立窗口管理本地项目和任务线程</a:t>
            </a:r>
          </a:p>
        </p:txBody>
      </p:sp>
      <p:sp>
        <p:nvSpPr>
          <p:cNvPr id="22" name="圆角矩形 21">
            <a:extLst>
              <a:ext uri="{FF2B5EF4-FFF2-40B4-BE49-F238E27FC236}">
                <a16:creationId xmlns:a16="http://schemas.microsoft.com/office/drawing/2014/main" id="{B86483C3-D86A-4A74-99B4-F7609CFA6340}"/>
              </a:ext>
            </a:extLst>
          </p:cNvPr>
          <p:cNvSpPr>
            <a:spLocks noGrp="1"/>
          </p:cNvSpPr>
          <p:nvPr/>
        </p:nvSpPr>
        <p:spPr>
          <a:xfrm>
            <a:off x="8477250" y="4933950"/>
            <a:ext cx="2857500" cy="742950"/>
          </a:xfrm>
          <a:prstGeom prst="roundRect">
            <a:avLst>
              <a:gd name="adj" fmla="val 20513"/>
            </a:avLst>
          </a:prstGeom>
          <a:solidFill>
            <a:srgbClr val="F5FAF8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234DAE9-4E5E-4292-88F7-F74EC32EC7ED}"/>
              </a:ext>
            </a:extLst>
          </p:cNvPr>
          <p:cNvSpPr>
            <a:spLocks noGrp="1"/>
          </p:cNvSpPr>
          <p:nvPr/>
        </p:nvSpPr>
        <p:spPr>
          <a:xfrm>
            <a:off x="8667750" y="5029200"/>
            <a:ext cx="2476500" cy="5524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ctr">
              <a:lnSpc>
                <a:spcPct val="115000"/>
              </a:lnSpc>
              <a:buNone/>
              <a:defRPr sz="2175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本地独立客户端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54D35FD0-8204-4921-8547-80764C79D6F6}"/>
              </a:ext>
            </a:extLst>
          </p:cNvPr>
          <p:cNvSpPr>
            <a:spLocks noGrp="1"/>
          </p:cNvSpPr>
          <p:nvPr/>
        </p:nvSpPr>
        <p:spPr>
          <a:xfrm>
            <a:off x="685800" y="6115050"/>
            <a:ext cx="1082040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ctr">
              <a:lnSpc>
                <a:spcPct val="115000"/>
              </a:lnSpc>
              <a:buNone/>
              <a:defRPr sz="20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不只看产品名称，还要确认运行环境、可见上下文和权限</a:t>
            </a:r>
          </a:p>
        </p:txBody>
      </p:sp>
    </p:spTree>
    <p:extLst>
      <p:ext uri="{BB962C8B-B14F-4D97-AF65-F5344CB8AC3E}">
        <p14:creationId xmlns:p14="http://schemas.microsoft.com/office/powerpoint/2010/main" val="9287328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>
            <a:extLst>
              <a:ext uri="{FF2B5EF4-FFF2-40B4-BE49-F238E27FC236}">
                <a16:creationId xmlns:a16="http://schemas.microsoft.com/office/drawing/2014/main" id="{289405C4-7BAC-4B6B-8A1A-5CF7758C289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B6B4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C542653-D4D2-4B8D-A752-EE32CBBCFCD4}"/>
              </a:ext>
            </a:extLst>
          </p:cNvPr>
          <p:cNvSpPr>
            <a:spLocks noGrp="1"/>
          </p:cNvSpPr>
          <p:nvPr/>
        </p:nvSpPr>
        <p:spPr>
          <a:xfrm>
            <a:off x="609600" y="333375"/>
            <a:ext cx="4572000" cy="3238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5000"/>
              </a:lnSpc>
              <a:buNone/>
              <a:defRPr sz="20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05  主流形态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FFCE4C5-28E4-4589-BEF4-A66F72476358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590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5000"/>
              </a:lnSpc>
              <a:buNone/>
              <a:defRPr sz="330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选择工具时的四个检查项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64EFF45-8CEE-4373-B3A1-56A97AF08420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BBD9C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251073C-CD2C-4E17-9000-D44D0DEEB13C}"/>
              </a:ext>
            </a:extLst>
          </p:cNvPr>
          <p:cNvSpPr>
            <a:spLocks noGrp="1"/>
          </p:cNvSpPr>
          <p:nvPr/>
        </p:nvSpPr>
        <p:spPr>
          <a:xfrm>
            <a:off x="819150" y="1781175"/>
            <a:ext cx="666750" cy="4572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5000"/>
              </a:lnSpc>
              <a:buNone/>
              <a:defRPr sz="25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01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37D5A84-C5AD-4997-9F7D-A34FEEFCD7FB}"/>
              </a:ext>
            </a:extLst>
          </p:cNvPr>
          <p:cNvSpPr>
            <a:spLocks noGrp="1"/>
          </p:cNvSpPr>
          <p:nvPr/>
        </p:nvSpPr>
        <p:spPr>
          <a:xfrm>
            <a:off x="1762125" y="1714500"/>
            <a:ext cx="2857500" cy="590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l">
              <a:lnSpc>
                <a:spcPct val="115000"/>
              </a:lnSpc>
              <a:buNone/>
              <a:defRPr sz="255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任务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268A546-9397-46EC-B1E1-4ED8C795F1C6}"/>
              </a:ext>
            </a:extLst>
          </p:cNvPr>
          <p:cNvSpPr>
            <a:spLocks noGrp="1"/>
          </p:cNvSpPr>
          <p:nvPr/>
        </p:nvSpPr>
        <p:spPr>
          <a:xfrm>
            <a:off x="4953000" y="1714500"/>
            <a:ext cx="6286500" cy="590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l">
              <a:lnSpc>
                <a:spcPct val="115000"/>
              </a:lnSpc>
              <a:buNone/>
              <a:defRPr sz="2175" b="0">
                <a:solidFill>
                  <a:srgbClr val="5C706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5C7068"/>
                </a:solidFill>
                <a:latin typeface="Hiragino Sans GB"/>
                <a:ea typeface="Hiragino Sans GB"/>
                <a:cs typeface="Hiragino Sans GB"/>
              </a:rPr>
              <a:t>需要局部建议，还是处理完整项目任务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EB1EEF6-664F-441F-BCD5-7D2AEBFF1007}"/>
              </a:ext>
            </a:extLst>
          </p:cNvPr>
          <p:cNvSpPr>
            <a:spLocks noGrp="1"/>
          </p:cNvSpPr>
          <p:nvPr/>
        </p:nvSpPr>
        <p:spPr>
          <a:xfrm>
            <a:off x="819150" y="2495550"/>
            <a:ext cx="10420350" cy="19050"/>
          </a:xfrm>
          <a:prstGeom prst="rect">
            <a:avLst/>
          </a:prstGeom>
          <a:solidFill>
            <a:srgbClr val="BBD9C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2551E77-865E-45B1-98FE-C7CDF618B2C7}"/>
              </a:ext>
            </a:extLst>
          </p:cNvPr>
          <p:cNvSpPr>
            <a:spLocks noGrp="1"/>
          </p:cNvSpPr>
          <p:nvPr/>
        </p:nvSpPr>
        <p:spPr>
          <a:xfrm>
            <a:off x="819150" y="2809875"/>
            <a:ext cx="666750" cy="4572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5000"/>
              </a:lnSpc>
              <a:buNone/>
              <a:defRPr sz="25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C8579BD-85FE-48CC-8DBE-9C60CE9E0C72}"/>
              </a:ext>
            </a:extLst>
          </p:cNvPr>
          <p:cNvSpPr>
            <a:spLocks noGrp="1"/>
          </p:cNvSpPr>
          <p:nvPr/>
        </p:nvSpPr>
        <p:spPr>
          <a:xfrm>
            <a:off x="1762125" y="2743200"/>
            <a:ext cx="2857500" cy="590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l">
              <a:lnSpc>
                <a:spcPct val="115000"/>
              </a:lnSpc>
              <a:buNone/>
              <a:defRPr sz="255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运行环境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A0860C2-1DCA-498D-94CA-B02F3395405B}"/>
              </a:ext>
            </a:extLst>
          </p:cNvPr>
          <p:cNvSpPr>
            <a:spLocks noGrp="1"/>
          </p:cNvSpPr>
          <p:nvPr/>
        </p:nvSpPr>
        <p:spPr>
          <a:xfrm>
            <a:off x="4953000" y="2743200"/>
            <a:ext cx="6286500" cy="590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l">
              <a:lnSpc>
                <a:spcPct val="115000"/>
              </a:lnSpc>
              <a:buNone/>
              <a:defRPr sz="2175" b="0">
                <a:solidFill>
                  <a:srgbClr val="5C706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5C7068"/>
                </a:solidFill>
                <a:latin typeface="Hiragino Sans GB"/>
                <a:ea typeface="Hiragino Sans GB"/>
                <a:cs typeface="Hiragino Sans GB"/>
              </a:rPr>
              <a:t>工具在本地、隔离工作区还是云端执行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8F83448-A701-4F81-BEE9-446675491A85}"/>
              </a:ext>
            </a:extLst>
          </p:cNvPr>
          <p:cNvSpPr>
            <a:spLocks noGrp="1"/>
          </p:cNvSpPr>
          <p:nvPr/>
        </p:nvSpPr>
        <p:spPr>
          <a:xfrm>
            <a:off x="819150" y="3524250"/>
            <a:ext cx="10420350" cy="19050"/>
          </a:xfrm>
          <a:prstGeom prst="rect">
            <a:avLst/>
          </a:prstGeom>
          <a:solidFill>
            <a:srgbClr val="BBD9C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A50C8E6-D393-4169-A9E3-20420099ED90}"/>
              </a:ext>
            </a:extLst>
          </p:cNvPr>
          <p:cNvSpPr>
            <a:spLocks noGrp="1"/>
          </p:cNvSpPr>
          <p:nvPr/>
        </p:nvSpPr>
        <p:spPr>
          <a:xfrm>
            <a:off x="819150" y="3838575"/>
            <a:ext cx="666750" cy="4572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5000"/>
              </a:lnSpc>
              <a:buNone/>
              <a:defRPr sz="25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03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9904D46-81D2-404A-BC6A-2F8984C4737F}"/>
              </a:ext>
            </a:extLst>
          </p:cNvPr>
          <p:cNvSpPr>
            <a:spLocks noGrp="1"/>
          </p:cNvSpPr>
          <p:nvPr/>
        </p:nvSpPr>
        <p:spPr>
          <a:xfrm>
            <a:off x="1762125" y="3771900"/>
            <a:ext cx="2857500" cy="590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l">
              <a:lnSpc>
                <a:spcPct val="115000"/>
              </a:lnSpc>
              <a:buNone/>
              <a:defRPr sz="255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可见上下文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5E7ACF4-D856-4A39-8630-B94539C3F9C3}"/>
              </a:ext>
            </a:extLst>
          </p:cNvPr>
          <p:cNvSpPr>
            <a:spLocks noGrp="1"/>
          </p:cNvSpPr>
          <p:nvPr/>
        </p:nvSpPr>
        <p:spPr>
          <a:xfrm>
            <a:off x="4953000" y="3771900"/>
            <a:ext cx="6286500" cy="590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l">
              <a:lnSpc>
                <a:spcPct val="115000"/>
              </a:lnSpc>
              <a:buNone/>
              <a:defRPr sz="2175" b="0">
                <a:solidFill>
                  <a:srgbClr val="5C706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5C7068"/>
                </a:solidFill>
                <a:latin typeface="Hiragino Sans GB"/>
                <a:ea typeface="Hiragino Sans GB"/>
                <a:cs typeface="Hiragino Sans GB"/>
              </a:rPr>
              <a:t>当前界面能读取哪些文件、仓库和工具结果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D2ED729-72F7-4000-9054-6FA794A16B0A}"/>
              </a:ext>
            </a:extLst>
          </p:cNvPr>
          <p:cNvSpPr>
            <a:spLocks noGrp="1"/>
          </p:cNvSpPr>
          <p:nvPr/>
        </p:nvSpPr>
        <p:spPr>
          <a:xfrm>
            <a:off x="819150" y="4552950"/>
            <a:ext cx="10420350" cy="19050"/>
          </a:xfrm>
          <a:prstGeom prst="rect">
            <a:avLst/>
          </a:prstGeom>
          <a:solidFill>
            <a:srgbClr val="BBD9C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B6D3711-2741-4575-B4A8-687B81AB9B7E}"/>
              </a:ext>
            </a:extLst>
          </p:cNvPr>
          <p:cNvSpPr>
            <a:spLocks noGrp="1"/>
          </p:cNvSpPr>
          <p:nvPr/>
        </p:nvSpPr>
        <p:spPr>
          <a:xfrm>
            <a:off x="819150" y="4867275"/>
            <a:ext cx="666750" cy="4572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5000"/>
              </a:lnSpc>
              <a:buNone/>
              <a:defRPr sz="25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04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940CCBD-026E-4E38-9E21-CAA34D1D4CB7}"/>
              </a:ext>
            </a:extLst>
          </p:cNvPr>
          <p:cNvSpPr>
            <a:spLocks noGrp="1"/>
          </p:cNvSpPr>
          <p:nvPr/>
        </p:nvSpPr>
        <p:spPr>
          <a:xfrm>
            <a:off x="1762125" y="4800600"/>
            <a:ext cx="2857500" cy="590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l">
              <a:lnSpc>
                <a:spcPct val="115000"/>
              </a:lnSpc>
              <a:buNone/>
              <a:defRPr sz="255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权限与审查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196369CA-EAC9-43D7-A550-EA5E0899EB64}"/>
              </a:ext>
            </a:extLst>
          </p:cNvPr>
          <p:cNvSpPr>
            <a:spLocks noGrp="1"/>
          </p:cNvSpPr>
          <p:nvPr/>
        </p:nvSpPr>
        <p:spPr>
          <a:xfrm>
            <a:off x="4953000" y="4800600"/>
            <a:ext cx="6286500" cy="590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l">
              <a:lnSpc>
                <a:spcPct val="115000"/>
              </a:lnSpc>
              <a:buNone/>
              <a:defRPr sz="2175" b="0">
                <a:solidFill>
                  <a:srgbClr val="5C706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5C7068"/>
                </a:solidFill>
                <a:latin typeface="Hiragino Sans GB"/>
                <a:ea typeface="Hiragino Sans GB"/>
                <a:cs typeface="Hiragino Sans GB"/>
              </a:rPr>
              <a:t>它能否改文件或运行命令，用户在哪里审查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8DA9DAB-08CE-4B51-B210-F78A04EC3201}"/>
              </a:ext>
            </a:extLst>
          </p:cNvPr>
          <p:cNvSpPr>
            <a:spLocks noGrp="1"/>
          </p:cNvSpPr>
          <p:nvPr/>
        </p:nvSpPr>
        <p:spPr>
          <a:xfrm>
            <a:off x="685800" y="6000750"/>
            <a:ext cx="10820400" cy="4000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ctr">
              <a:lnSpc>
                <a:spcPct val="115000"/>
              </a:lnSpc>
              <a:buNone/>
              <a:defRPr sz="22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同一产品在不同界面中也可能有不同能力和权限</a:t>
            </a:r>
          </a:p>
        </p:txBody>
      </p:sp>
    </p:spTree>
    <p:extLst>
      <p:ext uri="{BB962C8B-B14F-4D97-AF65-F5344CB8AC3E}">
        <p14:creationId xmlns:p14="http://schemas.microsoft.com/office/powerpoint/2010/main" val="69106095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>
            <a:extLst>
              <a:ext uri="{FF2B5EF4-FFF2-40B4-BE49-F238E27FC236}">
                <a16:creationId xmlns:a16="http://schemas.microsoft.com/office/drawing/2014/main" id="{A1551CE8-9049-4F3F-AF4B-7D3054F9DF8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B6B4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3A8D7BB-1658-4844-991A-9CB492604852}"/>
              </a:ext>
            </a:extLst>
          </p:cNvPr>
          <p:cNvSpPr>
            <a:spLocks noGrp="1"/>
          </p:cNvSpPr>
          <p:nvPr/>
        </p:nvSpPr>
        <p:spPr>
          <a:xfrm>
            <a:off x="609600" y="333375"/>
            <a:ext cx="4572000" cy="3238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5000"/>
              </a:lnSpc>
              <a:buNone/>
              <a:defRPr sz="20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06  协作与验收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5FD45B5-3D81-4EB4-A2CA-AB854C7B0F5A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590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5000"/>
              </a:lnSpc>
              <a:buNone/>
              <a:defRPr sz="330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人与编码 Agent 的分工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735C8B8-1E56-4226-B084-2A1626664847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BBD9C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ECDD15A9-2E66-4EA3-B325-532DB11DAE3C}"/>
              </a:ext>
            </a:extLst>
          </p:cNvPr>
          <p:cNvSpPr>
            <a:spLocks noGrp="1"/>
          </p:cNvSpPr>
          <p:nvPr/>
        </p:nvSpPr>
        <p:spPr>
          <a:xfrm>
            <a:off x="685800" y="1714500"/>
            <a:ext cx="5191125" cy="4000500"/>
          </a:xfrm>
          <a:prstGeom prst="roundRect">
            <a:avLst>
              <a:gd name="adj" fmla="val 5238"/>
            </a:avLst>
          </a:prstGeom>
          <a:solidFill>
            <a:srgbClr val="EAF5F0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1B5A0043-2A1E-418C-9407-2AA0BDAF32DC}"/>
              </a:ext>
            </a:extLst>
          </p:cNvPr>
          <p:cNvSpPr>
            <a:spLocks noGrp="1"/>
          </p:cNvSpPr>
          <p:nvPr/>
        </p:nvSpPr>
        <p:spPr>
          <a:xfrm>
            <a:off x="6315075" y="1714500"/>
            <a:ext cx="5191125" cy="4000500"/>
          </a:xfrm>
          <a:prstGeom prst="roundRect">
            <a:avLst>
              <a:gd name="adj" fmla="val 5238"/>
            </a:avLst>
          </a:prstGeom>
          <a:solidFill>
            <a:srgbClr val="F5FAF8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540D4C8-F3D0-4DE6-A115-84E940CCDBA5}"/>
              </a:ext>
            </a:extLst>
          </p:cNvPr>
          <p:cNvSpPr>
            <a:spLocks noGrp="1"/>
          </p:cNvSpPr>
          <p:nvPr/>
        </p:nvSpPr>
        <p:spPr>
          <a:xfrm>
            <a:off x="1047750" y="2047875"/>
            <a:ext cx="4476750" cy="5334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ctr">
              <a:lnSpc>
                <a:spcPct val="115000"/>
              </a:lnSpc>
              <a:buNone/>
              <a:defRPr sz="28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8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人的主要职责</a:t>
            </a:r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38AC87D4-5A46-42FE-AE8D-D58D9A1C0B6D}"/>
              </a:ext>
            </a:extLst>
          </p:cNvPr>
          <p:cNvSpPr>
            <a:spLocks noGrp="1"/>
          </p:cNvSpPr>
          <p:nvPr/>
        </p:nvSpPr>
        <p:spPr>
          <a:xfrm>
            <a:off x="1143000" y="3000375"/>
            <a:ext cx="133350" cy="133350"/>
          </a:xfrm>
          <a:prstGeom prst="roundRect">
            <a:avLst>
              <a:gd name="adj" fmla="val 50000"/>
            </a:avLst>
          </a:prstGeom>
          <a:solidFill>
            <a:srgbClr val="0B6B4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C12A8AD-4C6D-4286-AF08-33C848032CFC}"/>
              </a:ext>
            </a:extLst>
          </p:cNvPr>
          <p:cNvSpPr>
            <a:spLocks noGrp="1"/>
          </p:cNvSpPr>
          <p:nvPr/>
        </p:nvSpPr>
        <p:spPr>
          <a:xfrm>
            <a:off x="1428750" y="2905125"/>
            <a:ext cx="3952875" cy="5238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5000"/>
              </a:lnSpc>
              <a:buNone/>
              <a:defRPr sz="210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确定目标与需求</a:t>
            </a: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E7810AF5-0B39-4369-B142-077FA4ED5935}"/>
              </a:ext>
            </a:extLst>
          </p:cNvPr>
          <p:cNvSpPr>
            <a:spLocks noGrp="1"/>
          </p:cNvSpPr>
          <p:nvPr/>
        </p:nvSpPr>
        <p:spPr>
          <a:xfrm>
            <a:off x="1143000" y="3524250"/>
            <a:ext cx="133350" cy="133350"/>
          </a:xfrm>
          <a:prstGeom prst="roundRect">
            <a:avLst>
              <a:gd name="adj" fmla="val 50000"/>
            </a:avLst>
          </a:prstGeom>
          <a:solidFill>
            <a:srgbClr val="0B6B4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56A9DA0-114D-4800-91CB-7DC23E7FAF07}"/>
              </a:ext>
            </a:extLst>
          </p:cNvPr>
          <p:cNvSpPr>
            <a:spLocks noGrp="1"/>
          </p:cNvSpPr>
          <p:nvPr/>
        </p:nvSpPr>
        <p:spPr>
          <a:xfrm>
            <a:off x="1428750" y="3429000"/>
            <a:ext cx="3952875" cy="5238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5000"/>
              </a:lnSpc>
              <a:buNone/>
              <a:defRPr sz="210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设置任务范围和权限</a:t>
            </a:r>
          </a:p>
        </p:txBody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342E7270-14E8-4A2D-91AA-1586D1D7979F}"/>
              </a:ext>
            </a:extLst>
          </p:cNvPr>
          <p:cNvSpPr>
            <a:spLocks noGrp="1"/>
          </p:cNvSpPr>
          <p:nvPr/>
        </p:nvSpPr>
        <p:spPr>
          <a:xfrm>
            <a:off x="1143000" y="4048125"/>
            <a:ext cx="133350" cy="133350"/>
          </a:xfrm>
          <a:prstGeom prst="roundRect">
            <a:avLst>
              <a:gd name="adj" fmla="val 50000"/>
            </a:avLst>
          </a:prstGeom>
          <a:solidFill>
            <a:srgbClr val="0B6B4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C8AB5F8-4BF0-4F67-BBE2-F1D6641E6C02}"/>
              </a:ext>
            </a:extLst>
          </p:cNvPr>
          <p:cNvSpPr>
            <a:spLocks noGrp="1"/>
          </p:cNvSpPr>
          <p:nvPr/>
        </p:nvSpPr>
        <p:spPr>
          <a:xfrm>
            <a:off x="1428750" y="3952875"/>
            <a:ext cx="3952875" cy="5238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5000"/>
              </a:lnSpc>
              <a:buNone/>
              <a:defRPr sz="210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作出关键设计选择</a:t>
            </a:r>
          </a:p>
        </p:txBody>
      </p:sp>
      <p:sp>
        <p:nvSpPr>
          <p:cNvPr id="14" name="圆角矩形 13">
            <a:extLst>
              <a:ext uri="{FF2B5EF4-FFF2-40B4-BE49-F238E27FC236}">
                <a16:creationId xmlns:a16="http://schemas.microsoft.com/office/drawing/2014/main" id="{7CE3FC3D-96DA-478F-985D-9BF4A3BCE0E5}"/>
              </a:ext>
            </a:extLst>
          </p:cNvPr>
          <p:cNvSpPr>
            <a:spLocks noGrp="1"/>
          </p:cNvSpPr>
          <p:nvPr/>
        </p:nvSpPr>
        <p:spPr>
          <a:xfrm>
            <a:off x="1143000" y="4572000"/>
            <a:ext cx="133350" cy="133350"/>
          </a:xfrm>
          <a:prstGeom prst="roundRect">
            <a:avLst>
              <a:gd name="adj" fmla="val 50000"/>
            </a:avLst>
          </a:prstGeom>
          <a:solidFill>
            <a:srgbClr val="0B6B4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7B6D5C6-CAF3-4ACF-83F8-7487A2DB45C2}"/>
              </a:ext>
            </a:extLst>
          </p:cNvPr>
          <p:cNvSpPr>
            <a:spLocks noGrp="1"/>
          </p:cNvSpPr>
          <p:nvPr/>
        </p:nvSpPr>
        <p:spPr>
          <a:xfrm>
            <a:off x="1428750" y="4476750"/>
            <a:ext cx="3952875" cy="5238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5000"/>
              </a:lnSpc>
              <a:buNone/>
              <a:defRPr sz="210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审查修改和风险</a:t>
            </a:r>
          </a:p>
        </p:txBody>
      </p:sp>
      <p:sp>
        <p:nvSpPr>
          <p:cNvPr id="16" name="圆角矩形 15">
            <a:extLst>
              <a:ext uri="{FF2B5EF4-FFF2-40B4-BE49-F238E27FC236}">
                <a16:creationId xmlns:a16="http://schemas.microsoft.com/office/drawing/2014/main" id="{FF124564-8652-4E2B-A912-2E477452E45F}"/>
              </a:ext>
            </a:extLst>
          </p:cNvPr>
          <p:cNvSpPr>
            <a:spLocks noGrp="1"/>
          </p:cNvSpPr>
          <p:nvPr/>
        </p:nvSpPr>
        <p:spPr>
          <a:xfrm>
            <a:off x="1143000" y="5095875"/>
            <a:ext cx="133350" cy="133350"/>
          </a:xfrm>
          <a:prstGeom prst="roundRect">
            <a:avLst>
              <a:gd name="adj" fmla="val 50000"/>
            </a:avLst>
          </a:prstGeom>
          <a:solidFill>
            <a:srgbClr val="0B6B4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E41589F-967D-4E57-B793-1CFF50E34BC1}"/>
              </a:ext>
            </a:extLst>
          </p:cNvPr>
          <p:cNvSpPr>
            <a:spLocks noGrp="1"/>
          </p:cNvSpPr>
          <p:nvPr/>
        </p:nvSpPr>
        <p:spPr>
          <a:xfrm>
            <a:off x="1428750" y="5000625"/>
            <a:ext cx="3952875" cy="5238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5000"/>
              </a:lnSpc>
              <a:buNone/>
              <a:defRPr sz="210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验收结果并承担责任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2B641C6-A93F-4196-B13A-10EB59F57508}"/>
              </a:ext>
            </a:extLst>
          </p:cNvPr>
          <p:cNvSpPr>
            <a:spLocks noGrp="1"/>
          </p:cNvSpPr>
          <p:nvPr/>
        </p:nvSpPr>
        <p:spPr>
          <a:xfrm>
            <a:off x="6667500" y="2047875"/>
            <a:ext cx="4476750" cy="5334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ctr">
              <a:lnSpc>
                <a:spcPct val="115000"/>
              </a:lnSpc>
              <a:buNone/>
              <a:defRPr sz="285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85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Agent 擅长的工作</a:t>
            </a:r>
          </a:p>
        </p:txBody>
      </p:sp>
      <p:sp>
        <p:nvSpPr>
          <p:cNvPr id="19" name="圆角矩形 18">
            <a:extLst>
              <a:ext uri="{FF2B5EF4-FFF2-40B4-BE49-F238E27FC236}">
                <a16:creationId xmlns:a16="http://schemas.microsoft.com/office/drawing/2014/main" id="{3C189426-9364-4E16-9F2C-AE3CED926F61}"/>
              </a:ext>
            </a:extLst>
          </p:cNvPr>
          <p:cNvSpPr>
            <a:spLocks noGrp="1"/>
          </p:cNvSpPr>
          <p:nvPr/>
        </p:nvSpPr>
        <p:spPr>
          <a:xfrm>
            <a:off x="6762750" y="3000375"/>
            <a:ext cx="133350" cy="133350"/>
          </a:xfrm>
          <a:prstGeom prst="roundRect">
            <a:avLst>
              <a:gd name="adj" fmla="val 50000"/>
            </a:avLst>
          </a:prstGeom>
          <a:solidFill>
            <a:srgbClr val="16815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247560F-BB2D-437D-B737-21B247D20D2A}"/>
              </a:ext>
            </a:extLst>
          </p:cNvPr>
          <p:cNvSpPr>
            <a:spLocks noGrp="1"/>
          </p:cNvSpPr>
          <p:nvPr/>
        </p:nvSpPr>
        <p:spPr>
          <a:xfrm>
            <a:off x="7048500" y="2905125"/>
            <a:ext cx="3952875" cy="5238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5000"/>
              </a:lnSpc>
              <a:buNone/>
              <a:defRPr sz="210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搜索和整理项目文件</a:t>
            </a:r>
          </a:p>
        </p:txBody>
      </p:sp>
      <p:sp>
        <p:nvSpPr>
          <p:cNvPr id="21" name="圆角矩形 20">
            <a:extLst>
              <a:ext uri="{FF2B5EF4-FFF2-40B4-BE49-F238E27FC236}">
                <a16:creationId xmlns:a16="http://schemas.microsoft.com/office/drawing/2014/main" id="{FB210C1E-FE87-4625-83E0-245E6F4F8FEA}"/>
              </a:ext>
            </a:extLst>
          </p:cNvPr>
          <p:cNvSpPr>
            <a:spLocks noGrp="1"/>
          </p:cNvSpPr>
          <p:nvPr/>
        </p:nvSpPr>
        <p:spPr>
          <a:xfrm>
            <a:off x="6762750" y="3524250"/>
            <a:ext cx="133350" cy="133350"/>
          </a:xfrm>
          <a:prstGeom prst="roundRect">
            <a:avLst>
              <a:gd name="adj" fmla="val 50000"/>
            </a:avLst>
          </a:prstGeom>
          <a:solidFill>
            <a:srgbClr val="16815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689D02F5-CA40-41C1-BA9E-60A321F219B3}"/>
              </a:ext>
            </a:extLst>
          </p:cNvPr>
          <p:cNvSpPr>
            <a:spLocks noGrp="1"/>
          </p:cNvSpPr>
          <p:nvPr/>
        </p:nvSpPr>
        <p:spPr>
          <a:xfrm>
            <a:off x="7048500" y="3429000"/>
            <a:ext cx="3952875" cy="5238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5000"/>
              </a:lnSpc>
              <a:buNone/>
              <a:defRPr sz="210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生成代码和重复性内容</a:t>
            </a:r>
          </a:p>
        </p:txBody>
      </p:sp>
      <p:sp>
        <p:nvSpPr>
          <p:cNvPr id="23" name="圆角矩形 22">
            <a:extLst>
              <a:ext uri="{FF2B5EF4-FFF2-40B4-BE49-F238E27FC236}">
                <a16:creationId xmlns:a16="http://schemas.microsoft.com/office/drawing/2014/main" id="{B695AFC2-9B36-457A-81ED-D71B685BD15D}"/>
              </a:ext>
            </a:extLst>
          </p:cNvPr>
          <p:cNvSpPr>
            <a:spLocks noGrp="1"/>
          </p:cNvSpPr>
          <p:nvPr/>
        </p:nvSpPr>
        <p:spPr>
          <a:xfrm>
            <a:off x="6762750" y="4048125"/>
            <a:ext cx="133350" cy="133350"/>
          </a:xfrm>
          <a:prstGeom prst="roundRect">
            <a:avLst>
              <a:gd name="adj" fmla="val 50000"/>
            </a:avLst>
          </a:prstGeom>
          <a:solidFill>
            <a:srgbClr val="16815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4D5C8D8-5C79-4DA1-9227-15AAEAE70878}"/>
              </a:ext>
            </a:extLst>
          </p:cNvPr>
          <p:cNvSpPr>
            <a:spLocks noGrp="1"/>
          </p:cNvSpPr>
          <p:nvPr/>
        </p:nvSpPr>
        <p:spPr>
          <a:xfrm>
            <a:off x="7048500" y="3952875"/>
            <a:ext cx="3952875" cy="5238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5000"/>
              </a:lnSpc>
              <a:buNone/>
              <a:defRPr sz="210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按已有模式修改多文件</a:t>
            </a:r>
          </a:p>
        </p:txBody>
      </p:sp>
      <p:sp>
        <p:nvSpPr>
          <p:cNvPr id="25" name="圆角矩形 24">
            <a:extLst>
              <a:ext uri="{FF2B5EF4-FFF2-40B4-BE49-F238E27FC236}">
                <a16:creationId xmlns:a16="http://schemas.microsoft.com/office/drawing/2014/main" id="{11E060A0-3ED5-4835-A536-E5D744E502F0}"/>
              </a:ext>
            </a:extLst>
          </p:cNvPr>
          <p:cNvSpPr>
            <a:spLocks noGrp="1"/>
          </p:cNvSpPr>
          <p:nvPr/>
        </p:nvSpPr>
        <p:spPr>
          <a:xfrm>
            <a:off x="6762750" y="4572000"/>
            <a:ext cx="133350" cy="133350"/>
          </a:xfrm>
          <a:prstGeom prst="roundRect">
            <a:avLst>
              <a:gd name="adj" fmla="val 50000"/>
            </a:avLst>
          </a:prstGeom>
          <a:solidFill>
            <a:srgbClr val="16815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C6479A6C-C03D-4396-8350-1388F0055A8B}"/>
              </a:ext>
            </a:extLst>
          </p:cNvPr>
          <p:cNvSpPr>
            <a:spLocks noGrp="1"/>
          </p:cNvSpPr>
          <p:nvPr/>
        </p:nvSpPr>
        <p:spPr>
          <a:xfrm>
            <a:off x="7048500" y="4476750"/>
            <a:ext cx="3952875" cy="5238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5000"/>
              </a:lnSpc>
              <a:buNone/>
              <a:defRPr sz="210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运行测试并整理结果</a:t>
            </a:r>
          </a:p>
        </p:txBody>
      </p:sp>
      <p:sp>
        <p:nvSpPr>
          <p:cNvPr id="27" name="圆角矩形 26">
            <a:extLst>
              <a:ext uri="{FF2B5EF4-FFF2-40B4-BE49-F238E27FC236}">
                <a16:creationId xmlns:a16="http://schemas.microsoft.com/office/drawing/2014/main" id="{1AA1A9DB-FF1A-45C1-9463-665119C961DB}"/>
              </a:ext>
            </a:extLst>
          </p:cNvPr>
          <p:cNvSpPr>
            <a:spLocks noGrp="1"/>
          </p:cNvSpPr>
          <p:nvPr/>
        </p:nvSpPr>
        <p:spPr>
          <a:xfrm>
            <a:off x="6762750" y="5095875"/>
            <a:ext cx="133350" cy="133350"/>
          </a:xfrm>
          <a:prstGeom prst="roundRect">
            <a:avLst>
              <a:gd name="adj" fmla="val 50000"/>
            </a:avLst>
          </a:prstGeom>
          <a:solidFill>
            <a:srgbClr val="16815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1DC02846-AFA4-4E7E-AE0C-07730EA051D4}"/>
              </a:ext>
            </a:extLst>
          </p:cNvPr>
          <p:cNvSpPr>
            <a:spLocks noGrp="1"/>
          </p:cNvSpPr>
          <p:nvPr/>
        </p:nvSpPr>
        <p:spPr>
          <a:xfrm>
            <a:off x="7048500" y="5000625"/>
            <a:ext cx="3952875" cy="5238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5000"/>
              </a:lnSpc>
              <a:buNone/>
              <a:defRPr sz="210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根据明确反馈继续修正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7013C4FE-88E8-4C6C-8BE7-7AC6C6373459}"/>
              </a:ext>
            </a:extLst>
          </p:cNvPr>
          <p:cNvSpPr>
            <a:spLocks noGrp="1"/>
          </p:cNvSpPr>
          <p:nvPr/>
        </p:nvSpPr>
        <p:spPr>
          <a:xfrm>
            <a:off x="685800" y="6000750"/>
            <a:ext cx="10820400" cy="4000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ctr">
              <a:lnSpc>
                <a:spcPct val="115000"/>
              </a:lnSpc>
              <a:buNone/>
              <a:defRPr sz="217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Agent 负责执行与整理，人负责目标、判断和最终责任</a:t>
            </a:r>
          </a:p>
        </p:txBody>
      </p:sp>
    </p:spTree>
    <p:extLst>
      <p:ext uri="{BB962C8B-B14F-4D97-AF65-F5344CB8AC3E}">
        <p14:creationId xmlns:p14="http://schemas.microsoft.com/office/powerpoint/2010/main" val="12559339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>
            <a:extLst>
              <a:ext uri="{FF2B5EF4-FFF2-40B4-BE49-F238E27FC236}">
                <a16:creationId xmlns:a16="http://schemas.microsoft.com/office/drawing/2014/main" id="{22D6B0F9-7FD8-444F-9C0A-D47719942E2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B6B4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B3702CD-DC87-4AA2-A3FC-FF907DB6D082}"/>
              </a:ext>
            </a:extLst>
          </p:cNvPr>
          <p:cNvSpPr>
            <a:spLocks noGrp="1"/>
          </p:cNvSpPr>
          <p:nvPr/>
        </p:nvSpPr>
        <p:spPr>
          <a:xfrm>
            <a:off x="609600" y="333375"/>
            <a:ext cx="4572000" cy="3238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5000"/>
              </a:lnSpc>
              <a:buNone/>
              <a:defRPr sz="20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06  协作与验收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5E759C6-3076-4FA1-A185-289D79A727D6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590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5000"/>
              </a:lnSpc>
              <a:buNone/>
              <a:defRPr sz="330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人在 Agent 任务中的四个检查点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E52C408-BBCB-49CD-A39B-E78B28A72ADA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BBD9C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6D98DF2-8F89-4C25-B617-887810842DD7}"/>
              </a:ext>
            </a:extLst>
          </p:cNvPr>
          <p:cNvSpPr>
            <a:spLocks noGrp="1"/>
          </p:cNvSpPr>
          <p:nvPr/>
        </p:nvSpPr>
        <p:spPr>
          <a:xfrm>
            <a:off x="781050" y="1819275"/>
            <a:ext cx="66675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ctr">
              <a:lnSpc>
                <a:spcPct val="115000"/>
              </a:lnSpc>
              <a:buNone/>
              <a:defRPr sz="28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8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1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067872A-4F74-4163-A8A9-AEB848E03E1E}"/>
              </a:ext>
            </a:extLst>
          </p:cNvPr>
          <p:cNvSpPr>
            <a:spLocks noGrp="1"/>
          </p:cNvSpPr>
          <p:nvPr/>
        </p:nvSpPr>
        <p:spPr>
          <a:xfrm>
            <a:off x="1619250" y="1762125"/>
            <a:ext cx="1809750" cy="590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l">
              <a:lnSpc>
                <a:spcPct val="115000"/>
              </a:lnSpc>
              <a:buNone/>
              <a:defRPr sz="2475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75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开始前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EEC7729-6D63-4068-A278-DD383B50E2DC}"/>
              </a:ext>
            </a:extLst>
          </p:cNvPr>
          <p:cNvSpPr>
            <a:spLocks noGrp="1"/>
          </p:cNvSpPr>
          <p:nvPr/>
        </p:nvSpPr>
        <p:spPr>
          <a:xfrm>
            <a:off x="3571875" y="1762125"/>
            <a:ext cx="3810000" cy="590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l">
              <a:lnSpc>
                <a:spcPct val="115000"/>
              </a:lnSpc>
              <a:buNone/>
              <a:defRPr sz="2100" b="0">
                <a:solidFill>
                  <a:srgbClr val="5C706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5C7068"/>
                </a:solidFill>
                <a:latin typeface="Hiragino Sans GB"/>
                <a:ea typeface="Hiragino Sans GB"/>
                <a:cs typeface="Hiragino Sans GB"/>
              </a:rPr>
              <a:t>确认目标、范围和可用权限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88C0D99-ED94-4981-8507-2205F712FCA0}"/>
              </a:ext>
            </a:extLst>
          </p:cNvPr>
          <p:cNvSpPr>
            <a:spLocks noGrp="1"/>
          </p:cNvSpPr>
          <p:nvPr/>
        </p:nvSpPr>
        <p:spPr>
          <a:xfrm>
            <a:off x="781050" y="2505075"/>
            <a:ext cx="6600825" cy="19050"/>
          </a:xfrm>
          <a:prstGeom prst="rect">
            <a:avLst/>
          </a:prstGeom>
          <a:solidFill>
            <a:srgbClr val="BBD9C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C52D130-13A2-4621-BE28-0AB32C6A04FA}"/>
              </a:ext>
            </a:extLst>
          </p:cNvPr>
          <p:cNvSpPr>
            <a:spLocks noGrp="1"/>
          </p:cNvSpPr>
          <p:nvPr/>
        </p:nvSpPr>
        <p:spPr>
          <a:xfrm>
            <a:off x="781050" y="2790825"/>
            <a:ext cx="66675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ctr">
              <a:lnSpc>
                <a:spcPct val="115000"/>
              </a:lnSpc>
              <a:buNone/>
              <a:defRPr sz="28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8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2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93548B9-3D5F-4739-9A9B-7843FB183FDD}"/>
              </a:ext>
            </a:extLst>
          </p:cNvPr>
          <p:cNvSpPr>
            <a:spLocks noGrp="1"/>
          </p:cNvSpPr>
          <p:nvPr/>
        </p:nvSpPr>
        <p:spPr>
          <a:xfrm>
            <a:off x="1619250" y="2733675"/>
            <a:ext cx="1809750" cy="590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l">
              <a:lnSpc>
                <a:spcPct val="115000"/>
              </a:lnSpc>
              <a:buNone/>
              <a:defRPr sz="2475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75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执行中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76FB86D-902E-4274-8E24-0B6CADDB926E}"/>
              </a:ext>
            </a:extLst>
          </p:cNvPr>
          <p:cNvSpPr>
            <a:spLocks noGrp="1"/>
          </p:cNvSpPr>
          <p:nvPr/>
        </p:nvSpPr>
        <p:spPr>
          <a:xfrm>
            <a:off x="3571875" y="2733675"/>
            <a:ext cx="3810000" cy="590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l">
              <a:lnSpc>
                <a:spcPct val="115000"/>
              </a:lnSpc>
              <a:buNone/>
              <a:defRPr sz="2100" b="0">
                <a:solidFill>
                  <a:srgbClr val="5C706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5C7068"/>
                </a:solidFill>
                <a:latin typeface="Hiragino Sans GB"/>
                <a:ea typeface="Hiragino Sans GB"/>
                <a:cs typeface="Hiragino Sans GB"/>
              </a:rPr>
              <a:t>观察 Agent 读取了什么，实际执行了什么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6DDEF5A-7F48-4EB1-8A21-31CE39F382B7}"/>
              </a:ext>
            </a:extLst>
          </p:cNvPr>
          <p:cNvSpPr>
            <a:spLocks noGrp="1"/>
          </p:cNvSpPr>
          <p:nvPr/>
        </p:nvSpPr>
        <p:spPr>
          <a:xfrm>
            <a:off x="781050" y="3476625"/>
            <a:ext cx="6600825" cy="19050"/>
          </a:xfrm>
          <a:prstGeom prst="rect">
            <a:avLst/>
          </a:prstGeom>
          <a:solidFill>
            <a:srgbClr val="BBD9C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FE592E7-F654-4C7A-8EAD-695F3360D190}"/>
              </a:ext>
            </a:extLst>
          </p:cNvPr>
          <p:cNvSpPr>
            <a:spLocks noGrp="1"/>
          </p:cNvSpPr>
          <p:nvPr/>
        </p:nvSpPr>
        <p:spPr>
          <a:xfrm>
            <a:off x="781050" y="3762375"/>
            <a:ext cx="66675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ctr">
              <a:lnSpc>
                <a:spcPct val="115000"/>
              </a:lnSpc>
              <a:buNone/>
              <a:defRPr sz="28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8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3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7D1E852-5619-4AAE-9D9F-46F643D8451D}"/>
              </a:ext>
            </a:extLst>
          </p:cNvPr>
          <p:cNvSpPr>
            <a:spLocks noGrp="1"/>
          </p:cNvSpPr>
          <p:nvPr/>
        </p:nvSpPr>
        <p:spPr>
          <a:xfrm>
            <a:off x="1619250" y="3705225"/>
            <a:ext cx="1809750" cy="590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l">
              <a:lnSpc>
                <a:spcPct val="115000"/>
              </a:lnSpc>
              <a:buNone/>
              <a:defRPr sz="2475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75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结果后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99A9D07-92BE-498A-9C20-7A8B951376BF}"/>
              </a:ext>
            </a:extLst>
          </p:cNvPr>
          <p:cNvSpPr>
            <a:spLocks noGrp="1"/>
          </p:cNvSpPr>
          <p:nvPr/>
        </p:nvSpPr>
        <p:spPr>
          <a:xfrm>
            <a:off x="3571875" y="3705225"/>
            <a:ext cx="3810000" cy="590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l">
              <a:lnSpc>
                <a:spcPct val="115000"/>
              </a:lnSpc>
              <a:buNone/>
              <a:defRPr sz="2100" b="0">
                <a:solidFill>
                  <a:srgbClr val="5C706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5C7068"/>
                </a:solidFill>
                <a:latin typeface="Hiragino Sans GB"/>
                <a:ea typeface="Hiragino Sans GB"/>
                <a:cs typeface="Hiragino Sans GB"/>
              </a:rPr>
              <a:t>核对文件差异、测试记录和未验证项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5173AAA-FE73-41E0-9223-364B140A7E63}"/>
              </a:ext>
            </a:extLst>
          </p:cNvPr>
          <p:cNvSpPr>
            <a:spLocks noGrp="1"/>
          </p:cNvSpPr>
          <p:nvPr/>
        </p:nvSpPr>
        <p:spPr>
          <a:xfrm>
            <a:off x="781050" y="4448175"/>
            <a:ext cx="6600825" cy="19050"/>
          </a:xfrm>
          <a:prstGeom prst="rect">
            <a:avLst/>
          </a:prstGeom>
          <a:solidFill>
            <a:srgbClr val="BBD9C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1E6A95E-4947-424A-A241-2F5049C4C75C}"/>
              </a:ext>
            </a:extLst>
          </p:cNvPr>
          <p:cNvSpPr>
            <a:spLocks noGrp="1"/>
          </p:cNvSpPr>
          <p:nvPr/>
        </p:nvSpPr>
        <p:spPr>
          <a:xfrm>
            <a:off x="781050" y="4733925"/>
            <a:ext cx="66675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ctr">
              <a:lnSpc>
                <a:spcPct val="115000"/>
              </a:lnSpc>
              <a:buNone/>
              <a:defRPr sz="28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8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4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4FC6E46-156F-49F5-9EAB-15BD29D4FB1C}"/>
              </a:ext>
            </a:extLst>
          </p:cNvPr>
          <p:cNvSpPr>
            <a:spLocks noGrp="1"/>
          </p:cNvSpPr>
          <p:nvPr/>
        </p:nvSpPr>
        <p:spPr>
          <a:xfrm>
            <a:off x="1619250" y="4676775"/>
            <a:ext cx="1809750" cy="590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l">
              <a:lnSpc>
                <a:spcPct val="115000"/>
              </a:lnSpc>
              <a:buNone/>
              <a:defRPr sz="2475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75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验收时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141E1A48-C414-43E9-82AB-D62AD73B7F89}"/>
              </a:ext>
            </a:extLst>
          </p:cNvPr>
          <p:cNvSpPr>
            <a:spLocks noGrp="1"/>
          </p:cNvSpPr>
          <p:nvPr/>
        </p:nvSpPr>
        <p:spPr>
          <a:xfrm>
            <a:off x="3571875" y="4676775"/>
            <a:ext cx="3810000" cy="590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l">
              <a:lnSpc>
                <a:spcPct val="115000"/>
              </a:lnSpc>
              <a:buNone/>
              <a:defRPr sz="2100" b="0">
                <a:solidFill>
                  <a:srgbClr val="5C706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5C7068"/>
                </a:solidFill>
                <a:latin typeface="Hiragino Sans GB"/>
                <a:ea typeface="Hiragino Sans GB"/>
                <a:cs typeface="Hiragino Sans GB"/>
              </a:rPr>
              <a:t>判断行为是否满足需求，风险是否可接受</a:t>
            </a:r>
          </a:p>
        </p:txBody>
      </p:sp>
      <p:pic>
        <p:nvPicPr>
          <p:cNvPr id="41" name="图片 4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973219" y="1714500"/>
            <a:ext cx="3294063" cy="3952875"/>
          </a:xfrm>
          <a:prstGeom prst="rect">
            <a:avLst/>
          </a:prstGeom>
        </p:spPr>
      </p:pic>
      <p:sp>
        <p:nvSpPr>
          <p:cNvPr id="21" name="矩形 20">
            <a:extLst>
              <a:ext uri="{FF2B5EF4-FFF2-40B4-BE49-F238E27FC236}">
                <a16:creationId xmlns:a16="http://schemas.microsoft.com/office/drawing/2014/main" id="{7DCF3559-5E44-457C-8BBE-B4B4B287CE0E}"/>
              </a:ext>
            </a:extLst>
          </p:cNvPr>
          <p:cNvSpPr>
            <a:spLocks noGrp="1"/>
          </p:cNvSpPr>
          <p:nvPr/>
        </p:nvSpPr>
        <p:spPr>
          <a:xfrm>
            <a:off x="685800" y="5857875"/>
            <a:ext cx="10820400" cy="4572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ctr">
              <a:lnSpc>
                <a:spcPct val="115000"/>
              </a:lnSpc>
              <a:buNone/>
              <a:defRPr sz="23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人的检查不只发生在最后，而是贯穿任务全过程</a:t>
            </a:r>
          </a:p>
        </p:txBody>
      </p:sp>
    </p:spTree>
    <p:extLst>
      <p:ext uri="{BB962C8B-B14F-4D97-AF65-F5344CB8AC3E}">
        <p14:creationId xmlns:p14="http://schemas.microsoft.com/office/powerpoint/2010/main" val="164004342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EB6FD9A9-712D-485F-BDEF-EAB69386781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B6B4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19DD7F4-0045-47D4-9BB7-5C12366278B0}"/>
              </a:ext>
            </a:extLst>
          </p:cNvPr>
          <p:cNvSpPr>
            <a:spLocks noGrp="1"/>
          </p:cNvSpPr>
          <p:nvPr/>
        </p:nvSpPr>
        <p:spPr>
          <a:xfrm>
            <a:off x="609600" y="333375"/>
            <a:ext cx="4572000" cy="3238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5000"/>
              </a:lnSpc>
              <a:buNone/>
              <a:defRPr sz="20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06  协作与验收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E39476A-2691-4BA6-AFC2-804995343813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590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5000"/>
              </a:lnSpc>
              <a:buNone/>
              <a:defRPr sz="330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怎样判断任务是否完成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537DE47-A8A3-43E1-A60C-1625DABA72D6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BBD9C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39F136D-9840-455A-A766-7AA38A161F3D}"/>
              </a:ext>
            </a:extLst>
          </p:cNvPr>
          <p:cNvSpPr>
            <a:spLocks noGrp="1"/>
          </p:cNvSpPr>
          <p:nvPr/>
        </p:nvSpPr>
        <p:spPr>
          <a:xfrm>
            <a:off x="723900" y="1714500"/>
            <a:ext cx="10744200" cy="7620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ctr">
              <a:lnSpc>
                <a:spcPct val="115000"/>
              </a:lnSpc>
              <a:buNone/>
              <a:defRPr sz="31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任务完成 = 修改结果 + 运行证据 + 人工审查</a:t>
            </a: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669148CF-342A-4BD0-9030-202BF686D2F9}"/>
              </a:ext>
            </a:extLst>
          </p:cNvPr>
          <p:cNvSpPr>
            <a:spLocks noGrp="1"/>
          </p:cNvSpPr>
          <p:nvPr/>
        </p:nvSpPr>
        <p:spPr>
          <a:xfrm>
            <a:off x="762000" y="3095625"/>
            <a:ext cx="3429000" cy="2286000"/>
          </a:xfrm>
          <a:prstGeom prst="roundRect">
            <a:avLst>
              <a:gd name="adj" fmla="val 8333"/>
            </a:avLst>
          </a:prstGeom>
          <a:solidFill>
            <a:srgbClr val="F5FAF8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1A3108B-57BE-4578-A65E-9322A0748485}"/>
              </a:ext>
            </a:extLst>
          </p:cNvPr>
          <p:cNvSpPr>
            <a:spLocks noGrp="1"/>
          </p:cNvSpPr>
          <p:nvPr/>
        </p:nvSpPr>
        <p:spPr>
          <a:xfrm>
            <a:off x="952500" y="3429000"/>
            <a:ext cx="3048000" cy="5238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ctr">
              <a:lnSpc>
                <a:spcPct val="115000"/>
              </a:lnSpc>
              <a:buNone/>
              <a:defRPr sz="255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修改结果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A5DAA60-2284-4E71-8FFA-DBD707DF21BF}"/>
              </a:ext>
            </a:extLst>
          </p:cNvPr>
          <p:cNvSpPr>
            <a:spLocks noGrp="1"/>
          </p:cNvSpPr>
          <p:nvPr/>
        </p:nvSpPr>
        <p:spPr>
          <a:xfrm>
            <a:off x="1000125" y="4095750"/>
            <a:ext cx="2952750" cy="1047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ctr">
              <a:lnSpc>
                <a:spcPct val="125000"/>
              </a:lnSpc>
              <a:buNone/>
              <a:defRPr sz="2100" b="0">
                <a:solidFill>
                  <a:srgbClr val="5C706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5C7068"/>
                </a:solidFill>
                <a:latin typeface="Hiragino Sans GB"/>
                <a:ea typeface="Hiragino Sans GB"/>
                <a:cs typeface="Hiragino Sans GB"/>
              </a:rPr>
              <a:t>实际改了哪些文件</a:t>
            </a:r>
          </a:p>
          <a:p>
            <a:pPr algn="ctr">
              <a:lnSpc>
                <a:spcPct val="125000"/>
              </a:lnSpc>
              <a:buNone/>
              <a:defRPr sz="2100" b="0">
                <a:solidFill>
                  <a:srgbClr val="5C706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5C7068"/>
                </a:solidFill>
                <a:latin typeface="Hiragino Sans GB"/>
                <a:ea typeface="Hiragino Sans GB"/>
                <a:cs typeface="Hiragino Sans GB"/>
              </a:rPr>
              <a:t>行为是否符合任务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B880AEB5-4051-404E-999D-D314573EF0E7}"/>
              </a:ext>
            </a:extLst>
          </p:cNvPr>
          <p:cNvSpPr>
            <a:spLocks noGrp="1"/>
          </p:cNvSpPr>
          <p:nvPr/>
        </p:nvSpPr>
        <p:spPr>
          <a:xfrm>
            <a:off x="4572000" y="3095625"/>
            <a:ext cx="3429000" cy="2286000"/>
          </a:xfrm>
          <a:prstGeom prst="roundRect">
            <a:avLst>
              <a:gd name="adj" fmla="val 8333"/>
            </a:avLst>
          </a:prstGeom>
          <a:solidFill>
            <a:srgbClr val="EAF5F0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C1A6747-E276-44DA-BECB-4EE44C4114F8}"/>
              </a:ext>
            </a:extLst>
          </p:cNvPr>
          <p:cNvSpPr>
            <a:spLocks noGrp="1"/>
          </p:cNvSpPr>
          <p:nvPr/>
        </p:nvSpPr>
        <p:spPr>
          <a:xfrm>
            <a:off x="4762500" y="3429000"/>
            <a:ext cx="3048000" cy="5238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ctr">
              <a:lnSpc>
                <a:spcPct val="115000"/>
              </a:lnSpc>
              <a:buNone/>
              <a:defRPr sz="255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运行证据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8E45E14-14E0-4D07-9C1C-DBCE22AA8638}"/>
              </a:ext>
            </a:extLst>
          </p:cNvPr>
          <p:cNvSpPr>
            <a:spLocks noGrp="1"/>
          </p:cNvSpPr>
          <p:nvPr/>
        </p:nvSpPr>
        <p:spPr>
          <a:xfrm>
            <a:off x="4810125" y="4095750"/>
            <a:ext cx="2952750" cy="1047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ctr">
              <a:lnSpc>
                <a:spcPct val="125000"/>
              </a:lnSpc>
              <a:buNone/>
              <a:defRPr sz="2100" b="0">
                <a:solidFill>
                  <a:srgbClr val="5C706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5C7068"/>
                </a:solidFill>
                <a:latin typeface="Hiragino Sans GB"/>
                <a:ea typeface="Hiragino Sans GB"/>
                <a:cs typeface="Hiragino Sans GB"/>
              </a:rPr>
              <a:t>运行了哪些命令与测试</a:t>
            </a:r>
          </a:p>
          <a:p>
            <a:pPr algn="ctr">
              <a:lnSpc>
                <a:spcPct val="125000"/>
              </a:lnSpc>
              <a:buNone/>
              <a:defRPr sz="2100" b="0">
                <a:solidFill>
                  <a:srgbClr val="5C706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5C7068"/>
                </a:solidFill>
                <a:latin typeface="Hiragino Sans GB"/>
                <a:ea typeface="Hiragino Sans GB"/>
                <a:cs typeface="Hiragino Sans GB"/>
              </a:rPr>
              <a:t>结果是否通过</a:t>
            </a:r>
          </a:p>
        </p:txBody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CF654E66-66AC-4717-93DC-DC9F131515D8}"/>
              </a:ext>
            </a:extLst>
          </p:cNvPr>
          <p:cNvSpPr>
            <a:spLocks noGrp="1"/>
          </p:cNvSpPr>
          <p:nvPr/>
        </p:nvSpPr>
        <p:spPr>
          <a:xfrm>
            <a:off x="8382000" y="3095625"/>
            <a:ext cx="3429000" cy="2286000"/>
          </a:xfrm>
          <a:prstGeom prst="roundRect">
            <a:avLst>
              <a:gd name="adj" fmla="val 8333"/>
            </a:avLst>
          </a:prstGeom>
          <a:solidFill>
            <a:srgbClr val="F5FAF8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16087EB-1BFA-4DD4-9590-4BF58DEDA2DE}"/>
              </a:ext>
            </a:extLst>
          </p:cNvPr>
          <p:cNvSpPr>
            <a:spLocks noGrp="1"/>
          </p:cNvSpPr>
          <p:nvPr/>
        </p:nvSpPr>
        <p:spPr>
          <a:xfrm>
            <a:off x="8572500" y="3429000"/>
            <a:ext cx="3048000" cy="5238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ctr">
              <a:lnSpc>
                <a:spcPct val="115000"/>
              </a:lnSpc>
              <a:buNone/>
              <a:defRPr sz="255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人工审查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F120842-B0CA-492A-9619-405BD863180D}"/>
              </a:ext>
            </a:extLst>
          </p:cNvPr>
          <p:cNvSpPr>
            <a:spLocks noGrp="1"/>
          </p:cNvSpPr>
          <p:nvPr/>
        </p:nvSpPr>
        <p:spPr>
          <a:xfrm>
            <a:off x="8620125" y="4095750"/>
            <a:ext cx="2952750" cy="1047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ctr">
              <a:lnSpc>
                <a:spcPct val="125000"/>
              </a:lnSpc>
              <a:buNone/>
              <a:defRPr sz="2100" b="0">
                <a:solidFill>
                  <a:srgbClr val="5C706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5C7068"/>
                </a:solidFill>
                <a:latin typeface="Hiragino Sans GB"/>
                <a:ea typeface="Hiragino Sans GB"/>
                <a:cs typeface="Hiragino Sans GB"/>
              </a:rPr>
              <a:t>范围是否可控</a:t>
            </a:r>
          </a:p>
          <a:p>
            <a:pPr algn="ctr">
              <a:lnSpc>
                <a:spcPct val="125000"/>
              </a:lnSpc>
              <a:buNone/>
              <a:defRPr sz="2100" b="0">
                <a:solidFill>
                  <a:srgbClr val="5C706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5C7068"/>
                </a:solidFill>
                <a:latin typeface="Hiragino Sans GB"/>
                <a:ea typeface="Hiragino Sans GB"/>
                <a:cs typeface="Hiragino Sans GB"/>
              </a:rPr>
              <a:t>是否存在未验证或无关修改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FA39143-956B-4248-98A9-8A849BF1CDDE}"/>
              </a:ext>
            </a:extLst>
          </p:cNvPr>
          <p:cNvSpPr>
            <a:spLocks noGrp="1"/>
          </p:cNvSpPr>
          <p:nvPr/>
        </p:nvSpPr>
        <p:spPr>
          <a:xfrm>
            <a:off x="685800" y="5715000"/>
            <a:ext cx="10820400" cy="4953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ctr">
              <a:lnSpc>
                <a:spcPct val="115000"/>
              </a:lnSpc>
              <a:buNone/>
              <a:defRPr sz="25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‘已经修复’的文字声明不是证据</a:t>
            </a:r>
          </a:p>
        </p:txBody>
      </p:sp>
    </p:spTree>
    <p:extLst>
      <p:ext uri="{BB962C8B-B14F-4D97-AF65-F5344CB8AC3E}">
        <p14:creationId xmlns:p14="http://schemas.microsoft.com/office/powerpoint/2010/main" val="138453053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DD174EE1-C3F2-46B6-B9A1-F8BBB938C18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B6B4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31FC841-00F4-4EFC-A14D-907E164D756C}"/>
              </a:ext>
            </a:extLst>
          </p:cNvPr>
          <p:cNvSpPr>
            <a:spLocks noGrp="1"/>
          </p:cNvSpPr>
          <p:nvPr/>
        </p:nvSpPr>
        <p:spPr>
          <a:xfrm>
            <a:off x="609600" y="333375"/>
            <a:ext cx="4572000" cy="3238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5000"/>
              </a:lnSpc>
              <a:buNone/>
              <a:defRPr sz="20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06  协作与验收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79F99BD-6827-4C90-8A88-FC1FDA983803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590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5000"/>
              </a:lnSpc>
              <a:buNone/>
              <a:defRPr sz="330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三类完成证据分别回答什么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9A65930-2B48-415F-AAA8-9CABF1EF808F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BBD9C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D396F55-93FE-420C-B0C3-58662A2C3FE2}"/>
              </a:ext>
            </a:extLst>
          </p:cNvPr>
          <p:cNvSpPr>
            <a:spLocks noGrp="1"/>
          </p:cNvSpPr>
          <p:nvPr/>
        </p:nvSpPr>
        <p:spPr>
          <a:xfrm>
            <a:off x="742950" y="1952625"/>
            <a:ext cx="3333750" cy="5238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ctr">
              <a:lnSpc>
                <a:spcPct val="115000"/>
              </a:lnSpc>
              <a:buNone/>
              <a:defRPr sz="26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6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修改结果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D6E5BC0-CDDC-44A3-9214-CCB41916B851}"/>
              </a:ext>
            </a:extLst>
          </p:cNvPr>
          <p:cNvSpPr>
            <a:spLocks noGrp="1"/>
          </p:cNvSpPr>
          <p:nvPr/>
        </p:nvSpPr>
        <p:spPr>
          <a:xfrm>
            <a:off x="1076325" y="2714625"/>
            <a:ext cx="2667000" cy="47625"/>
          </a:xfrm>
          <a:prstGeom prst="rect">
            <a:avLst/>
          </a:prstGeom>
          <a:solidFill>
            <a:srgbClr val="BBD9C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1D86186-62DF-43E8-A900-CCFCAADA184B}"/>
              </a:ext>
            </a:extLst>
          </p:cNvPr>
          <p:cNvSpPr>
            <a:spLocks noGrp="1"/>
          </p:cNvSpPr>
          <p:nvPr/>
        </p:nvSpPr>
        <p:spPr>
          <a:xfrm>
            <a:off x="933450" y="3143250"/>
            <a:ext cx="2952750" cy="7620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ctr">
              <a:lnSpc>
                <a:spcPct val="115000"/>
              </a:lnSpc>
              <a:buNone/>
              <a:defRPr sz="2325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改了什么？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7F300B4-A7FB-4E0F-86AF-1B22E9C4E9C5}"/>
              </a:ext>
            </a:extLst>
          </p:cNvPr>
          <p:cNvSpPr>
            <a:spLocks noGrp="1"/>
          </p:cNvSpPr>
          <p:nvPr/>
        </p:nvSpPr>
        <p:spPr>
          <a:xfrm>
            <a:off x="933450" y="4333875"/>
            <a:ext cx="2952750" cy="100012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ctr">
              <a:lnSpc>
                <a:spcPct val="130000"/>
              </a:lnSpc>
              <a:buNone/>
              <a:defRPr sz="2100" b="0">
                <a:solidFill>
                  <a:srgbClr val="5C706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5C7068"/>
                </a:solidFill>
                <a:latin typeface="Hiragino Sans GB"/>
                <a:ea typeface="Hiragino Sans GB"/>
                <a:cs typeface="Hiragino Sans GB"/>
              </a:rPr>
              <a:t>文件、接口和行为是否符合任务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C6B547D-80F0-414A-89E6-C8F8D421C2E0}"/>
              </a:ext>
            </a:extLst>
          </p:cNvPr>
          <p:cNvSpPr>
            <a:spLocks noGrp="1"/>
          </p:cNvSpPr>
          <p:nvPr/>
        </p:nvSpPr>
        <p:spPr>
          <a:xfrm>
            <a:off x="4533900" y="1952625"/>
            <a:ext cx="3333750" cy="5238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ctr">
              <a:lnSpc>
                <a:spcPct val="115000"/>
              </a:lnSpc>
              <a:buNone/>
              <a:defRPr sz="26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6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运行证据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75E91C5-94A9-4ECE-A65D-EA0C135DED60}"/>
              </a:ext>
            </a:extLst>
          </p:cNvPr>
          <p:cNvSpPr>
            <a:spLocks noGrp="1"/>
          </p:cNvSpPr>
          <p:nvPr/>
        </p:nvSpPr>
        <p:spPr>
          <a:xfrm>
            <a:off x="4867275" y="2714625"/>
            <a:ext cx="2667000" cy="47625"/>
          </a:xfrm>
          <a:prstGeom prst="rect">
            <a:avLst/>
          </a:prstGeom>
          <a:solidFill>
            <a:srgbClr val="BBD9C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0692AB6-91A6-4E47-AA28-36BDC5B5F3DF}"/>
              </a:ext>
            </a:extLst>
          </p:cNvPr>
          <p:cNvSpPr>
            <a:spLocks noGrp="1"/>
          </p:cNvSpPr>
          <p:nvPr/>
        </p:nvSpPr>
        <p:spPr>
          <a:xfrm>
            <a:off x="4724400" y="3143250"/>
            <a:ext cx="2952750" cy="7620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ctr">
              <a:lnSpc>
                <a:spcPct val="115000"/>
              </a:lnSpc>
              <a:buNone/>
              <a:defRPr sz="2325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如何证明它能工作？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F549D1C-7544-44F0-A1B1-B65FE977A024}"/>
              </a:ext>
            </a:extLst>
          </p:cNvPr>
          <p:cNvSpPr>
            <a:spLocks noGrp="1"/>
          </p:cNvSpPr>
          <p:nvPr/>
        </p:nvSpPr>
        <p:spPr>
          <a:xfrm>
            <a:off x="4724400" y="4333875"/>
            <a:ext cx="2952750" cy="100012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ctr">
              <a:lnSpc>
                <a:spcPct val="130000"/>
              </a:lnSpc>
              <a:buNone/>
              <a:defRPr sz="2100" b="0">
                <a:solidFill>
                  <a:srgbClr val="5C706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5C7068"/>
                </a:solidFill>
                <a:latin typeface="Hiragino Sans GB"/>
                <a:ea typeface="Hiragino Sans GB"/>
                <a:cs typeface="Hiragino Sans GB"/>
              </a:rPr>
              <a:t>命令是否执行，测试是否通过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FCB735E-66CB-442F-9C7C-C386AC8D6FDC}"/>
              </a:ext>
            </a:extLst>
          </p:cNvPr>
          <p:cNvSpPr>
            <a:spLocks noGrp="1"/>
          </p:cNvSpPr>
          <p:nvPr/>
        </p:nvSpPr>
        <p:spPr>
          <a:xfrm>
            <a:off x="8324850" y="1952625"/>
            <a:ext cx="3333750" cy="5238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ctr">
              <a:lnSpc>
                <a:spcPct val="115000"/>
              </a:lnSpc>
              <a:buNone/>
              <a:defRPr sz="26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6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人工审查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D2DCA98-F875-43DB-9368-947959926669}"/>
              </a:ext>
            </a:extLst>
          </p:cNvPr>
          <p:cNvSpPr>
            <a:spLocks noGrp="1"/>
          </p:cNvSpPr>
          <p:nvPr/>
        </p:nvSpPr>
        <p:spPr>
          <a:xfrm>
            <a:off x="8658225" y="2714625"/>
            <a:ext cx="2667000" cy="47625"/>
          </a:xfrm>
          <a:prstGeom prst="rect">
            <a:avLst/>
          </a:prstGeom>
          <a:solidFill>
            <a:srgbClr val="BBD9C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130A6DB-BEF6-4473-8486-311FA8AF181D}"/>
              </a:ext>
            </a:extLst>
          </p:cNvPr>
          <p:cNvSpPr>
            <a:spLocks noGrp="1"/>
          </p:cNvSpPr>
          <p:nvPr/>
        </p:nvSpPr>
        <p:spPr>
          <a:xfrm>
            <a:off x="8515350" y="3143250"/>
            <a:ext cx="2952750" cy="7620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ctr">
              <a:lnSpc>
                <a:spcPct val="115000"/>
              </a:lnSpc>
              <a:buNone/>
              <a:defRPr sz="2325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结果是否可以接受？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98B89B9-F6D5-4ABD-8E80-7D818E111041}"/>
              </a:ext>
            </a:extLst>
          </p:cNvPr>
          <p:cNvSpPr>
            <a:spLocks noGrp="1"/>
          </p:cNvSpPr>
          <p:nvPr/>
        </p:nvSpPr>
        <p:spPr>
          <a:xfrm>
            <a:off x="8515350" y="4333875"/>
            <a:ext cx="2952750" cy="100012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ctr">
              <a:lnSpc>
                <a:spcPct val="130000"/>
              </a:lnSpc>
              <a:buNone/>
              <a:defRPr sz="2100" b="0">
                <a:solidFill>
                  <a:srgbClr val="5C706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5C7068"/>
                </a:solidFill>
                <a:latin typeface="Hiragino Sans GB"/>
                <a:ea typeface="Hiragino Sans GB"/>
                <a:cs typeface="Hiragino Sans GB"/>
              </a:rPr>
              <a:t>范围、风险和未验证内容是否清楚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A0D0ACB-6794-452B-B32B-3DD5A98196D9}"/>
              </a:ext>
            </a:extLst>
          </p:cNvPr>
          <p:cNvSpPr>
            <a:spLocks noGrp="1"/>
          </p:cNvSpPr>
          <p:nvPr/>
        </p:nvSpPr>
        <p:spPr>
          <a:xfrm>
            <a:off x="685800" y="5905500"/>
            <a:ext cx="10820400" cy="4381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ctr">
              <a:lnSpc>
                <a:spcPct val="115000"/>
              </a:lnSpc>
              <a:buNone/>
              <a:defRPr sz="22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三类证据缺一项，完成结论就可能不充分</a:t>
            </a:r>
          </a:p>
        </p:txBody>
      </p:sp>
    </p:spTree>
    <p:extLst>
      <p:ext uri="{BB962C8B-B14F-4D97-AF65-F5344CB8AC3E}">
        <p14:creationId xmlns:p14="http://schemas.microsoft.com/office/powerpoint/2010/main" val="147434464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矩形 28">
            <a:extLst>
              <a:ext uri="{FF2B5EF4-FFF2-40B4-BE49-F238E27FC236}">
                <a16:creationId xmlns:a16="http://schemas.microsoft.com/office/drawing/2014/main" id="{28012A59-5C0F-4BC8-B67B-79008FBCDE2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B6B4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5A2F34F-F021-4BCC-BB41-72989C8BB58D}"/>
              </a:ext>
            </a:extLst>
          </p:cNvPr>
          <p:cNvSpPr>
            <a:spLocks noGrp="1"/>
          </p:cNvSpPr>
          <p:nvPr/>
        </p:nvSpPr>
        <p:spPr>
          <a:xfrm>
            <a:off x="609600" y="333375"/>
            <a:ext cx="4572000" cy="3238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5000"/>
              </a:lnSpc>
              <a:buNone/>
              <a:defRPr sz="20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07  课程框架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6802DE1-0DCD-42F3-B31D-A6DB68E58F9D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590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5000"/>
              </a:lnSpc>
              <a:buNone/>
              <a:defRPr sz="330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课程目标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69B4711-A1D1-42F9-8170-AE38A10E75BB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BBD9C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31B8026-52D0-4E73-BF76-CC8F2CFD323A}"/>
              </a:ext>
            </a:extLst>
          </p:cNvPr>
          <p:cNvSpPr>
            <a:spLocks noGrp="1"/>
          </p:cNvSpPr>
          <p:nvPr/>
        </p:nvSpPr>
        <p:spPr>
          <a:xfrm>
            <a:off x="742950" y="1790700"/>
            <a:ext cx="628650" cy="4191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5000"/>
              </a:lnSpc>
              <a:buNone/>
              <a:defRPr sz="22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01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450ED74-F39A-4D91-827F-C6FC9B38E2B7}"/>
              </a:ext>
            </a:extLst>
          </p:cNvPr>
          <p:cNvSpPr>
            <a:spLocks noGrp="1"/>
          </p:cNvSpPr>
          <p:nvPr/>
        </p:nvSpPr>
        <p:spPr>
          <a:xfrm>
            <a:off x="1485900" y="1714500"/>
            <a:ext cx="4429125" cy="666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l">
              <a:lnSpc>
                <a:spcPct val="115000"/>
              </a:lnSpc>
              <a:buNone/>
              <a:defRPr sz="2175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用清楚的 Prompt 描述开发任务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D858B00-AB0F-40F0-AC44-422DCFB5567A}"/>
              </a:ext>
            </a:extLst>
          </p:cNvPr>
          <p:cNvSpPr>
            <a:spLocks noGrp="1"/>
          </p:cNvSpPr>
          <p:nvPr/>
        </p:nvSpPr>
        <p:spPr>
          <a:xfrm>
            <a:off x="1485900" y="2495550"/>
            <a:ext cx="4429125" cy="19050"/>
          </a:xfrm>
          <a:prstGeom prst="rect">
            <a:avLst/>
          </a:prstGeom>
          <a:solidFill>
            <a:srgbClr val="BBD9C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8E49DCF-838B-4ACB-9732-32E43AFAE0D7}"/>
              </a:ext>
            </a:extLst>
          </p:cNvPr>
          <p:cNvSpPr>
            <a:spLocks noGrp="1"/>
          </p:cNvSpPr>
          <p:nvPr/>
        </p:nvSpPr>
        <p:spPr>
          <a:xfrm>
            <a:off x="6219825" y="1790700"/>
            <a:ext cx="628650" cy="4191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5000"/>
              </a:lnSpc>
              <a:buNone/>
              <a:defRPr sz="22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A29B7D3-5191-438E-B2B9-B3C5CFE362E0}"/>
              </a:ext>
            </a:extLst>
          </p:cNvPr>
          <p:cNvSpPr>
            <a:spLocks noGrp="1"/>
          </p:cNvSpPr>
          <p:nvPr/>
        </p:nvSpPr>
        <p:spPr>
          <a:xfrm>
            <a:off x="6962775" y="1714500"/>
            <a:ext cx="4429125" cy="666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l">
              <a:lnSpc>
                <a:spcPct val="115000"/>
              </a:lnSpc>
              <a:buNone/>
              <a:defRPr sz="2175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分析需求并拆分复杂任务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B93F85C-FCE1-4AEE-9395-5990912CC6FE}"/>
              </a:ext>
            </a:extLst>
          </p:cNvPr>
          <p:cNvSpPr>
            <a:spLocks noGrp="1"/>
          </p:cNvSpPr>
          <p:nvPr/>
        </p:nvSpPr>
        <p:spPr>
          <a:xfrm>
            <a:off x="6962775" y="2495550"/>
            <a:ext cx="4429125" cy="19050"/>
          </a:xfrm>
          <a:prstGeom prst="rect">
            <a:avLst/>
          </a:prstGeom>
          <a:solidFill>
            <a:srgbClr val="BBD9C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47628F7-2EEF-448E-ADE3-4A6FFF6AF727}"/>
              </a:ext>
            </a:extLst>
          </p:cNvPr>
          <p:cNvSpPr>
            <a:spLocks noGrp="1"/>
          </p:cNvSpPr>
          <p:nvPr/>
        </p:nvSpPr>
        <p:spPr>
          <a:xfrm>
            <a:off x="742950" y="2857500"/>
            <a:ext cx="628650" cy="4191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5000"/>
              </a:lnSpc>
              <a:buNone/>
              <a:defRPr sz="22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03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5080D7E-7B8B-4571-AA20-0CDA4EE59A52}"/>
              </a:ext>
            </a:extLst>
          </p:cNvPr>
          <p:cNvSpPr>
            <a:spLocks noGrp="1"/>
          </p:cNvSpPr>
          <p:nvPr/>
        </p:nvSpPr>
        <p:spPr>
          <a:xfrm>
            <a:off x="1485900" y="2781300"/>
            <a:ext cx="4429125" cy="666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l">
              <a:lnSpc>
                <a:spcPct val="115000"/>
              </a:lnSpc>
              <a:buNone/>
              <a:defRPr sz="2175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为 Agent 提供必要的项目上下文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BCC2FD8-E708-49BB-927E-CC1AAF09B537}"/>
              </a:ext>
            </a:extLst>
          </p:cNvPr>
          <p:cNvSpPr>
            <a:spLocks noGrp="1"/>
          </p:cNvSpPr>
          <p:nvPr/>
        </p:nvSpPr>
        <p:spPr>
          <a:xfrm>
            <a:off x="1485900" y="3562350"/>
            <a:ext cx="4429125" cy="19050"/>
          </a:xfrm>
          <a:prstGeom prst="rect">
            <a:avLst/>
          </a:prstGeom>
          <a:solidFill>
            <a:srgbClr val="BBD9C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49153EC-C809-4543-AF90-1BC27BA49542}"/>
              </a:ext>
            </a:extLst>
          </p:cNvPr>
          <p:cNvSpPr>
            <a:spLocks noGrp="1"/>
          </p:cNvSpPr>
          <p:nvPr/>
        </p:nvSpPr>
        <p:spPr>
          <a:xfrm>
            <a:off x="6219825" y="2857500"/>
            <a:ext cx="628650" cy="4191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5000"/>
              </a:lnSpc>
              <a:buNone/>
              <a:defRPr sz="22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04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C6BB982-569A-4B08-99EB-6673651A6A0C}"/>
              </a:ext>
            </a:extLst>
          </p:cNvPr>
          <p:cNvSpPr>
            <a:spLocks noGrp="1"/>
          </p:cNvSpPr>
          <p:nvPr/>
        </p:nvSpPr>
        <p:spPr>
          <a:xfrm>
            <a:off x="6962775" y="2781300"/>
            <a:ext cx="4429125" cy="666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l">
              <a:lnSpc>
                <a:spcPct val="115000"/>
              </a:lnSpc>
              <a:buNone/>
              <a:defRPr sz="2175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使用 Agent 阅读和修改代码项目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F24E3A9-E977-4577-87E8-A3D824195575}"/>
              </a:ext>
            </a:extLst>
          </p:cNvPr>
          <p:cNvSpPr>
            <a:spLocks noGrp="1"/>
          </p:cNvSpPr>
          <p:nvPr/>
        </p:nvSpPr>
        <p:spPr>
          <a:xfrm>
            <a:off x="6962775" y="3562350"/>
            <a:ext cx="4429125" cy="19050"/>
          </a:xfrm>
          <a:prstGeom prst="rect">
            <a:avLst/>
          </a:prstGeom>
          <a:solidFill>
            <a:srgbClr val="BBD9C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DBABB85-B0EC-4977-A96B-C6FC32ED83F6}"/>
              </a:ext>
            </a:extLst>
          </p:cNvPr>
          <p:cNvSpPr>
            <a:spLocks noGrp="1"/>
          </p:cNvSpPr>
          <p:nvPr/>
        </p:nvSpPr>
        <p:spPr>
          <a:xfrm>
            <a:off x="742950" y="3924300"/>
            <a:ext cx="628650" cy="4191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5000"/>
              </a:lnSpc>
              <a:buNone/>
              <a:defRPr sz="22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05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584AB27-F522-4EF4-9F61-2A65F7236B7D}"/>
              </a:ext>
            </a:extLst>
          </p:cNvPr>
          <p:cNvSpPr>
            <a:spLocks noGrp="1"/>
          </p:cNvSpPr>
          <p:nvPr/>
        </p:nvSpPr>
        <p:spPr>
          <a:xfrm>
            <a:off x="1485900" y="3848100"/>
            <a:ext cx="4429125" cy="666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l">
              <a:lnSpc>
                <a:spcPct val="115000"/>
              </a:lnSpc>
              <a:buNone/>
              <a:defRPr sz="2175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观察 Agent 的工具调用和执行过程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871CF5E-D1F9-4BDB-9E01-0F2519B0D4E6}"/>
              </a:ext>
            </a:extLst>
          </p:cNvPr>
          <p:cNvSpPr>
            <a:spLocks noGrp="1"/>
          </p:cNvSpPr>
          <p:nvPr/>
        </p:nvSpPr>
        <p:spPr>
          <a:xfrm>
            <a:off x="1485900" y="4629150"/>
            <a:ext cx="4429125" cy="19050"/>
          </a:xfrm>
          <a:prstGeom prst="rect">
            <a:avLst/>
          </a:prstGeom>
          <a:solidFill>
            <a:srgbClr val="BBD9C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B19BBB50-AAAD-4224-81B3-AD726E86B10E}"/>
              </a:ext>
            </a:extLst>
          </p:cNvPr>
          <p:cNvSpPr>
            <a:spLocks noGrp="1"/>
          </p:cNvSpPr>
          <p:nvPr/>
        </p:nvSpPr>
        <p:spPr>
          <a:xfrm>
            <a:off x="6219825" y="3924300"/>
            <a:ext cx="628650" cy="4191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5000"/>
              </a:lnSpc>
              <a:buNone/>
              <a:defRPr sz="22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06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621E5E80-E3A0-4104-8F9D-9E5D9109639C}"/>
              </a:ext>
            </a:extLst>
          </p:cNvPr>
          <p:cNvSpPr>
            <a:spLocks noGrp="1"/>
          </p:cNvSpPr>
          <p:nvPr/>
        </p:nvSpPr>
        <p:spPr>
          <a:xfrm>
            <a:off x="6962775" y="3848100"/>
            <a:ext cx="4429125" cy="666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l">
              <a:lnSpc>
                <a:spcPct val="115000"/>
              </a:lnSpc>
              <a:buNone/>
              <a:defRPr sz="2175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用测试和 Git 检查修改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FB2F084-53E8-41A9-8E59-720D0CD3CADE}"/>
              </a:ext>
            </a:extLst>
          </p:cNvPr>
          <p:cNvSpPr>
            <a:spLocks noGrp="1"/>
          </p:cNvSpPr>
          <p:nvPr/>
        </p:nvSpPr>
        <p:spPr>
          <a:xfrm>
            <a:off x="6962775" y="4629150"/>
            <a:ext cx="4429125" cy="19050"/>
          </a:xfrm>
          <a:prstGeom prst="rect">
            <a:avLst/>
          </a:prstGeom>
          <a:solidFill>
            <a:srgbClr val="BBD9C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5710AC0-2002-4A7F-AD7C-D84180D80B45}"/>
              </a:ext>
            </a:extLst>
          </p:cNvPr>
          <p:cNvSpPr>
            <a:spLocks noGrp="1"/>
          </p:cNvSpPr>
          <p:nvPr/>
        </p:nvSpPr>
        <p:spPr>
          <a:xfrm>
            <a:off x="742950" y="4991100"/>
            <a:ext cx="628650" cy="4191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5000"/>
              </a:lnSpc>
              <a:buNone/>
              <a:defRPr sz="22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07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46812C74-E44F-4B13-A4C2-1E90AE485666}"/>
              </a:ext>
            </a:extLst>
          </p:cNvPr>
          <p:cNvSpPr>
            <a:spLocks noGrp="1"/>
          </p:cNvSpPr>
          <p:nvPr/>
        </p:nvSpPr>
        <p:spPr>
          <a:xfrm>
            <a:off x="1485900" y="4914900"/>
            <a:ext cx="4429125" cy="666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l">
              <a:lnSpc>
                <a:spcPct val="115000"/>
              </a:lnSpc>
              <a:buNone/>
              <a:defRPr sz="2175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识别幻觉、误改和隐私等风险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EA764B0C-A535-47D4-B7B7-14212061C33D}"/>
              </a:ext>
            </a:extLst>
          </p:cNvPr>
          <p:cNvSpPr>
            <a:spLocks noGrp="1"/>
          </p:cNvSpPr>
          <p:nvPr/>
        </p:nvSpPr>
        <p:spPr>
          <a:xfrm>
            <a:off x="1485900" y="5695950"/>
            <a:ext cx="4429125" cy="19050"/>
          </a:xfrm>
          <a:prstGeom prst="rect">
            <a:avLst/>
          </a:prstGeom>
          <a:solidFill>
            <a:srgbClr val="BBD9C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EFB67061-0B77-4B3B-ACF2-EBB10DFAFE92}"/>
              </a:ext>
            </a:extLst>
          </p:cNvPr>
          <p:cNvSpPr>
            <a:spLocks noGrp="1"/>
          </p:cNvSpPr>
          <p:nvPr/>
        </p:nvSpPr>
        <p:spPr>
          <a:xfrm>
            <a:off x="6219825" y="4991100"/>
            <a:ext cx="628650" cy="4191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5000"/>
              </a:lnSpc>
              <a:buNone/>
              <a:defRPr sz="22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08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0EB90CCD-A423-4D15-8FF6-6850B244970A}"/>
              </a:ext>
            </a:extLst>
          </p:cNvPr>
          <p:cNvSpPr>
            <a:spLocks noGrp="1"/>
          </p:cNvSpPr>
          <p:nvPr/>
        </p:nvSpPr>
        <p:spPr>
          <a:xfrm>
            <a:off x="6962775" y="4914900"/>
            <a:ext cx="4429125" cy="666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l">
              <a:lnSpc>
                <a:spcPct val="115000"/>
              </a:lnSpc>
              <a:buNone/>
              <a:defRPr sz="2175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理解 MCP、Skill 和多 Agent 协作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631FA89C-DD31-4933-A06F-8A9CCB98D443}"/>
              </a:ext>
            </a:extLst>
          </p:cNvPr>
          <p:cNvSpPr>
            <a:spLocks noGrp="1"/>
          </p:cNvSpPr>
          <p:nvPr/>
        </p:nvSpPr>
        <p:spPr>
          <a:xfrm>
            <a:off x="6962775" y="5695950"/>
            <a:ext cx="4429125" cy="19050"/>
          </a:xfrm>
          <a:prstGeom prst="rect">
            <a:avLst/>
          </a:prstGeom>
          <a:solidFill>
            <a:srgbClr val="BBD9C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76466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矩形 41">
            <a:extLst>
              <a:ext uri="{FF2B5EF4-FFF2-40B4-BE49-F238E27FC236}">
                <a16:creationId xmlns:a16="http://schemas.microsoft.com/office/drawing/2014/main" id="{303668D4-D7B6-4181-9D0D-A7EB68AD55A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B6B4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A5E174B-7E4E-4191-8D95-3F6E4F52CFE1}"/>
              </a:ext>
            </a:extLst>
          </p:cNvPr>
          <p:cNvSpPr>
            <a:spLocks noGrp="1"/>
          </p:cNvSpPr>
          <p:nvPr/>
        </p:nvSpPr>
        <p:spPr>
          <a:xfrm>
            <a:off x="609600" y="333375"/>
            <a:ext cx="4572000" cy="3238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5000"/>
              </a:lnSpc>
              <a:buNone/>
              <a:defRPr sz="20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07  课程框架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E09C8CC-F65C-43F4-93A7-7F74155BE4B7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590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5000"/>
              </a:lnSpc>
              <a:buNone/>
              <a:defRPr sz="330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十二周课程安排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5A130EB-9846-407C-B11B-5876C8150E31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BBD9C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297351F-C671-48B3-A7FB-DEA392A750DE}"/>
              </a:ext>
            </a:extLst>
          </p:cNvPr>
          <p:cNvSpPr>
            <a:spLocks noGrp="1"/>
          </p:cNvSpPr>
          <p:nvPr/>
        </p:nvSpPr>
        <p:spPr>
          <a:xfrm>
            <a:off x="666750" y="1695450"/>
            <a:ext cx="628650" cy="42862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5000"/>
              </a:lnSpc>
              <a:buNone/>
              <a:defRPr sz="22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01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3CB785F-5644-4F88-8A6C-F6D9B88A6F2C}"/>
              </a:ext>
            </a:extLst>
          </p:cNvPr>
          <p:cNvSpPr>
            <a:spLocks noGrp="1"/>
          </p:cNvSpPr>
          <p:nvPr/>
        </p:nvSpPr>
        <p:spPr>
          <a:xfrm>
            <a:off x="1371600" y="1619250"/>
            <a:ext cx="2857500" cy="6858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l">
              <a:lnSpc>
                <a:spcPct val="115000"/>
              </a:lnSpc>
              <a:buNone/>
              <a:defRPr sz="2025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课程介绍与编码 Agent 基础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D791658-FAF0-4930-BCB4-A4681F3A92AE}"/>
              </a:ext>
            </a:extLst>
          </p:cNvPr>
          <p:cNvSpPr>
            <a:spLocks noGrp="1"/>
          </p:cNvSpPr>
          <p:nvPr/>
        </p:nvSpPr>
        <p:spPr>
          <a:xfrm>
            <a:off x="666750" y="2457450"/>
            <a:ext cx="3429000" cy="19050"/>
          </a:xfrm>
          <a:prstGeom prst="rect">
            <a:avLst/>
          </a:prstGeom>
          <a:solidFill>
            <a:srgbClr val="BBD9C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3389D52-1326-420F-B6CA-CB02DF52337D}"/>
              </a:ext>
            </a:extLst>
          </p:cNvPr>
          <p:cNvSpPr>
            <a:spLocks noGrp="1"/>
          </p:cNvSpPr>
          <p:nvPr/>
        </p:nvSpPr>
        <p:spPr>
          <a:xfrm>
            <a:off x="4476750" y="1695450"/>
            <a:ext cx="628650" cy="42862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5000"/>
              </a:lnSpc>
              <a:buNone/>
              <a:defRPr sz="22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DEDE3C-8263-44F0-8BC0-5DF249CF75B1}"/>
              </a:ext>
            </a:extLst>
          </p:cNvPr>
          <p:cNvSpPr>
            <a:spLocks noGrp="1"/>
          </p:cNvSpPr>
          <p:nvPr/>
        </p:nvSpPr>
        <p:spPr>
          <a:xfrm>
            <a:off x="5181600" y="1619250"/>
            <a:ext cx="2857500" cy="6858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l">
              <a:lnSpc>
                <a:spcPct val="115000"/>
              </a:lnSpc>
              <a:buNone/>
              <a:defRPr sz="2025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提示词工程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C13F294-A3A7-4D15-A3BD-EE93B1DDD678}"/>
              </a:ext>
            </a:extLst>
          </p:cNvPr>
          <p:cNvSpPr>
            <a:spLocks noGrp="1"/>
          </p:cNvSpPr>
          <p:nvPr/>
        </p:nvSpPr>
        <p:spPr>
          <a:xfrm>
            <a:off x="4476750" y="2457450"/>
            <a:ext cx="3429000" cy="19050"/>
          </a:xfrm>
          <a:prstGeom prst="rect">
            <a:avLst/>
          </a:prstGeom>
          <a:solidFill>
            <a:srgbClr val="BBD9C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6A02680-381B-4E31-B12A-5F466D927EC7}"/>
              </a:ext>
            </a:extLst>
          </p:cNvPr>
          <p:cNvSpPr>
            <a:spLocks noGrp="1"/>
          </p:cNvSpPr>
          <p:nvPr/>
        </p:nvSpPr>
        <p:spPr>
          <a:xfrm>
            <a:off x="8286750" y="1695450"/>
            <a:ext cx="628650" cy="42862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5000"/>
              </a:lnSpc>
              <a:buNone/>
              <a:defRPr sz="22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03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2E8DB60-8398-477B-9ED1-984C72FFD9B9}"/>
              </a:ext>
            </a:extLst>
          </p:cNvPr>
          <p:cNvSpPr>
            <a:spLocks noGrp="1"/>
          </p:cNvSpPr>
          <p:nvPr/>
        </p:nvSpPr>
        <p:spPr>
          <a:xfrm>
            <a:off x="8991600" y="1619250"/>
            <a:ext cx="2857500" cy="6858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l">
              <a:lnSpc>
                <a:spcPct val="115000"/>
              </a:lnSpc>
              <a:buNone/>
              <a:defRPr sz="2025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需求分析与任务拆解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18AF230-7347-424E-872E-A4E42FE050DA}"/>
              </a:ext>
            </a:extLst>
          </p:cNvPr>
          <p:cNvSpPr>
            <a:spLocks noGrp="1"/>
          </p:cNvSpPr>
          <p:nvPr/>
        </p:nvSpPr>
        <p:spPr>
          <a:xfrm>
            <a:off x="8286750" y="2457450"/>
            <a:ext cx="3429000" cy="19050"/>
          </a:xfrm>
          <a:prstGeom prst="rect">
            <a:avLst/>
          </a:prstGeom>
          <a:solidFill>
            <a:srgbClr val="BBD9C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17782AA-593F-49CD-A3D5-704B076490B3}"/>
              </a:ext>
            </a:extLst>
          </p:cNvPr>
          <p:cNvSpPr>
            <a:spLocks noGrp="1"/>
          </p:cNvSpPr>
          <p:nvPr/>
        </p:nvSpPr>
        <p:spPr>
          <a:xfrm>
            <a:off x="666750" y="2819400"/>
            <a:ext cx="628650" cy="42862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5000"/>
              </a:lnSpc>
              <a:buNone/>
              <a:defRPr sz="22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04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144B51C-7F18-44BC-B378-751E113D3584}"/>
              </a:ext>
            </a:extLst>
          </p:cNvPr>
          <p:cNvSpPr>
            <a:spLocks noGrp="1"/>
          </p:cNvSpPr>
          <p:nvPr/>
        </p:nvSpPr>
        <p:spPr>
          <a:xfrm>
            <a:off x="1371600" y="2743200"/>
            <a:ext cx="2857500" cy="6858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l">
              <a:lnSpc>
                <a:spcPct val="115000"/>
              </a:lnSpc>
              <a:buNone/>
              <a:defRPr sz="2025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上下文工程与 AGENTS.md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4A2BEFD-640E-4860-B79B-A9DCEEA6D8E8}"/>
              </a:ext>
            </a:extLst>
          </p:cNvPr>
          <p:cNvSpPr>
            <a:spLocks noGrp="1"/>
          </p:cNvSpPr>
          <p:nvPr/>
        </p:nvSpPr>
        <p:spPr>
          <a:xfrm>
            <a:off x="666750" y="3581400"/>
            <a:ext cx="3429000" cy="19050"/>
          </a:xfrm>
          <a:prstGeom prst="rect">
            <a:avLst/>
          </a:prstGeom>
          <a:solidFill>
            <a:srgbClr val="BBD9C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70593B5-CDC9-4EA5-B00A-0E31990A0A6C}"/>
              </a:ext>
            </a:extLst>
          </p:cNvPr>
          <p:cNvSpPr>
            <a:spLocks noGrp="1"/>
          </p:cNvSpPr>
          <p:nvPr/>
        </p:nvSpPr>
        <p:spPr>
          <a:xfrm>
            <a:off x="4476750" y="2819400"/>
            <a:ext cx="628650" cy="42862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5000"/>
              </a:lnSpc>
              <a:buNone/>
              <a:defRPr sz="22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05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4D877EC-5705-4323-9437-AC6D388ADD52}"/>
              </a:ext>
            </a:extLst>
          </p:cNvPr>
          <p:cNvSpPr>
            <a:spLocks noGrp="1"/>
          </p:cNvSpPr>
          <p:nvPr/>
        </p:nvSpPr>
        <p:spPr>
          <a:xfrm>
            <a:off x="5181600" y="2743200"/>
            <a:ext cx="2857500" cy="6858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l">
              <a:lnSpc>
                <a:spcPct val="115000"/>
              </a:lnSpc>
              <a:buNone/>
              <a:defRPr sz="2025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代码阅读与项目理解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B449504-4B8F-46F9-A792-4A0542506B34}"/>
              </a:ext>
            </a:extLst>
          </p:cNvPr>
          <p:cNvSpPr>
            <a:spLocks noGrp="1"/>
          </p:cNvSpPr>
          <p:nvPr/>
        </p:nvSpPr>
        <p:spPr>
          <a:xfrm>
            <a:off x="4476750" y="3581400"/>
            <a:ext cx="3429000" cy="19050"/>
          </a:xfrm>
          <a:prstGeom prst="rect">
            <a:avLst/>
          </a:prstGeom>
          <a:solidFill>
            <a:srgbClr val="BBD9C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156399E-243D-4253-9490-4C472EABC3DC}"/>
              </a:ext>
            </a:extLst>
          </p:cNvPr>
          <p:cNvSpPr>
            <a:spLocks noGrp="1"/>
          </p:cNvSpPr>
          <p:nvPr/>
        </p:nvSpPr>
        <p:spPr>
          <a:xfrm>
            <a:off x="8286750" y="2819400"/>
            <a:ext cx="628650" cy="42862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5000"/>
              </a:lnSpc>
              <a:buNone/>
              <a:defRPr sz="22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06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2C306D52-65A3-4235-81FB-015D7AE256B3}"/>
              </a:ext>
            </a:extLst>
          </p:cNvPr>
          <p:cNvSpPr>
            <a:spLocks noGrp="1"/>
          </p:cNvSpPr>
          <p:nvPr/>
        </p:nvSpPr>
        <p:spPr>
          <a:xfrm>
            <a:off x="8991600" y="2743200"/>
            <a:ext cx="2857500" cy="6858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l">
              <a:lnSpc>
                <a:spcPct val="115000"/>
              </a:lnSpc>
              <a:buNone/>
              <a:defRPr sz="2025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Agent 工作流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EFC4F534-C40C-4779-8EB4-6D9682CA5643}"/>
              </a:ext>
            </a:extLst>
          </p:cNvPr>
          <p:cNvSpPr>
            <a:spLocks noGrp="1"/>
          </p:cNvSpPr>
          <p:nvPr/>
        </p:nvSpPr>
        <p:spPr>
          <a:xfrm>
            <a:off x="8286750" y="3581400"/>
            <a:ext cx="3429000" cy="19050"/>
          </a:xfrm>
          <a:prstGeom prst="rect">
            <a:avLst/>
          </a:prstGeom>
          <a:solidFill>
            <a:srgbClr val="BBD9C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E2B794C5-FF9B-49AF-92B4-31F18CE844BD}"/>
              </a:ext>
            </a:extLst>
          </p:cNvPr>
          <p:cNvSpPr>
            <a:spLocks noGrp="1"/>
          </p:cNvSpPr>
          <p:nvPr/>
        </p:nvSpPr>
        <p:spPr>
          <a:xfrm>
            <a:off x="666750" y="3943350"/>
            <a:ext cx="628650" cy="42862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5000"/>
              </a:lnSpc>
              <a:buNone/>
              <a:defRPr sz="22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07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0D616F6-C24F-474D-B590-C9F9E0FAB06F}"/>
              </a:ext>
            </a:extLst>
          </p:cNvPr>
          <p:cNvSpPr>
            <a:spLocks noGrp="1"/>
          </p:cNvSpPr>
          <p:nvPr/>
        </p:nvSpPr>
        <p:spPr>
          <a:xfrm>
            <a:off x="1371600" y="3867150"/>
            <a:ext cx="2857500" cy="6858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l">
              <a:lnSpc>
                <a:spcPct val="115000"/>
              </a:lnSpc>
              <a:buNone/>
              <a:defRPr sz="2025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工具调用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17DDDC5E-3E60-487F-96E7-DA537E8C4FCB}"/>
              </a:ext>
            </a:extLst>
          </p:cNvPr>
          <p:cNvSpPr>
            <a:spLocks noGrp="1"/>
          </p:cNvSpPr>
          <p:nvPr/>
        </p:nvSpPr>
        <p:spPr>
          <a:xfrm>
            <a:off x="666750" y="4705350"/>
            <a:ext cx="3429000" cy="19050"/>
          </a:xfrm>
          <a:prstGeom prst="rect">
            <a:avLst/>
          </a:prstGeom>
          <a:solidFill>
            <a:srgbClr val="BBD9C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E4F44997-0A8B-4CC3-A81C-C83E6E802386}"/>
              </a:ext>
            </a:extLst>
          </p:cNvPr>
          <p:cNvSpPr>
            <a:spLocks noGrp="1"/>
          </p:cNvSpPr>
          <p:nvPr/>
        </p:nvSpPr>
        <p:spPr>
          <a:xfrm>
            <a:off x="4476750" y="3943350"/>
            <a:ext cx="628650" cy="42862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5000"/>
              </a:lnSpc>
              <a:buNone/>
              <a:defRPr sz="22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08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8251F544-ADC1-4A00-9DDF-9664921D0837}"/>
              </a:ext>
            </a:extLst>
          </p:cNvPr>
          <p:cNvSpPr>
            <a:spLocks noGrp="1"/>
          </p:cNvSpPr>
          <p:nvPr/>
        </p:nvSpPr>
        <p:spPr>
          <a:xfrm>
            <a:off x="5181600" y="3867150"/>
            <a:ext cx="2857500" cy="6858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l">
              <a:lnSpc>
                <a:spcPct val="115000"/>
              </a:lnSpc>
              <a:buNone/>
              <a:defRPr sz="2025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测试驱动的 Agent 开发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C2B38B9B-A479-44A3-B986-6A98E559EC80}"/>
              </a:ext>
            </a:extLst>
          </p:cNvPr>
          <p:cNvSpPr>
            <a:spLocks noGrp="1"/>
          </p:cNvSpPr>
          <p:nvPr/>
        </p:nvSpPr>
        <p:spPr>
          <a:xfrm>
            <a:off x="4476750" y="4705350"/>
            <a:ext cx="3429000" cy="19050"/>
          </a:xfrm>
          <a:prstGeom prst="rect">
            <a:avLst/>
          </a:prstGeom>
          <a:solidFill>
            <a:srgbClr val="BBD9C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58059388-5710-4F6E-ADB0-122D3D0801EC}"/>
              </a:ext>
            </a:extLst>
          </p:cNvPr>
          <p:cNvSpPr>
            <a:spLocks noGrp="1"/>
          </p:cNvSpPr>
          <p:nvPr/>
        </p:nvSpPr>
        <p:spPr>
          <a:xfrm>
            <a:off x="8286750" y="3943350"/>
            <a:ext cx="628650" cy="42862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5000"/>
              </a:lnSpc>
              <a:buNone/>
              <a:defRPr sz="22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09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E96D9885-EF63-4936-80B1-59DF886CBE83}"/>
              </a:ext>
            </a:extLst>
          </p:cNvPr>
          <p:cNvSpPr>
            <a:spLocks noGrp="1"/>
          </p:cNvSpPr>
          <p:nvPr/>
        </p:nvSpPr>
        <p:spPr>
          <a:xfrm>
            <a:off x="8991600" y="3867150"/>
            <a:ext cx="2857500" cy="6858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l">
              <a:lnSpc>
                <a:spcPct val="115000"/>
              </a:lnSpc>
              <a:buNone/>
              <a:defRPr sz="2025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代码审查、Git 与质量控制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522942E0-0880-40F0-8D73-F089F225DD91}"/>
              </a:ext>
            </a:extLst>
          </p:cNvPr>
          <p:cNvSpPr>
            <a:spLocks noGrp="1"/>
          </p:cNvSpPr>
          <p:nvPr/>
        </p:nvSpPr>
        <p:spPr>
          <a:xfrm>
            <a:off x="8286750" y="4705350"/>
            <a:ext cx="3429000" cy="19050"/>
          </a:xfrm>
          <a:prstGeom prst="rect">
            <a:avLst/>
          </a:prstGeom>
          <a:solidFill>
            <a:srgbClr val="BBD9C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1BD5E983-EF4A-4696-8B03-113E1D1653A2}"/>
              </a:ext>
            </a:extLst>
          </p:cNvPr>
          <p:cNvSpPr>
            <a:spLocks noGrp="1"/>
          </p:cNvSpPr>
          <p:nvPr/>
        </p:nvSpPr>
        <p:spPr>
          <a:xfrm>
            <a:off x="666750" y="5067300"/>
            <a:ext cx="628650" cy="42862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5000"/>
              </a:lnSpc>
              <a:buNone/>
              <a:defRPr sz="22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10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93F02523-AAF5-411B-B567-8F27B9F56694}"/>
              </a:ext>
            </a:extLst>
          </p:cNvPr>
          <p:cNvSpPr>
            <a:spLocks noGrp="1"/>
          </p:cNvSpPr>
          <p:nvPr/>
        </p:nvSpPr>
        <p:spPr>
          <a:xfrm>
            <a:off x="1371600" y="4991100"/>
            <a:ext cx="2857500" cy="6858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l">
              <a:lnSpc>
                <a:spcPct val="115000"/>
              </a:lnSpc>
              <a:buNone/>
              <a:defRPr sz="2025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风险与边界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BA4398A5-FB15-4CB8-B23F-D6526978F2EE}"/>
              </a:ext>
            </a:extLst>
          </p:cNvPr>
          <p:cNvSpPr>
            <a:spLocks noGrp="1"/>
          </p:cNvSpPr>
          <p:nvPr/>
        </p:nvSpPr>
        <p:spPr>
          <a:xfrm>
            <a:off x="666750" y="5829300"/>
            <a:ext cx="3429000" cy="19050"/>
          </a:xfrm>
          <a:prstGeom prst="rect">
            <a:avLst/>
          </a:prstGeom>
          <a:solidFill>
            <a:srgbClr val="0B6B4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2176C1C5-9B26-4F70-AE84-8EFAF17E8DAD}"/>
              </a:ext>
            </a:extLst>
          </p:cNvPr>
          <p:cNvSpPr>
            <a:spLocks noGrp="1"/>
          </p:cNvSpPr>
          <p:nvPr/>
        </p:nvSpPr>
        <p:spPr>
          <a:xfrm>
            <a:off x="4476750" y="5067300"/>
            <a:ext cx="628650" cy="42862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5000"/>
              </a:lnSpc>
              <a:buNone/>
              <a:defRPr sz="22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11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A8EC0249-16EC-47A1-89CB-33ED37888FCC}"/>
              </a:ext>
            </a:extLst>
          </p:cNvPr>
          <p:cNvSpPr>
            <a:spLocks noGrp="1"/>
          </p:cNvSpPr>
          <p:nvPr/>
        </p:nvSpPr>
        <p:spPr>
          <a:xfrm>
            <a:off x="5181600" y="4991100"/>
            <a:ext cx="2857500" cy="6858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l">
              <a:lnSpc>
                <a:spcPct val="115000"/>
              </a:lnSpc>
              <a:buNone/>
              <a:defRPr sz="2025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MCP 与 Skill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3D72C9F9-1D0B-4863-A38B-90BAA2A91582}"/>
              </a:ext>
            </a:extLst>
          </p:cNvPr>
          <p:cNvSpPr>
            <a:spLocks noGrp="1"/>
          </p:cNvSpPr>
          <p:nvPr/>
        </p:nvSpPr>
        <p:spPr>
          <a:xfrm>
            <a:off x="4476750" y="5829300"/>
            <a:ext cx="3429000" cy="19050"/>
          </a:xfrm>
          <a:prstGeom prst="rect">
            <a:avLst/>
          </a:prstGeom>
          <a:solidFill>
            <a:srgbClr val="0B6B4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40B39C1C-5703-4ADD-B6E9-94925F53FDEC}"/>
              </a:ext>
            </a:extLst>
          </p:cNvPr>
          <p:cNvSpPr>
            <a:spLocks noGrp="1"/>
          </p:cNvSpPr>
          <p:nvPr/>
        </p:nvSpPr>
        <p:spPr>
          <a:xfrm>
            <a:off x="8286750" y="5067300"/>
            <a:ext cx="628650" cy="42862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5000"/>
              </a:lnSpc>
              <a:buNone/>
              <a:defRPr sz="22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12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355FE98-CAAB-4395-89F9-6FDDA1E09DC2}"/>
              </a:ext>
            </a:extLst>
          </p:cNvPr>
          <p:cNvSpPr>
            <a:spLocks noGrp="1"/>
          </p:cNvSpPr>
          <p:nvPr/>
        </p:nvSpPr>
        <p:spPr>
          <a:xfrm>
            <a:off x="8991600" y="4991100"/>
            <a:ext cx="2857500" cy="6858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l">
              <a:lnSpc>
                <a:spcPct val="115000"/>
              </a:lnSpc>
              <a:buNone/>
              <a:defRPr sz="2025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多 Agent 协作与代码重构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CFBA7E1E-F36B-48C7-9702-740E41A080B6}"/>
              </a:ext>
            </a:extLst>
          </p:cNvPr>
          <p:cNvSpPr>
            <a:spLocks noGrp="1"/>
          </p:cNvSpPr>
          <p:nvPr/>
        </p:nvSpPr>
        <p:spPr>
          <a:xfrm>
            <a:off x="8286750" y="5829300"/>
            <a:ext cx="3429000" cy="19050"/>
          </a:xfrm>
          <a:prstGeom prst="rect">
            <a:avLst/>
          </a:prstGeom>
          <a:solidFill>
            <a:srgbClr val="0B6B4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B42DA6DD-0E8A-4B05-BC84-60C3BFBACED6}"/>
              </a:ext>
            </a:extLst>
          </p:cNvPr>
          <p:cNvSpPr>
            <a:spLocks noGrp="1"/>
          </p:cNvSpPr>
          <p:nvPr/>
        </p:nvSpPr>
        <p:spPr>
          <a:xfrm>
            <a:off x="685800" y="6191250"/>
            <a:ext cx="10820400" cy="3429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ctr">
              <a:lnSpc>
                <a:spcPct val="115000"/>
              </a:lnSpc>
              <a:buNone/>
              <a:defRPr sz="20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本周只建立全局框架，不提前展开后续周次的完整方法</a:t>
            </a:r>
          </a:p>
        </p:txBody>
      </p:sp>
    </p:spTree>
    <p:extLst>
      <p:ext uri="{BB962C8B-B14F-4D97-AF65-F5344CB8AC3E}">
        <p14:creationId xmlns:p14="http://schemas.microsoft.com/office/powerpoint/2010/main" val="206613360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>
            <a:extLst>
              <a:ext uri="{FF2B5EF4-FFF2-40B4-BE49-F238E27FC236}">
                <a16:creationId xmlns:a16="http://schemas.microsoft.com/office/drawing/2014/main" id="{E57EBCD4-125B-42CC-B481-3F202E708B1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B6B4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34B7CD5-322B-4D1C-9008-7D7960D0BB6C}"/>
              </a:ext>
            </a:extLst>
          </p:cNvPr>
          <p:cNvSpPr>
            <a:spLocks noGrp="1"/>
          </p:cNvSpPr>
          <p:nvPr/>
        </p:nvSpPr>
        <p:spPr>
          <a:xfrm>
            <a:off x="609600" y="333375"/>
            <a:ext cx="4572000" cy="3238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5000"/>
              </a:lnSpc>
              <a:buNone/>
              <a:defRPr sz="20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07  课程框架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777E7E1-6404-4E9F-B86B-FD43C4E9F53C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590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5000"/>
              </a:lnSpc>
              <a:buNone/>
              <a:defRPr sz="330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课程学习主线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64669D7-05A4-417C-990D-4229C079185F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BBD9C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322F1E5-309A-4FE8-9F59-CC48622718F5}"/>
              </a:ext>
            </a:extLst>
          </p:cNvPr>
          <p:cNvSpPr>
            <a:spLocks noGrp="1"/>
          </p:cNvSpPr>
          <p:nvPr/>
        </p:nvSpPr>
        <p:spPr>
          <a:xfrm>
            <a:off x="1162050" y="1952625"/>
            <a:ext cx="952500" cy="666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ctr">
              <a:lnSpc>
                <a:spcPct val="115000"/>
              </a:lnSpc>
              <a:buNone/>
              <a:defRPr sz="40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40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1</a:t>
            </a: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6348C35F-906D-484B-B94B-CBB7AFE5DA47}"/>
              </a:ext>
            </a:extLst>
          </p:cNvPr>
          <p:cNvSpPr>
            <a:spLocks noGrp="1"/>
          </p:cNvSpPr>
          <p:nvPr/>
        </p:nvSpPr>
        <p:spPr>
          <a:xfrm>
            <a:off x="590550" y="2857500"/>
            <a:ext cx="2095500" cy="1428750"/>
          </a:xfrm>
          <a:prstGeom prst="roundRect">
            <a:avLst>
              <a:gd name="adj" fmla="val 13333"/>
            </a:avLst>
          </a:prstGeom>
          <a:solidFill>
            <a:srgbClr val="F5FAF8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AC10829-1A11-4282-9B7D-D3248A56F4B3}"/>
              </a:ext>
            </a:extLst>
          </p:cNvPr>
          <p:cNvSpPr>
            <a:spLocks noGrp="1"/>
          </p:cNvSpPr>
          <p:nvPr/>
        </p:nvSpPr>
        <p:spPr>
          <a:xfrm>
            <a:off x="762000" y="3143250"/>
            <a:ext cx="1752600" cy="857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ctr">
              <a:lnSpc>
                <a:spcPct val="115000"/>
              </a:lnSpc>
              <a:buNone/>
              <a:defRPr sz="2325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表达任务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97020B2-849A-4A3F-B88F-9453AA1C6771}"/>
              </a:ext>
            </a:extLst>
          </p:cNvPr>
          <p:cNvSpPr>
            <a:spLocks noGrp="1"/>
          </p:cNvSpPr>
          <p:nvPr/>
        </p:nvSpPr>
        <p:spPr>
          <a:xfrm>
            <a:off x="2686050" y="3495675"/>
            <a:ext cx="228600" cy="38100"/>
          </a:xfrm>
          <a:prstGeom prst="rect">
            <a:avLst/>
          </a:prstGeom>
          <a:solidFill>
            <a:srgbClr val="16815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8BF8BC7-445A-46D3-A618-B0A4721E3445}"/>
              </a:ext>
            </a:extLst>
          </p:cNvPr>
          <p:cNvSpPr>
            <a:spLocks noGrp="1"/>
          </p:cNvSpPr>
          <p:nvPr/>
        </p:nvSpPr>
        <p:spPr>
          <a:xfrm>
            <a:off x="3486150" y="1952625"/>
            <a:ext cx="952500" cy="666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ctr">
              <a:lnSpc>
                <a:spcPct val="115000"/>
              </a:lnSpc>
              <a:buNone/>
              <a:defRPr sz="40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40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2</a:t>
            </a: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8642027B-BC31-471E-A261-504A7DDCAEAD}"/>
              </a:ext>
            </a:extLst>
          </p:cNvPr>
          <p:cNvSpPr>
            <a:spLocks noGrp="1"/>
          </p:cNvSpPr>
          <p:nvPr/>
        </p:nvSpPr>
        <p:spPr>
          <a:xfrm>
            <a:off x="2914650" y="2857500"/>
            <a:ext cx="2095500" cy="1428750"/>
          </a:xfrm>
          <a:prstGeom prst="roundRect">
            <a:avLst>
              <a:gd name="adj" fmla="val 13333"/>
            </a:avLst>
          </a:prstGeom>
          <a:solidFill>
            <a:srgbClr val="F5FAF8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BC8DC0A-6149-4C9F-8EEA-8C50A5037223}"/>
              </a:ext>
            </a:extLst>
          </p:cNvPr>
          <p:cNvSpPr>
            <a:spLocks noGrp="1"/>
          </p:cNvSpPr>
          <p:nvPr/>
        </p:nvSpPr>
        <p:spPr>
          <a:xfrm>
            <a:off x="3086100" y="3143250"/>
            <a:ext cx="1752600" cy="857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ctr">
              <a:lnSpc>
                <a:spcPct val="115000"/>
              </a:lnSpc>
              <a:buNone/>
              <a:defRPr sz="2325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提供上下文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B56F09A-A1CF-41E6-A6F7-B7DBD4F289C8}"/>
              </a:ext>
            </a:extLst>
          </p:cNvPr>
          <p:cNvSpPr>
            <a:spLocks noGrp="1"/>
          </p:cNvSpPr>
          <p:nvPr/>
        </p:nvSpPr>
        <p:spPr>
          <a:xfrm>
            <a:off x="5010150" y="3495675"/>
            <a:ext cx="228600" cy="38100"/>
          </a:xfrm>
          <a:prstGeom prst="rect">
            <a:avLst/>
          </a:prstGeom>
          <a:solidFill>
            <a:srgbClr val="16815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8B04F2D-6D88-4C55-A327-351C4F01DE75}"/>
              </a:ext>
            </a:extLst>
          </p:cNvPr>
          <p:cNvSpPr>
            <a:spLocks noGrp="1"/>
          </p:cNvSpPr>
          <p:nvPr/>
        </p:nvSpPr>
        <p:spPr>
          <a:xfrm>
            <a:off x="5810250" y="1952625"/>
            <a:ext cx="952500" cy="666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ctr">
              <a:lnSpc>
                <a:spcPct val="115000"/>
              </a:lnSpc>
              <a:buNone/>
              <a:defRPr sz="40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40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3</a:t>
            </a:r>
          </a:p>
        </p:txBody>
      </p:sp>
      <p:sp>
        <p:nvSpPr>
          <p:cNvPr id="14" name="圆角矩形 13">
            <a:extLst>
              <a:ext uri="{FF2B5EF4-FFF2-40B4-BE49-F238E27FC236}">
                <a16:creationId xmlns:a16="http://schemas.microsoft.com/office/drawing/2014/main" id="{4B972612-803D-4894-B6FC-CD48CF1E6289}"/>
              </a:ext>
            </a:extLst>
          </p:cNvPr>
          <p:cNvSpPr>
            <a:spLocks noGrp="1"/>
          </p:cNvSpPr>
          <p:nvPr/>
        </p:nvSpPr>
        <p:spPr>
          <a:xfrm>
            <a:off x="5238750" y="2857500"/>
            <a:ext cx="2095500" cy="1428750"/>
          </a:xfrm>
          <a:prstGeom prst="roundRect">
            <a:avLst>
              <a:gd name="adj" fmla="val 13333"/>
            </a:avLst>
          </a:prstGeom>
          <a:solidFill>
            <a:srgbClr val="D7EEE4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4C47963-CDB6-48EC-A919-6D8191D6C8CA}"/>
              </a:ext>
            </a:extLst>
          </p:cNvPr>
          <p:cNvSpPr>
            <a:spLocks noGrp="1"/>
          </p:cNvSpPr>
          <p:nvPr/>
        </p:nvSpPr>
        <p:spPr>
          <a:xfrm>
            <a:off x="5410200" y="3143250"/>
            <a:ext cx="1752600" cy="857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ctr">
              <a:lnSpc>
                <a:spcPct val="115000"/>
              </a:lnSpc>
              <a:buNone/>
              <a:defRPr sz="2325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规划与执行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1EE0D47-52B8-4FD4-940D-C4B475E4D791}"/>
              </a:ext>
            </a:extLst>
          </p:cNvPr>
          <p:cNvSpPr>
            <a:spLocks noGrp="1"/>
          </p:cNvSpPr>
          <p:nvPr/>
        </p:nvSpPr>
        <p:spPr>
          <a:xfrm>
            <a:off x="7334250" y="3495675"/>
            <a:ext cx="228600" cy="38100"/>
          </a:xfrm>
          <a:prstGeom prst="rect">
            <a:avLst/>
          </a:prstGeom>
          <a:solidFill>
            <a:srgbClr val="16815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044EB81-F186-4CBD-B8EC-F22CC82BD6BE}"/>
              </a:ext>
            </a:extLst>
          </p:cNvPr>
          <p:cNvSpPr>
            <a:spLocks noGrp="1"/>
          </p:cNvSpPr>
          <p:nvPr/>
        </p:nvSpPr>
        <p:spPr>
          <a:xfrm>
            <a:off x="8134350" y="1952625"/>
            <a:ext cx="952500" cy="666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ctr">
              <a:lnSpc>
                <a:spcPct val="115000"/>
              </a:lnSpc>
              <a:buNone/>
              <a:defRPr sz="40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40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4</a:t>
            </a:r>
          </a:p>
        </p:txBody>
      </p:sp>
      <p:sp>
        <p:nvSpPr>
          <p:cNvPr id="18" name="圆角矩形 17">
            <a:extLst>
              <a:ext uri="{FF2B5EF4-FFF2-40B4-BE49-F238E27FC236}">
                <a16:creationId xmlns:a16="http://schemas.microsoft.com/office/drawing/2014/main" id="{25301CD9-F8CE-4428-B0AA-ECB5EDA447CE}"/>
              </a:ext>
            </a:extLst>
          </p:cNvPr>
          <p:cNvSpPr>
            <a:spLocks noGrp="1"/>
          </p:cNvSpPr>
          <p:nvPr/>
        </p:nvSpPr>
        <p:spPr>
          <a:xfrm>
            <a:off x="7562850" y="2857500"/>
            <a:ext cx="2095500" cy="1428750"/>
          </a:xfrm>
          <a:prstGeom prst="roundRect">
            <a:avLst>
              <a:gd name="adj" fmla="val 13333"/>
            </a:avLst>
          </a:prstGeom>
          <a:solidFill>
            <a:srgbClr val="F5FAF8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9515E27-F7A7-4436-BE80-86A243AE0D50}"/>
              </a:ext>
            </a:extLst>
          </p:cNvPr>
          <p:cNvSpPr>
            <a:spLocks noGrp="1"/>
          </p:cNvSpPr>
          <p:nvPr/>
        </p:nvSpPr>
        <p:spPr>
          <a:xfrm>
            <a:off x="7734300" y="3143250"/>
            <a:ext cx="1752600" cy="857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ctr">
              <a:lnSpc>
                <a:spcPct val="115000"/>
              </a:lnSpc>
              <a:buNone/>
              <a:defRPr sz="2325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使用工具验证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4852DC5-8271-4CC6-B1B7-98D6EAC7EF74}"/>
              </a:ext>
            </a:extLst>
          </p:cNvPr>
          <p:cNvSpPr>
            <a:spLocks noGrp="1"/>
          </p:cNvSpPr>
          <p:nvPr/>
        </p:nvSpPr>
        <p:spPr>
          <a:xfrm>
            <a:off x="9658350" y="3495675"/>
            <a:ext cx="228600" cy="38100"/>
          </a:xfrm>
          <a:prstGeom prst="rect">
            <a:avLst/>
          </a:prstGeom>
          <a:solidFill>
            <a:srgbClr val="16815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6377971-2363-4839-B3AD-1DC61B7BF81D}"/>
              </a:ext>
            </a:extLst>
          </p:cNvPr>
          <p:cNvSpPr>
            <a:spLocks noGrp="1"/>
          </p:cNvSpPr>
          <p:nvPr/>
        </p:nvSpPr>
        <p:spPr>
          <a:xfrm>
            <a:off x="10458450" y="1952625"/>
            <a:ext cx="952500" cy="666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ctr">
              <a:lnSpc>
                <a:spcPct val="115000"/>
              </a:lnSpc>
              <a:buNone/>
              <a:defRPr sz="40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40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5</a:t>
            </a:r>
          </a:p>
        </p:txBody>
      </p:sp>
      <p:sp>
        <p:nvSpPr>
          <p:cNvPr id="22" name="圆角矩形 21">
            <a:extLst>
              <a:ext uri="{FF2B5EF4-FFF2-40B4-BE49-F238E27FC236}">
                <a16:creationId xmlns:a16="http://schemas.microsoft.com/office/drawing/2014/main" id="{26AA9304-32B0-4B69-A50C-E113BEB8F761}"/>
              </a:ext>
            </a:extLst>
          </p:cNvPr>
          <p:cNvSpPr>
            <a:spLocks noGrp="1"/>
          </p:cNvSpPr>
          <p:nvPr/>
        </p:nvSpPr>
        <p:spPr>
          <a:xfrm>
            <a:off x="9886950" y="2857500"/>
            <a:ext cx="2095500" cy="1428750"/>
          </a:xfrm>
          <a:prstGeom prst="roundRect">
            <a:avLst>
              <a:gd name="adj" fmla="val 13333"/>
            </a:avLst>
          </a:prstGeom>
          <a:solidFill>
            <a:srgbClr val="F5FAF8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9B9B0B4-DD38-4A46-9A88-A0EA68E3F32A}"/>
              </a:ext>
            </a:extLst>
          </p:cNvPr>
          <p:cNvSpPr>
            <a:spLocks noGrp="1"/>
          </p:cNvSpPr>
          <p:nvPr/>
        </p:nvSpPr>
        <p:spPr>
          <a:xfrm>
            <a:off x="10058400" y="3143250"/>
            <a:ext cx="1752600" cy="857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ctr">
              <a:lnSpc>
                <a:spcPct val="115000"/>
              </a:lnSpc>
              <a:buNone/>
              <a:defRPr sz="2325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审查结果与风险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ABD1496-E256-41A5-86C3-940DCB773F83}"/>
              </a:ext>
            </a:extLst>
          </p:cNvPr>
          <p:cNvSpPr>
            <a:spLocks noGrp="1"/>
          </p:cNvSpPr>
          <p:nvPr/>
        </p:nvSpPr>
        <p:spPr>
          <a:xfrm>
            <a:off x="704850" y="5095875"/>
            <a:ext cx="10782300" cy="7620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ctr">
              <a:lnSpc>
                <a:spcPct val="115000"/>
              </a:lnSpc>
              <a:buNone/>
              <a:defRPr sz="240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这是一个可循环的工作过程：审查发现问题后，重新补充任务或上下文</a:t>
            </a:r>
          </a:p>
        </p:txBody>
      </p:sp>
    </p:spTree>
    <p:extLst>
      <p:ext uri="{BB962C8B-B14F-4D97-AF65-F5344CB8AC3E}">
        <p14:creationId xmlns:p14="http://schemas.microsoft.com/office/powerpoint/2010/main" val="75274870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5C73290C-0629-48B7-B3EC-A91F808156F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B6B4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5B088A7-5901-4D36-9141-91388C3A8E5A}"/>
              </a:ext>
            </a:extLst>
          </p:cNvPr>
          <p:cNvSpPr>
            <a:spLocks noGrp="1"/>
          </p:cNvSpPr>
          <p:nvPr/>
        </p:nvSpPr>
        <p:spPr>
          <a:xfrm>
            <a:off x="609600" y="333375"/>
            <a:ext cx="4572000" cy="3238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5000"/>
              </a:lnSpc>
              <a:buNone/>
              <a:defRPr sz="20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07  课程框架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DE56E57-CB55-4649-AB92-D94E0641A431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10972800" cy="590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5000"/>
              </a:lnSpc>
              <a:buNone/>
              <a:defRPr sz="330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课程项目：数据结构代码库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6636584-6255-4841-8547-33F8E8E5977D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19050"/>
          </a:xfrm>
          <a:prstGeom prst="rect">
            <a:avLst/>
          </a:prstGeom>
          <a:solidFill>
            <a:srgbClr val="BBD9C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459CE6A-E964-4DD8-BF68-EA7B0C21EBAC}"/>
              </a:ext>
            </a:extLst>
          </p:cNvPr>
          <p:cNvSpPr>
            <a:spLocks noGrp="1"/>
          </p:cNvSpPr>
          <p:nvPr/>
        </p:nvSpPr>
        <p:spPr>
          <a:xfrm>
            <a:off x="876300" y="1695450"/>
            <a:ext cx="10439400" cy="9048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ctr">
              <a:lnSpc>
                <a:spcPct val="115000"/>
              </a:lnSpc>
              <a:buNone/>
              <a:defRPr sz="285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85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栈、队列和链表具有清楚的接口与边界条件，适合观察 Agent 的完整工作过程。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E1DE0A6-F9F3-46DC-985E-68BC6D46ECEB}"/>
              </a:ext>
            </a:extLst>
          </p:cNvPr>
          <p:cNvSpPr>
            <a:spLocks noGrp="1"/>
          </p:cNvSpPr>
          <p:nvPr/>
        </p:nvSpPr>
        <p:spPr>
          <a:xfrm>
            <a:off x="904875" y="2905125"/>
            <a:ext cx="1428750" cy="4953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l">
              <a:lnSpc>
                <a:spcPct val="115000"/>
              </a:lnSpc>
              <a:buNone/>
              <a:defRPr sz="25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读取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25C9280-9EDC-48BD-9650-9D0F47667F4F}"/>
              </a:ext>
            </a:extLst>
          </p:cNvPr>
          <p:cNvSpPr>
            <a:spLocks noGrp="1"/>
          </p:cNvSpPr>
          <p:nvPr/>
        </p:nvSpPr>
        <p:spPr>
          <a:xfrm>
            <a:off x="2476500" y="2905125"/>
            <a:ext cx="3476625" cy="4953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l">
              <a:lnSpc>
                <a:spcPct val="115000"/>
              </a:lnSpc>
              <a:buNone/>
              <a:defRPr sz="210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理解目录、接口和现有实现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DA61A3B-12E3-421F-92C3-D683B28E3C7D}"/>
              </a:ext>
            </a:extLst>
          </p:cNvPr>
          <p:cNvSpPr>
            <a:spLocks noGrp="1"/>
          </p:cNvSpPr>
          <p:nvPr/>
        </p:nvSpPr>
        <p:spPr>
          <a:xfrm>
            <a:off x="904875" y="3590925"/>
            <a:ext cx="1428750" cy="4953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l">
              <a:lnSpc>
                <a:spcPct val="115000"/>
              </a:lnSpc>
              <a:buNone/>
              <a:defRPr sz="25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修改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42D8D06-4639-406C-B6B8-16141402E2AA}"/>
              </a:ext>
            </a:extLst>
          </p:cNvPr>
          <p:cNvSpPr>
            <a:spLocks noGrp="1"/>
          </p:cNvSpPr>
          <p:nvPr/>
        </p:nvSpPr>
        <p:spPr>
          <a:xfrm>
            <a:off x="2476500" y="3590925"/>
            <a:ext cx="3476625" cy="4953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l">
              <a:lnSpc>
                <a:spcPct val="115000"/>
              </a:lnSpc>
              <a:buNone/>
              <a:defRPr sz="210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修复错误或补全明确功能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33308F2-56CC-4EE0-BBFC-A149F59A89DF}"/>
              </a:ext>
            </a:extLst>
          </p:cNvPr>
          <p:cNvSpPr>
            <a:spLocks noGrp="1"/>
          </p:cNvSpPr>
          <p:nvPr/>
        </p:nvSpPr>
        <p:spPr>
          <a:xfrm>
            <a:off x="904875" y="4276725"/>
            <a:ext cx="1428750" cy="4953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l">
              <a:lnSpc>
                <a:spcPct val="115000"/>
              </a:lnSpc>
              <a:buNone/>
              <a:defRPr sz="25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测试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7AB4672-6281-4C48-B120-9C9EBF4ECD68}"/>
              </a:ext>
            </a:extLst>
          </p:cNvPr>
          <p:cNvSpPr>
            <a:spLocks noGrp="1"/>
          </p:cNvSpPr>
          <p:nvPr/>
        </p:nvSpPr>
        <p:spPr>
          <a:xfrm>
            <a:off x="2476500" y="4276725"/>
            <a:ext cx="3476625" cy="4953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l">
              <a:lnSpc>
                <a:spcPct val="115000"/>
              </a:lnSpc>
              <a:buNone/>
              <a:defRPr sz="210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覆盖正常行为和边界情况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62E7188-2A71-4C7D-AB66-B105374D3975}"/>
              </a:ext>
            </a:extLst>
          </p:cNvPr>
          <p:cNvSpPr>
            <a:spLocks noGrp="1"/>
          </p:cNvSpPr>
          <p:nvPr/>
        </p:nvSpPr>
        <p:spPr>
          <a:xfrm>
            <a:off x="904875" y="4962525"/>
            <a:ext cx="1428750" cy="4953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l">
              <a:lnSpc>
                <a:spcPct val="115000"/>
              </a:lnSpc>
              <a:buNone/>
              <a:defRPr sz="25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审查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24C7D43-76EF-4F29-8776-F9B607D3FAF7}"/>
              </a:ext>
            </a:extLst>
          </p:cNvPr>
          <p:cNvSpPr>
            <a:spLocks noGrp="1"/>
          </p:cNvSpPr>
          <p:nvPr/>
        </p:nvSpPr>
        <p:spPr>
          <a:xfrm>
            <a:off x="2476500" y="4962525"/>
            <a:ext cx="3476625" cy="4953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l">
              <a:lnSpc>
                <a:spcPct val="115000"/>
              </a:lnSpc>
              <a:buNone/>
              <a:defRPr sz="210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检查范围、差异和运行证据</a:t>
            </a:r>
          </a:p>
        </p:txBody>
      </p:sp>
      <p:pic>
        <p:nvPicPr>
          <p:cNvPr id="29" name="图片 2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191250" y="2884094"/>
            <a:ext cx="5334000" cy="2280438"/>
          </a:xfrm>
          <a:prstGeom prst="rect">
            <a:avLst/>
          </a:prstGeom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CB78183B-4C35-4C99-8517-0306210EFD8D}"/>
              </a:ext>
            </a:extLst>
          </p:cNvPr>
          <p:cNvSpPr>
            <a:spLocks noGrp="1"/>
          </p:cNvSpPr>
          <p:nvPr/>
        </p:nvSpPr>
        <p:spPr>
          <a:xfrm>
            <a:off x="685800" y="5810250"/>
            <a:ext cx="10820400" cy="42862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ctr">
              <a:lnSpc>
                <a:spcPct val="115000"/>
              </a:lnSpc>
              <a:buNone/>
              <a:defRPr sz="22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后续各周使用同一类项目场景，逐步增加协作难度</a:t>
            </a:r>
          </a:p>
        </p:txBody>
      </p:sp>
    </p:spTree>
    <p:extLst>
      <p:ext uri="{BB962C8B-B14F-4D97-AF65-F5344CB8AC3E}">
        <p14:creationId xmlns:p14="http://schemas.microsoft.com/office/powerpoint/2010/main" val="175089881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6B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5C691B0B-A2AA-49E1-B3EB-5F3B01E454DE}"/>
              </a:ext>
            </a:extLst>
          </p:cNvPr>
          <p:cNvSpPr>
            <a:spLocks noGrp="1"/>
          </p:cNvSpPr>
          <p:nvPr/>
        </p:nvSpPr>
        <p:spPr>
          <a:xfrm>
            <a:off x="742950" y="647700"/>
            <a:ext cx="10668000" cy="6858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Autofit/>
          </a:bodyPr>
          <a:lstStyle/>
          <a:p>
            <a:pPr algn="l">
              <a:lnSpc>
                <a:spcPct val="115000"/>
              </a:lnSpc>
              <a:buNone/>
              <a:defRPr sz="37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7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本章要点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D9706D7-0E53-4B5F-9531-4D63223E1DF1}"/>
              </a:ext>
            </a:extLst>
          </p:cNvPr>
          <p:cNvSpPr>
            <a:spLocks noGrp="1"/>
          </p:cNvSpPr>
          <p:nvPr/>
        </p:nvSpPr>
        <p:spPr>
          <a:xfrm>
            <a:off x="762000" y="1571625"/>
            <a:ext cx="10668000" cy="38100"/>
          </a:xfrm>
          <a:prstGeom prst="rect">
            <a:avLst/>
          </a:prstGeom>
          <a:solidFill>
            <a:srgbClr val="D7EEE4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CA69348-DD38-430D-BE25-EB276ED30F20}"/>
              </a:ext>
            </a:extLst>
          </p:cNvPr>
          <p:cNvSpPr>
            <a:spLocks noGrp="1"/>
          </p:cNvSpPr>
          <p:nvPr/>
        </p:nvSpPr>
        <p:spPr>
          <a:xfrm>
            <a:off x="800100" y="2238375"/>
            <a:ext cx="10591800" cy="8001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ctr">
              <a:lnSpc>
                <a:spcPct val="115000"/>
              </a:lnSpc>
              <a:buNone/>
              <a:defRPr sz="31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编码 Agent = 模型 + 上下文 + 工具 + 工作循环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D1633E5-E96E-4E34-A1E3-C4535EDF5D80}"/>
              </a:ext>
            </a:extLst>
          </p:cNvPr>
          <p:cNvSpPr>
            <a:spLocks noGrp="1"/>
          </p:cNvSpPr>
          <p:nvPr/>
        </p:nvSpPr>
        <p:spPr>
          <a:xfrm>
            <a:off x="800100" y="3476625"/>
            <a:ext cx="10591800" cy="8001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ctr">
              <a:lnSpc>
                <a:spcPct val="115000"/>
              </a:lnSpc>
              <a:buNone/>
              <a:defRPr sz="31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任务完成 = 修改结果 + 运行证据 + 人工审查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90F469A-176A-4EAA-8FE7-9FA3891F79D7}"/>
              </a:ext>
            </a:extLst>
          </p:cNvPr>
          <p:cNvSpPr>
            <a:spLocks noGrp="1"/>
          </p:cNvSpPr>
          <p:nvPr/>
        </p:nvSpPr>
        <p:spPr>
          <a:xfrm>
            <a:off x="1143000" y="4953000"/>
            <a:ext cx="9906000" cy="857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Autofit/>
          </a:bodyPr>
          <a:lstStyle/>
          <a:p>
            <a:pPr algn="ctr">
              <a:lnSpc>
                <a:spcPct val="115000"/>
              </a:lnSpc>
              <a:buNone/>
              <a:defRPr sz="2550" b="0">
                <a:solidFill>
                  <a:srgbClr val="D7EEE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0">
                <a:solidFill>
                  <a:srgbClr val="D7EEE4"/>
                </a:solidFill>
                <a:latin typeface="Hiragino Sans GB"/>
                <a:ea typeface="Hiragino Sans GB"/>
                <a:cs typeface="Hiragino Sans GB"/>
              </a:rPr>
              <a:t>工具形态可以不同，人始终负责目标、授权、审查和最终验收。</a:t>
            </a:r>
          </a:p>
        </p:txBody>
      </p:sp>
    </p:spTree>
    <p:extLst>
      <p:ext uri="{BB962C8B-B14F-4D97-AF65-F5344CB8AC3E}">
        <p14:creationId xmlns:p14="http://schemas.microsoft.com/office/powerpoint/2010/main" val="2145073013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1690</Words>
  <Application>Microsoft Macintosh PowerPoint</Application>
  <DocSecurity>0</DocSecurity>
  <PresentationFormat>宽屏</PresentationFormat>
  <Paragraphs>473</Paragraphs>
  <Slides>33</Slides>
  <Notes>33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33</vt:i4>
      </vt:variant>
    </vt:vector>
  </HeadingPairs>
  <TitlesOfParts>
    <vt:vector size="36" baseType="lpstr">
      <vt:lpstr>Hiragino Sans GB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YIRONG REN</cp:lastModifiedBy>
  <cp:revision>2</cp:revision>
  <dcterms:created xsi:type="dcterms:W3CDTF">2026-09-20T08:03:12Z</dcterms:created>
  <dcterms:modified xsi:type="dcterms:W3CDTF">2026-09-20T08:46:22Z</dcterms:modified>
</cp:coreProperties>
</file>