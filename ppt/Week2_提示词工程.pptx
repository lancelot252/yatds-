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6"/>
  </p:normalViewPr>
  <p:slideViewPr>
    <p:cSldViewPr snapToGrid="0">
      <p:cViewPr varScale="1">
        <p:scale>
          <a:sx n="109" d="100"/>
          <a:sy n="109" d="100"/>
        </p:scale>
        <p:origin x="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本周学习如何把一次编码任务说清楚。课程重点不是记住一个固定模板，而是判断哪些信息会影响 Agent 的读取范围、修改行为、交付文件和验收结果。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介绍本周的六个部分。前三部分建立 Prompt 的基本结构，中间学习 Role、Few-shot 和 Step-by-step，后半部分把输出落到 Markdown、JSON、表格和代码文件，最后通过差异与验证改进 Prompt。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说明本周只学习如何表达一次任务。已知路径时可以直接写出文件名，不知道路径时可以先要求 Agent 检查工作区并定位文件。不要提前展开后续周次的完整方法。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Prompt 可以是一句简短指令，也可以是一份结构完整的任务说明。关键在于 Agent 能否从中确定要对工作区做什么，以及什么状态才算完成。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右侧 Prompt 增加了读取范围、目标方法、接口限制、边界行为和文档交付。这些信息会改变 Agent 的实际操作，因此应在任务中明确。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Prompt Engineering 的基本过程是提交初始要求，检查 Agent 实际修改了哪些文件和行为，再针对具体偏差修改 Prompt。如果目标文件已经正确，就不需要重写所有指令。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两个任务需要的信息量不同。拼写修正已经有明确路径和替换内容，而跨文件任务还要说明读取范围、比较维度、目标文件和修改边界。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这四项都会直接改变 Agent 的工作结果。任务动词决定是否修改文件，代码接口决定项目怎样调用新行为，边界条件决定异常输入的结果，交付形式决定修改落在什么位置。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‘看看’无法说明是解释、诊断、修改还是审查。改进后的 Prompt 使用读取、检查和汇报等明确动词，并写明不允许修改文件。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如果只说‘写一个函数’，Agent 需要自行猜测目标文件、函数名、参数、返回值和是否修改原列表。清楚的签名和数据行为可以保持项目中的调用关系。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空输入、重复值和未找到都可能有多种合理实现。如果这些行为会影响使用者，就应在 Prompt 中明确。不清楚时，可以先让 Agent 列出边界情况，再由人确定。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同一个代码问题可以是只读分析，也可以直接修改工作区。如果交付要求不清楚，Agent 可能只在消息中给出代码，或创建用户没有要求的说明文件。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五部分结构用于检查 Prompt 是否缺失会影响结果的信息。简单任务可以省略不影响结果的部分，熟练后也可以把五项合并为一段自然语言。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背景应说明项目环境、目录位置、现有功能和相关约定。判断标准很简单：这条信息是否会改变 Agent 的读取范围、实现方式或验收结果。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目标要说明对工作区完成什么。优先使用读取、定位、补全、修改、创建、更新和检查等具体动词。‘弄好’没有说明行为和完成标准。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工作区中已有文件时，直接给出路径通常比把整个文件复制到 Prompt 更稳定。样例用来补充抽象规则中的细节，例如重复元素时应返回第一个索引。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输出不只是消息中的文字。对编码 Agent 来说，主要交付物通常是工作区中的文件变化。指定路径、文件结构和汇报内容，可以减少 Agent 自行选择交付方式。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约束用于保护已有接口、限制修改范围并排除不可接受的方案。约束之间不能相互冲突。如果只允许修改一个函数体，就不能同时要求重构整个模块。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按顺序解释每一部分。背景限定项目和文件，目标给出行为，输入补充边界情况，输出指定交付文件，约束保护接口和修改范围。这是检查形式，不是必须永远保留的写作模板。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熟练后可以不再使用五个标题，只要 Agent 仍然能找到目标、输入、输出和约束。比较上一页和本页，两者的关键信息相同，差异只是组织方式。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Role Prompting 不是让 Agent 假装成一个人，而是用一个与任务相关的职责来限定检查重点和维护标准。角色必须与目标文件、任务行为和输出方式一起出现。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两个角色的读取对象、检查标准和交付文件不同。角色只有与目标、路径和交付方式结合时才能产生实际约束。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‘最厉害’和‘完美’没有转化为可检查的标准。有效角色应说明维护对象和质量标准，同时仍然要写清路径、行为、范围和交付。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Few-shot Prompting 可以直接在 Prompt 中提供少量样例，也可以让 Agent 读取工作区中的现有文件作为格式参考。示例不是越多越好，关键是相关、多样和正确。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示例应当与真实交付的文件类型和表达方式相同。README 的介绍段无法准确说明 CHANGELOG 条目的格式，而现有的变更条目可以直接告诉 Agent 需要模仿什么。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如果所有示例都只是奇数，Agent 可能把偶然特征当作规则。增加一个偶数示例可以说明分类边界。多样不意味着大量堆叠，而是覆盖会影响判断的主要类别。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Agent 会同时模仿示例的格式和内容。如果格式正确但结论错误，Few-shot 反而会稳定地传递错误。所以把某个文件当作示例之前，必须先校对。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Step-by-step 适合文件操作有依赖关系的任务。例如先确认接口，再修改实现，最后同步 README。它的目的是减少遗漏和顺序错误。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这个任务中，复杂度结论依赖对源文件的阅读，文档中的表格又依赖前面的结论。分步提示把这种依赖关系显示出来，同时清楚写明不能修改源代码。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简单任务已经有明确目标、路径和范围时，额外的步骤不会增加有效信息，反而会让 Prompt 更机械。只在顺序会影响结果时才使用分步提示。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用户需要的是可检查的文件变化、简洁的修改摘要和必要的验证结果。分步提示应要求可观察操作，无需让 Agent 输出冗长的内部思考。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输出格式是五部分中‘输出’的进一步规定。不只要说‘结构化输出’，还要说明目标文件、格式类型、内部结构、排列顺序和允许修改的范围。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Markdown 的价值是建立阅读层级。只说‘使用 Markdown’还不足够，因为 Agent 仍然需要自行决定目标文件、标题结构、列表类型和代码块语言。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JSON 面向程序读取，因此字段名和类型必须稳定。如果需要说明字段含义，应在文档中解释，或把说明设计成合法的字符串字段。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表格的优势是横向对齐相同属性。如果每个对象需要完整代码或多段解释，就不应把所有内容强行塞进表格。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代码输出要能直接进入现有项目。如果是维护任务，应要求 Agent 先读取目标文件，保持已经被调用的接口，并写明不能扩大的修改范围。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选择格式时先看交付物的使用者和下一步操作。文档供人阅读，JSON 供程序解析，表格用于比较，代码直接进入项目执行。不要因为某种格式更‘结构化’就默认选它。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这个任务的目标文件是 Markdown，文件内部又同时使用列表、代码块和表格。组合使用格式时，要写清主文件、每种嵌入格式的位置和用途，以及整体修改范围。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七个步骤按从任务核心到质量检查的顺序排列。先确定目标和必要背景，再补充输入、输出和约束。只有当角色、示例或分步会实际改善结果时，才按需加入。</a:t>
            </a:r>
          </a:p>
          <a:p>
            <a:endParaRPr/>
          </a:p>
          <a:p>
            <a:r>
              <a:t>资料来源（访问日期：2026-09-20）：</a:t>
            </a:r>
          </a:p>
          <a:p>
            <a:r>
              <a:t>OpenAI Codex best practices: https://developers.openai.com/guides/best-practices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设计 Prompt 时先不要急着加入角色或复杂格式。先用一句话锁定主要目标，再加入会影响实现的版本、位置和接口边界，最后指定 Agent 需要读取的文件与关键输入特征。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输出要求说明文件变化和完成汇报，约束排除不可接受的实现方式。Role、Few-shot 和 Step-by-step 都是可选工具。如果 Agent 已能确定目标文件、行为、交付位置和验收方式，就不必把所有技巧都加进 Prompt。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四项检查可以在发送 Prompt 前快速完成。清楚关注 Agent 能否开始执行，相关关注是否存在噪声，具体关注是否能检查结果，一致关注指令之间是否相互冲突。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改进 Prompt 的关键是每次增加一类真正缺失的信息。V2 解决位置和基本行为，V3 解决输入与边界，V4 控制交付文件和修改范围。这种记录方式有助于确定哪项修改真正改善了结果。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这三类问题都会让 Agent 在开始前猜测关键决定。改进时分别补充可验收的行为、会改变实现的项目条件，以及可定位的真实输入。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输出不清会导致交付位置和文件结构不稳定，约束缺失会导致接口或修改范围变化。信息过多不会自动提高准确性，无关内容和冲突要求反而会降低稳定性。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示例、角色和分步都不是默认必需。只在它们能解决具体问题时才加入。格式要求应转化为目标文件、标题、字段、列和顺序等可检查条件。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‘改得不对’无法帮助 Agent 确定需要修正什么。有效反馈应说明当前实现在哪个边界不符合预期，并明确要保留的接口和已正确修改。逐步改进可以让每一次反馈的效果更容易检查。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这张检查表用于发送任务前的快速核对。不要把十二个问题全部复制到 Prompt 中。简单任务只需要清楚目标、范围和完成标准，复杂任务再逐项检查是否缺失关键信息。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回顾本周三个核心。第一，五部分结构是检查清单，目的是让 Agent 能确定任务和边界。第二，Role、Few-shot 和 Step-by-step 只在它们解决具体问题时才加入。第三，Prompt 质量要通过实际文件变化、运行证据和人工审查判断。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6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015E412-BD07-4EFA-910B-C4852E62BC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7EEE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5A8922-67BD-4BD4-BEA9-407482A8569C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152400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5400" b="1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DC058E-1EAE-48D9-9ED4-06D92B06DA32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5334000" cy="857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提示词工程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EA2E3F-1738-4A5B-A21A-DE3695CF29FD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1714500" cy="57150"/>
          </a:xfrm>
          <a:prstGeom prst="rect">
            <a:avLst/>
          </a:prstGeom>
          <a:solidFill>
            <a:srgbClr val="D7EEE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8BCBD1-911F-4700-A9C0-24BDB4130C4F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5334000" cy="1000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25000"/>
              </a:lnSpc>
              <a:buNone/>
              <a:defRPr sz="2475" b="0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rPr>
              <a:t>编码 Agent 的任务表达</a:t>
            </a:r>
          </a:p>
          <a:p>
            <a:pPr algn="l">
              <a:lnSpc>
                <a:spcPct val="125000"/>
              </a:lnSpc>
              <a:buNone/>
              <a:defRPr sz="2475" b="0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rPr>
              <a:t>与结果控制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697599-FE70-43F8-B461-818BFF638296}"/>
              </a:ext>
            </a:extLst>
          </p:cNvPr>
          <p:cNvSpPr>
            <a:spLocks noGrp="1"/>
          </p:cNvSpPr>
          <p:nvPr/>
        </p:nvSpPr>
        <p:spPr>
          <a:xfrm>
            <a:off x="742950" y="5381625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1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人机协作课程  ·  第二周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10250" y="1508125"/>
            <a:ext cx="59055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73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16979380-0E35-4517-903C-BFFAA2F51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4F6D83-5582-4510-BC5A-77841E571B15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WEEK 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631F4A-D6F5-4B89-BA17-4900689ED97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本周学习路线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286FFF-2ED7-4407-B18C-6869F353E4F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9F6CDC-E32E-4FE4-AEC1-2294BB20B9AD}"/>
              </a:ext>
            </a:extLst>
          </p:cNvPr>
          <p:cNvSpPr>
            <a:spLocks noGrp="1"/>
          </p:cNvSpPr>
          <p:nvPr/>
        </p:nvSpPr>
        <p:spPr>
          <a:xfrm>
            <a:off x="904875" y="1857375"/>
            <a:ext cx="7620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468D27-8FDF-4CE2-A0B9-9E427AC99C3B}"/>
              </a:ext>
            </a:extLst>
          </p:cNvPr>
          <p:cNvSpPr>
            <a:spLocks noGrp="1"/>
          </p:cNvSpPr>
          <p:nvPr/>
        </p:nvSpPr>
        <p:spPr>
          <a:xfrm>
            <a:off x="904875" y="2505075"/>
            <a:ext cx="30480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0EE133-3D09-4E89-A197-4A6588D096B4}"/>
              </a:ext>
            </a:extLst>
          </p:cNvPr>
          <p:cNvSpPr>
            <a:spLocks noGrp="1"/>
          </p:cNvSpPr>
          <p:nvPr/>
        </p:nvSpPr>
        <p:spPr>
          <a:xfrm>
            <a:off x="904875" y="2790825"/>
            <a:ext cx="3048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基本概念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EF531F-2A1D-45A1-9115-A209CAE3ACD6}"/>
              </a:ext>
            </a:extLst>
          </p:cNvPr>
          <p:cNvSpPr>
            <a:spLocks noGrp="1"/>
          </p:cNvSpPr>
          <p:nvPr/>
        </p:nvSpPr>
        <p:spPr>
          <a:xfrm>
            <a:off x="4667250" y="1857375"/>
            <a:ext cx="7620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974CA4-E005-4D5C-BC8A-CD1A2DBC3459}"/>
              </a:ext>
            </a:extLst>
          </p:cNvPr>
          <p:cNvSpPr>
            <a:spLocks noGrp="1"/>
          </p:cNvSpPr>
          <p:nvPr/>
        </p:nvSpPr>
        <p:spPr>
          <a:xfrm>
            <a:off x="4667250" y="2505075"/>
            <a:ext cx="30480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156ED3-1CB7-48DF-AE6B-80CAF88BE95A}"/>
              </a:ext>
            </a:extLst>
          </p:cNvPr>
          <p:cNvSpPr>
            <a:spLocks noGrp="1"/>
          </p:cNvSpPr>
          <p:nvPr/>
        </p:nvSpPr>
        <p:spPr>
          <a:xfrm>
            <a:off x="4667250" y="2790825"/>
            <a:ext cx="3048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Prompt 的作用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201C05-C900-4286-9342-9DCFDDE877AD}"/>
              </a:ext>
            </a:extLst>
          </p:cNvPr>
          <p:cNvSpPr>
            <a:spLocks noGrp="1"/>
          </p:cNvSpPr>
          <p:nvPr/>
        </p:nvSpPr>
        <p:spPr>
          <a:xfrm>
            <a:off x="8429625" y="1857375"/>
            <a:ext cx="7620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74C598-FB4E-4D8D-B2B8-4858E47E9CB0}"/>
              </a:ext>
            </a:extLst>
          </p:cNvPr>
          <p:cNvSpPr>
            <a:spLocks noGrp="1"/>
          </p:cNvSpPr>
          <p:nvPr/>
        </p:nvSpPr>
        <p:spPr>
          <a:xfrm>
            <a:off x="8429625" y="2505075"/>
            <a:ext cx="30480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B8ED0B-6A09-40FC-AFB2-AA3134E8B0B8}"/>
              </a:ext>
            </a:extLst>
          </p:cNvPr>
          <p:cNvSpPr>
            <a:spLocks noGrp="1"/>
          </p:cNvSpPr>
          <p:nvPr/>
        </p:nvSpPr>
        <p:spPr>
          <a:xfrm>
            <a:off x="8429625" y="2790825"/>
            <a:ext cx="3048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五个组成部分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B5EF12-9288-4731-8A5E-79E711498000}"/>
              </a:ext>
            </a:extLst>
          </p:cNvPr>
          <p:cNvSpPr>
            <a:spLocks noGrp="1"/>
          </p:cNvSpPr>
          <p:nvPr/>
        </p:nvSpPr>
        <p:spPr>
          <a:xfrm>
            <a:off x="904875" y="3810000"/>
            <a:ext cx="7620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02675F6-AE5D-4B37-8C88-6B888B09262D}"/>
              </a:ext>
            </a:extLst>
          </p:cNvPr>
          <p:cNvSpPr>
            <a:spLocks noGrp="1"/>
          </p:cNvSpPr>
          <p:nvPr/>
        </p:nvSpPr>
        <p:spPr>
          <a:xfrm>
            <a:off x="904875" y="4457700"/>
            <a:ext cx="30480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AF6A10-B7BF-4A6B-9534-B19EF2196929}"/>
              </a:ext>
            </a:extLst>
          </p:cNvPr>
          <p:cNvSpPr>
            <a:spLocks noGrp="1"/>
          </p:cNvSpPr>
          <p:nvPr/>
        </p:nvSpPr>
        <p:spPr>
          <a:xfrm>
            <a:off x="904875" y="4743450"/>
            <a:ext cx="3048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三种提示方法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63DEBFF-E0CC-4EF9-8AA6-DAFBD77685FA}"/>
              </a:ext>
            </a:extLst>
          </p:cNvPr>
          <p:cNvSpPr>
            <a:spLocks noGrp="1"/>
          </p:cNvSpPr>
          <p:nvPr/>
        </p:nvSpPr>
        <p:spPr>
          <a:xfrm>
            <a:off x="4667250" y="3810000"/>
            <a:ext cx="7620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D2EA38-FD66-4873-9664-D04A245D78C9}"/>
              </a:ext>
            </a:extLst>
          </p:cNvPr>
          <p:cNvSpPr>
            <a:spLocks noGrp="1"/>
          </p:cNvSpPr>
          <p:nvPr/>
        </p:nvSpPr>
        <p:spPr>
          <a:xfrm>
            <a:off x="4667250" y="4457700"/>
            <a:ext cx="30480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A6CA2A-8D77-481A-86C9-7CF94509DD6F}"/>
              </a:ext>
            </a:extLst>
          </p:cNvPr>
          <p:cNvSpPr>
            <a:spLocks noGrp="1"/>
          </p:cNvSpPr>
          <p:nvPr/>
        </p:nvSpPr>
        <p:spPr>
          <a:xfrm>
            <a:off x="4667250" y="4743450"/>
            <a:ext cx="3048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四种输出格式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51C7A69-1DA0-4CAB-9A1F-31389C1F8038}"/>
              </a:ext>
            </a:extLst>
          </p:cNvPr>
          <p:cNvSpPr>
            <a:spLocks noGrp="1"/>
          </p:cNvSpPr>
          <p:nvPr/>
        </p:nvSpPr>
        <p:spPr>
          <a:xfrm>
            <a:off x="8429625" y="3810000"/>
            <a:ext cx="7620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5F16CF-E508-49C4-AFE8-90E4DF2573FD}"/>
              </a:ext>
            </a:extLst>
          </p:cNvPr>
          <p:cNvSpPr>
            <a:spLocks noGrp="1"/>
          </p:cNvSpPr>
          <p:nvPr/>
        </p:nvSpPr>
        <p:spPr>
          <a:xfrm>
            <a:off x="8429625" y="4457700"/>
            <a:ext cx="3048000" cy="47625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C69553-A4EE-45E3-AD2B-E3E237AFD3DC}"/>
              </a:ext>
            </a:extLst>
          </p:cNvPr>
          <p:cNvSpPr>
            <a:spLocks noGrp="1"/>
          </p:cNvSpPr>
          <p:nvPr/>
        </p:nvSpPr>
        <p:spPr>
          <a:xfrm>
            <a:off x="8429625" y="4743450"/>
            <a:ext cx="3048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设计、检查与改进</a:t>
            </a:r>
          </a:p>
        </p:txBody>
      </p:sp>
    </p:spTree>
    <p:extLst>
      <p:ext uri="{BB962C8B-B14F-4D97-AF65-F5344CB8AC3E}">
        <p14:creationId xmlns:p14="http://schemas.microsoft.com/office/powerpoint/2010/main" val="1526162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38DF24A-27C8-4E33-9FA5-A6BF9204BF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83F88D-EE37-4F86-AC21-649F523C6C21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00  章节导入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C04638-2AE1-4814-BA6B-116026DA2C2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本周边界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DF64BF-AE86-487D-808A-2B73F67C9FC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7BCE94-C99A-4C89-8876-B45F309A8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已知条件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6B361B-853D-4ED0-9C9A-1DA936E8E3E6}"/>
              </a:ext>
            </a:extLst>
          </p:cNvPr>
          <p:cNvSpPr>
            <a:spLocks noGrp="1"/>
          </p:cNvSpPr>
          <p:nvPr/>
        </p:nvSpPr>
        <p:spPr>
          <a:xfrm>
            <a:off x="89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9D9F89-5A76-4DFC-AC6A-3CD9EE1D5556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3113942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dirty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Agent </a:t>
            </a:r>
            <a:r>
              <a:rPr sz="2100" b="0" dirty="0" err="1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已打开课程工作区</a:t>
            </a:r>
            <a:endParaRPr sz="2100" b="0" dirty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dirty="0" err="1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可在授权范围内读写文件</a:t>
            </a:r>
            <a:endParaRPr sz="2100" b="0" dirty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16A657-C1C6-405C-A029-AE59672F3AEF}"/>
              </a:ext>
            </a:extLst>
          </p:cNvPr>
          <p:cNvSpPr>
            <a:spLocks noGrp="1"/>
          </p:cNvSpPr>
          <p:nvPr/>
        </p:nvSpPr>
        <p:spPr>
          <a:xfrm>
            <a:off x="449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本周聚焦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864DE0-D42E-42F1-BD7E-8EAB621E9FAA}"/>
              </a:ext>
            </a:extLst>
          </p:cNvPr>
          <p:cNvSpPr>
            <a:spLocks noGrp="1"/>
          </p:cNvSpPr>
          <p:nvPr/>
        </p:nvSpPr>
        <p:spPr>
          <a:xfrm>
            <a:off x="470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C012B6-F39D-49B3-912C-886D12888371}"/>
              </a:ext>
            </a:extLst>
          </p:cNvPr>
          <p:cNvSpPr>
            <a:spLocks noGrp="1"/>
          </p:cNvSpPr>
          <p:nvPr/>
        </p:nvSpPr>
        <p:spPr>
          <a:xfrm>
            <a:off x="4296508" y="3024920"/>
            <a:ext cx="3598984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dirty="0" err="1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写清一次文件任务</a:t>
            </a:r>
            <a:endParaRPr sz="2100" b="0" dirty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dirty="0" err="1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指定目标、范围、输出与验收</a:t>
            </a:r>
            <a:endParaRPr sz="2100" b="0" dirty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9B285B-199B-436C-B332-E27D2AFE24E5}"/>
              </a:ext>
            </a:extLst>
          </p:cNvPr>
          <p:cNvSpPr>
            <a:spLocks noGrp="1"/>
          </p:cNvSpPr>
          <p:nvPr/>
        </p:nvSpPr>
        <p:spPr>
          <a:xfrm>
            <a:off x="830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后续展开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BA7D6C-BDA3-4A89-9C42-9401BEE40949}"/>
              </a:ext>
            </a:extLst>
          </p:cNvPr>
          <p:cNvSpPr>
            <a:spLocks noGrp="1"/>
          </p:cNvSpPr>
          <p:nvPr/>
        </p:nvSpPr>
        <p:spPr>
          <a:xfrm>
            <a:off x="851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857581B-DA48-4E7B-8767-B426A1171468}"/>
              </a:ext>
            </a:extLst>
          </p:cNvPr>
          <p:cNvSpPr>
            <a:spLocks noGrp="1"/>
          </p:cNvSpPr>
          <p:nvPr/>
        </p:nvSpPr>
        <p:spPr>
          <a:xfrm>
            <a:off x="8363682" y="3048000"/>
            <a:ext cx="3313235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dirty="0" err="1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项目级上下文、工作流</a:t>
            </a:r>
            <a:endParaRPr sz="2100" b="0" dirty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dirty="0" err="1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工具调用、测试与代码审查</a:t>
            </a:r>
            <a:endParaRPr sz="2100" b="0" dirty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EC1ED7-E6CE-40A0-8098-77C81928E58D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Prompt 的效果会随模型、工作区和任务范围变化</a:t>
            </a:r>
          </a:p>
        </p:txBody>
      </p:sp>
    </p:spTree>
    <p:extLst>
      <p:ext uri="{BB962C8B-B14F-4D97-AF65-F5344CB8AC3E}">
        <p14:creationId xmlns:p14="http://schemas.microsoft.com/office/powerpoint/2010/main" val="866228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328F35D-0992-4E89-A77C-66AD0253BE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C7D22A-BF78-4889-862D-7F944507872E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  基本概念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E851F2-5CDA-4537-8937-A992A149314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Prompt 是什么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7CC337-174D-4727-8E76-23D1D6561AE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F8BA69-2375-45DE-A32A-A4A9F1D8BC59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Prompt 是用户交给编码 Agent 的任务说明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9515870-8C6F-4858-9232-FE8EF319EAD1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6931B7-602B-4B0F-BF06-41BCA5F8623D}"/>
              </a:ext>
            </a:extLst>
          </p:cNvPr>
          <p:cNvSpPr>
            <a:spLocks noGrp="1"/>
          </p:cNvSpPr>
          <p:nvPr/>
        </p:nvSpPr>
        <p:spPr>
          <a:xfrm>
            <a:off x="1752600" y="27051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 dirty="0" err="1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要读取的路径或工作区范围</a:t>
            </a:r>
            <a:endParaRPr sz="2250" b="0" dirty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B65610D-2CA1-471F-AE8D-BA005AC088E7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B920C4-FA28-483E-9A84-624942640015}"/>
              </a:ext>
            </a:extLst>
          </p:cNvPr>
          <p:cNvSpPr>
            <a:spLocks noGrp="1"/>
          </p:cNvSpPr>
          <p:nvPr/>
        </p:nvSpPr>
        <p:spPr>
          <a:xfrm>
            <a:off x="1752600" y="34290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 dirty="0" err="1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要修改、创建或检查的目标</a:t>
            </a:r>
            <a:endParaRPr sz="2250" b="0" dirty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D9D323C-761B-4006-BF65-CBAB576B06CF}"/>
              </a:ext>
            </a:extLst>
          </p:cNvPr>
          <p:cNvSpPr>
            <a:spLocks noGrp="1"/>
          </p:cNvSpPr>
          <p:nvPr/>
        </p:nvSpPr>
        <p:spPr>
          <a:xfrm>
            <a:off x="1428750" y="43434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4304B3-474E-4D31-AB57-63920E37C320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 dirty="0" err="1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期望行为、限制条件和交付方式</a:t>
            </a:r>
            <a:endParaRPr sz="2250" b="0" dirty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B99DB5A-992E-436B-9F11-22B7759879D7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7383FE-6991-4355-80CA-169E4EEEB885}"/>
              </a:ext>
            </a:extLst>
          </p:cNvPr>
          <p:cNvSpPr>
            <a:spLocks noGrp="1"/>
          </p:cNvSpPr>
          <p:nvPr/>
        </p:nvSpPr>
        <p:spPr>
          <a:xfrm>
            <a:off x="1752600" y="4772025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 dirty="0" err="1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完成后需要汇报的结果</a:t>
            </a:r>
            <a:endParaRPr sz="2250" b="0" dirty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AB9F94-ACBD-4E63-9983-1BB7DD3376E0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Prompt 的长度应服务于执行准确性</a:t>
            </a:r>
          </a:p>
        </p:txBody>
      </p:sp>
    </p:spTree>
    <p:extLst>
      <p:ext uri="{BB962C8B-B14F-4D97-AF65-F5344CB8AC3E}">
        <p14:creationId xmlns:p14="http://schemas.microsoft.com/office/powerpoint/2010/main" val="1973016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B6FEEBC-EF25-48EF-93EF-1B83417D5D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4AB1D2-E1C9-4F4B-8D71-D6ACFEC71A96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  基本概念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A5BD8E-494D-4EA4-A47C-CF17694FC72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Prompt 的信息量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DBB717-984F-4556-A3CF-FD0D6A3BF52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ABF1DB-9894-4A7A-8F81-B0987AE64ACC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简短但含糊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4332C4D-4640-4F99-BE71-D7BCBFCD3436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2A38F2-1C00-4EE4-89C8-248BAFAA2B53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8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完善队列代码。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E1A342-2833-4114-924F-8F1052F2755D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信息足以执行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B4686BE-25D1-48DA-B6F3-384A16A37AE6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BAB803-ED89-43FA-9EBB-3D1578852067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28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读取 src/queue.py 和 README.md</a:t>
            </a:r>
          </a:p>
          <a:p>
            <a:pPr algn="l">
              <a:lnSpc>
                <a:spcPct val="128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补全 enqueue、dequeue 和 peek</a:t>
            </a:r>
          </a:p>
          <a:p>
            <a:pPr algn="l">
              <a:lnSpc>
                <a:spcPct val="128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保持现有方法签名</a:t>
            </a:r>
          </a:p>
          <a:p>
            <a:pPr algn="l">
              <a:lnSpc>
                <a:spcPct val="128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空队列抛出 IndexError</a:t>
            </a:r>
          </a:p>
          <a:p>
            <a:pPr algn="l">
              <a:lnSpc>
                <a:spcPct val="128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更新 README 中的使用示例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D46E00-5A86-427D-9397-2243B21E4DA1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更长不一定更好，影响结果的信息才需要保留</a:t>
            </a:r>
          </a:p>
        </p:txBody>
      </p:sp>
    </p:spTree>
    <p:extLst>
      <p:ext uri="{BB962C8B-B14F-4D97-AF65-F5344CB8AC3E}">
        <p14:creationId xmlns:p14="http://schemas.microsoft.com/office/powerpoint/2010/main" val="89445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F62F0C1B-0B77-4B4C-9C45-22EC625105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DBBEF1-BE99-4A1B-AE11-D0D3A704E36F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  基本概念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02B6EB-5402-4C20-84FC-4321B5099C9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Prompt Engineering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3666A5-9F84-43A1-B762-7FC1C3D2C48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3899A1-D62A-491F-80C6-074C78BE6424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752B37-20A1-4F78-AAE2-B1A55B6FFE57}"/>
              </a:ext>
            </a:extLst>
          </p:cNvPr>
          <p:cNvSpPr>
            <a:spLocks noGrp="1"/>
          </p:cNvSpPr>
          <p:nvPr/>
        </p:nvSpPr>
        <p:spPr>
          <a:xfrm>
            <a:off x="723900" y="2619375"/>
            <a:ext cx="238125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FDFB00-F5F6-4F95-A6A5-2C40636DE3D7}"/>
              </a:ext>
            </a:extLst>
          </p:cNvPr>
          <p:cNvSpPr>
            <a:spLocks noGrp="1"/>
          </p:cNvSpPr>
          <p:nvPr/>
        </p:nvSpPr>
        <p:spPr>
          <a:xfrm>
            <a:off x="723900" y="3095625"/>
            <a:ext cx="2381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4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提交初始 Prompt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D07715-DFC6-45BC-B032-956916DE37D4}"/>
              </a:ext>
            </a:extLst>
          </p:cNvPr>
          <p:cNvSpPr>
            <a:spLocks noGrp="1"/>
          </p:cNvSpPr>
          <p:nvPr/>
        </p:nvSpPr>
        <p:spPr>
          <a:xfrm>
            <a:off x="3505200" y="1952625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E3CD2D-948B-4666-BA1A-FBDBF268330D}"/>
              </a:ext>
            </a:extLst>
          </p:cNvPr>
          <p:cNvSpPr>
            <a:spLocks noGrp="1"/>
          </p:cNvSpPr>
          <p:nvPr/>
        </p:nvSpPr>
        <p:spPr>
          <a:xfrm>
            <a:off x="3505200" y="2619375"/>
            <a:ext cx="238125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2A9F1E-2DA8-41EB-80A8-4C5EF8D25CCB}"/>
              </a:ext>
            </a:extLst>
          </p:cNvPr>
          <p:cNvSpPr>
            <a:spLocks noGrp="1"/>
          </p:cNvSpPr>
          <p:nvPr/>
        </p:nvSpPr>
        <p:spPr>
          <a:xfrm>
            <a:off x="3505200" y="3095625"/>
            <a:ext cx="2381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4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检查文件变化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22C5AC-EBDC-4AB1-B1E3-3FF8428D50A5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96BA5F-22BA-4AE0-8632-4A9BB841E93B}"/>
              </a:ext>
            </a:extLst>
          </p:cNvPr>
          <p:cNvSpPr>
            <a:spLocks noGrp="1"/>
          </p:cNvSpPr>
          <p:nvPr/>
        </p:nvSpPr>
        <p:spPr>
          <a:xfrm>
            <a:off x="6286500" y="2619375"/>
            <a:ext cx="238125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E30DAA-14A7-476D-BE4F-B9CE5D0A2F00}"/>
              </a:ext>
            </a:extLst>
          </p:cNvPr>
          <p:cNvSpPr>
            <a:spLocks noGrp="1"/>
          </p:cNvSpPr>
          <p:nvPr/>
        </p:nvSpPr>
        <p:spPr>
          <a:xfrm>
            <a:off x="6286500" y="3095625"/>
            <a:ext cx="2381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4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找到具体偏差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938CBA-DDAE-4D56-8A96-D91CED0E7311}"/>
              </a:ext>
            </a:extLst>
          </p:cNvPr>
          <p:cNvSpPr>
            <a:spLocks noGrp="1"/>
          </p:cNvSpPr>
          <p:nvPr/>
        </p:nvSpPr>
        <p:spPr>
          <a:xfrm>
            <a:off x="9067800" y="1952625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F9E934-C617-4EAB-BF73-4E9E30F75915}"/>
              </a:ext>
            </a:extLst>
          </p:cNvPr>
          <p:cNvSpPr>
            <a:spLocks noGrp="1"/>
          </p:cNvSpPr>
          <p:nvPr/>
        </p:nvSpPr>
        <p:spPr>
          <a:xfrm>
            <a:off x="9067800" y="2619375"/>
            <a:ext cx="2381250" cy="47625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E8CB203-BE45-4FD3-92BF-8E459B991510}"/>
              </a:ext>
            </a:extLst>
          </p:cNvPr>
          <p:cNvSpPr>
            <a:spLocks noGrp="1"/>
          </p:cNvSpPr>
          <p:nvPr/>
        </p:nvSpPr>
        <p:spPr>
          <a:xfrm>
            <a:off x="9067800" y="3095625"/>
            <a:ext cx="2381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4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只补充缺失信息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7ED47A-2606-4B04-9516-56700FBA2E45}"/>
              </a:ext>
            </a:extLst>
          </p:cNvPr>
          <p:cNvSpPr>
            <a:spLocks noGrp="1"/>
          </p:cNvSpPr>
          <p:nvPr/>
        </p:nvSpPr>
        <p:spPr>
          <a:xfrm>
            <a:off x="1619250" y="4762500"/>
            <a:ext cx="89535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设计、比较和改进任务说明的方法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4974C5-FF4E-4C17-B7F3-F1A3F94F3B36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改进的对象是具体问题，不是盲目增加字数</a:t>
            </a:r>
          </a:p>
        </p:txBody>
      </p:sp>
    </p:spTree>
    <p:extLst>
      <p:ext uri="{BB962C8B-B14F-4D97-AF65-F5344CB8AC3E}">
        <p14:creationId xmlns:p14="http://schemas.microsoft.com/office/powerpoint/2010/main" val="1816780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9026558-F049-4277-BB2F-AEC338280B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42D31E-1B73-4A24-B983-99201D973E2A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  基本概念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6853D0-F977-4B80-A406-7BE5793D713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Prompt 没有固定万能句式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90DF46-F38A-432C-BC83-F1E414EDA1F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099E6C-B432-4298-862E-98B782D1A8B7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局部拼写修正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D00279C-B6A3-4023-AAAF-BABFE2BA53C7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11003F-612A-4361-AFA7-60E850C2D2FF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将 README.md 第一个标题中的</a:t>
            </a:r>
          </a:p>
          <a:p>
            <a:pPr algn="ctr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Task Traker</a:t>
            </a:r>
          </a:p>
          <a:p>
            <a:pPr algn="ctr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改为 Task Tracker</a:t>
            </a:r>
          </a:p>
          <a:p>
            <a:pPr algn="ctr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只修改这一处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91D521-DAE6-4BCD-AC47-9011C36D791D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跨文件文档任务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7BFC8D8-CB56-4F72-A9FF-4478B3D49A9D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5A1D29-1DC1-4998-824C-8A32417FCEF4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读取三个数据结构实现</a:t>
            </a:r>
          </a:p>
          <a:p>
            <a:pPr algn="ctr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在指定文档新增对比表</a:t>
            </a:r>
          </a:p>
          <a:p>
            <a:pPr algn="ctr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统一复杂度表达</a:t>
            </a:r>
          </a:p>
          <a:p>
            <a:pPr algn="ctr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不修改源代码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E96F7A-1A95-4128-8544-923AB83BDBB6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Prompt 的结构由任务需要决定</a:t>
            </a:r>
          </a:p>
        </p:txBody>
      </p:sp>
    </p:spTree>
    <p:extLst>
      <p:ext uri="{BB962C8B-B14F-4D97-AF65-F5344CB8AC3E}">
        <p14:creationId xmlns:p14="http://schemas.microsoft.com/office/powerpoint/2010/main" val="1412871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645F8904-9626-4BD9-A474-D0646E4F12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1C2D48-5024-4F20-969A-37C434C4796A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  Prompt 的作用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07A363-DD94-418F-999D-9F13628A654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Prompt 在编码 Agent 中的作用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3B546A-A776-42F8-A09A-9BE64B18648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6B5E53-BF5F-41C2-A427-238719CB287F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任务理解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781EE6-BE74-4206-B403-8CD8715C6539}"/>
              </a:ext>
            </a:extLst>
          </p:cNvPr>
          <p:cNvSpPr>
            <a:spLocks noGrp="1"/>
          </p:cNvSpPr>
          <p:nvPr/>
        </p:nvSpPr>
        <p:spPr>
          <a:xfrm>
            <a:off x="3905250" y="1762125"/>
            <a:ext cx="72390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要解释、检查还是直接修改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A6C440-D6B3-48A8-8CB3-AD2B1EE792CF}"/>
              </a:ext>
            </a:extLst>
          </p:cNvPr>
          <p:cNvSpPr>
            <a:spLocks noGrp="1"/>
          </p:cNvSpPr>
          <p:nvPr/>
        </p:nvSpPr>
        <p:spPr>
          <a:xfrm>
            <a:off x="952500" y="2505075"/>
            <a:ext cx="1019175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784453-E552-4CC5-B1F9-BCFD41AD1AB7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代码接口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E2B70E-9665-47AF-9FE8-780B7F1E8F4D}"/>
              </a:ext>
            </a:extLst>
          </p:cNvPr>
          <p:cNvSpPr>
            <a:spLocks noGrp="1"/>
          </p:cNvSpPr>
          <p:nvPr/>
        </p:nvSpPr>
        <p:spPr>
          <a:xfrm>
            <a:off x="3905250" y="2762250"/>
            <a:ext cx="72390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文件、函数名、参数与返回值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BAFAB2-141D-4803-8BCF-01F38D1CAF6B}"/>
              </a:ext>
            </a:extLst>
          </p:cNvPr>
          <p:cNvSpPr>
            <a:spLocks noGrp="1"/>
          </p:cNvSpPr>
          <p:nvPr/>
        </p:nvSpPr>
        <p:spPr>
          <a:xfrm>
            <a:off x="952500" y="3505200"/>
            <a:ext cx="1019175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B726CD-AA90-4DA9-92DE-7D8FD50398C8}"/>
              </a:ext>
            </a:extLst>
          </p:cNvPr>
          <p:cNvSpPr>
            <a:spLocks noGrp="1"/>
          </p:cNvSpPr>
          <p:nvPr/>
        </p:nvSpPr>
        <p:spPr>
          <a:xfrm>
            <a:off x="952500" y="3762375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边界行为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1CFCA2-8B9D-4EF4-B543-787F376F975F}"/>
              </a:ext>
            </a:extLst>
          </p:cNvPr>
          <p:cNvSpPr>
            <a:spLocks noGrp="1"/>
          </p:cNvSpPr>
          <p:nvPr/>
        </p:nvSpPr>
        <p:spPr>
          <a:xfrm>
            <a:off x="3905250" y="3762375"/>
            <a:ext cx="72390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空输入、重复值和未找到的处理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223638-3A54-4AC4-8584-B0EABAF33284}"/>
              </a:ext>
            </a:extLst>
          </p:cNvPr>
          <p:cNvSpPr>
            <a:spLocks noGrp="1"/>
          </p:cNvSpPr>
          <p:nvPr/>
        </p:nvSpPr>
        <p:spPr>
          <a:xfrm>
            <a:off x="952500" y="4505325"/>
            <a:ext cx="1019175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4DC4F9-DE6E-414F-A8E6-8D059B7F8D2E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交付形式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074818A-BCA0-4181-AB06-F022BC5A659F}"/>
              </a:ext>
            </a:extLst>
          </p:cNvPr>
          <p:cNvSpPr>
            <a:spLocks noGrp="1"/>
          </p:cNvSpPr>
          <p:nvPr/>
        </p:nvSpPr>
        <p:spPr>
          <a:xfrm>
            <a:off x="3905250" y="4762500"/>
            <a:ext cx="72390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修改现有文件、创建新文件或只给报告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387D77-8A01-4A54-BC58-5BAC73E1A56F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Prompt 同时影响 Agent 的操作与最终文件</a:t>
            </a:r>
          </a:p>
        </p:txBody>
      </p:sp>
    </p:spTree>
    <p:extLst>
      <p:ext uri="{BB962C8B-B14F-4D97-AF65-F5344CB8AC3E}">
        <p14:creationId xmlns:p14="http://schemas.microsoft.com/office/powerpoint/2010/main" val="1585486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3DE3E50-29DB-4C1E-9CA9-B22260509C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68DDE6-0350-4046-9F2A-477168BF70DD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  Prompt 的作用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7C4894-6D5E-4146-A92D-8C20FFD0993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任务动词决定工作边界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CDD9F1-38E2-4BBD-85B3-28EC04DC59C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C5D16A-0A57-4732-BD12-8E666BEC6ECF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含糊动词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9337588-5472-4608-9002-24F0FE26BE2D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84CA10-54BE-44DA-B68A-BA22438D20CB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8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看看 src/stack.py。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B62A1B-F6C4-4EF6-B750-61F1F677ECEE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可执行动词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7DE834F-A79F-493C-909A-C005B0FD1B15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F44175-85B9-43FA-BAFB-7F3F6225C7EE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读取 src/stack.py</a:t>
            </a:r>
          </a:p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检查 push 和 pop 的现有行为</a:t>
            </a:r>
          </a:p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只汇报空栈调用 pop 的结果</a:t>
            </a:r>
          </a:p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不修改文件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13E449-2FFA-4E5A-9854-388ECACBA075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读取、定位、修改、创建、更新和检查表示不同操作</a:t>
            </a:r>
          </a:p>
        </p:txBody>
      </p:sp>
    </p:spTree>
    <p:extLst>
      <p:ext uri="{BB962C8B-B14F-4D97-AF65-F5344CB8AC3E}">
        <p14:creationId xmlns:p14="http://schemas.microsoft.com/office/powerpoint/2010/main" val="1111173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864C97CE-19F9-43D8-AB55-C2E45B03D2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D88001-6592-4C95-B350-6CBF58CC9910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  Prompt 的作用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BF49C7-F68D-46FE-91FD-816817C4EDC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Prompt 决定代码接口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EF5886-8C69-42D3-88B6-DED37B7ECD1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965FE2-4967-4FB8-B8EE-754D78FD3183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需要 Agent 猜测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F437B4C-FBCD-49C2-AED2-A33667B8CB16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A01D5B-9066-4EFC-B879-9A2B1837FFED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5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给项目增加反转列表函数。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98CFBD-696D-4DC1-974E-F48B51A59C83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接口已确定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B9F815A-EC46-459D-ACAB-04CF368C939F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BD85A2-D913-4F0F-A705-93CE8D09A7E4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读取 src/list_utils.py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在文件末尾新增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reverse_list(nums: list[int]) -&gt; list[int]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返回新的逆序列表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不修改传入的 nums</a:t>
            </a:r>
          </a:p>
        </p:txBody>
      </p:sp>
    </p:spTree>
    <p:extLst>
      <p:ext uri="{BB962C8B-B14F-4D97-AF65-F5344CB8AC3E}">
        <p14:creationId xmlns:p14="http://schemas.microsoft.com/office/powerpoint/2010/main" val="1009455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42AF16D-A2AD-4552-984C-51EE322C11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EFA190-B3C2-47E0-B15C-B0BC51ADDA93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  Prompt 的作用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40F142-3DFA-4FDF-B0B4-C5C6E6350B1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Prompt 决定边界行为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AF7795-B0FC-4C28-856F-213B88C2036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825A6D-5549-4EE4-8B9D-6C9E55278130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边界未说明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EC6FA3A-EE77-4D44-B7E8-57E96C8B6E39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45C6E5-2EAF-4EFD-A588-0260E630B772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5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补全 linear_search(nums, target)。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92554F-F3CF-4BD0-9CB3-2A065FBE38A0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关键行为已写清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327D5C9-B70A-40CC-BB9B-EA7B83A0283B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121120-906E-4FC4-860E-206337B3B518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保持现有签名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找到时返回第一次出现的索引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未找到时返回 -1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nums 为空时返回 -1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只修改目标函数</a:t>
            </a:r>
          </a:p>
        </p:txBody>
      </p:sp>
    </p:spTree>
    <p:extLst>
      <p:ext uri="{BB962C8B-B14F-4D97-AF65-F5344CB8AC3E}">
        <p14:creationId xmlns:p14="http://schemas.microsoft.com/office/powerpoint/2010/main" val="1246541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125C158-AA18-4ADE-AD48-340FC82527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9A9B25-7D39-4C53-9613-3E54887939B0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  Prompt 的作用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B35E6B-B7A2-4228-8FF8-A9C67890C9F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Prompt 决定交付形式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C55151-81DB-4747-B074-6FC9C9EE097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1CC019-F8A2-4780-A502-0A9BA5769873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只读检查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5C5AEE9-F9C1-4986-95F0-2165596EFF94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0E6E14-F2BB-4650-B682-CD03CA70AD8D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只给出 src/search.py 的检查结论</a:t>
            </a:r>
          </a:p>
          <a:p>
            <a:pPr algn="ctr">
              <a:lnSpc>
                <a:spcPct val="128000"/>
              </a:lnSpc>
              <a:buNone/>
              <a:def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不修改文件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133D0A-E848-4C09-8981-3AE4C2B601B8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直接编辑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A7D4AEE-AA38-4AE6-9DCC-F91DD5B729DE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DC53D7-FBF5-459C-9513-4DE270F85A5A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修改 src/search.py</a:t>
            </a:r>
          </a:p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在 README.md 补充调用样例与复杂度</a:t>
            </a:r>
          </a:p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完成后列出修改文件和主要变化</a:t>
            </a:r>
          </a:p>
        </p:txBody>
      </p:sp>
    </p:spTree>
    <p:extLst>
      <p:ext uri="{BB962C8B-B14F-4D97-AF65-F5344CB8AC3E}">
        <p14:creationId xmlns:p14="http://schemas.microsoft.com/office/powerpoint/2010/main" val="1803761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99BD39B8-417E-41B8-B6B4-C5E5EEBCDB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388D54-743C-49A7-8617-B26A84DD72DA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五部分结构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C57170-9111-4B84-80A5-D0EFE4CF98A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Prompt 的五个基本组成部分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927F07-58FC-48C2-AEAE-FB479AA8319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554B0C-BE55-4B73-84BF-F0766371257F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1428750" cy="5334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背景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E63241-9A9D-49E8-8ECE-05B82BCA0B9D}"/>
              </a:ext>
            </a:extLst>
          </p:cNvPr>
          <p:cNvSpPr>
            <a:spLocks noGrp="1"/>
          </p:cNvSpPr>
          <p:nvPr/>
        </p:nvSpPr>
        <p:spPr>
          <a:xfrm>
            <a:off x="2333625" y="1695450"/>
            <a:ext cx="4572000" cy="5334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项目环境与已有约定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5758F4-22C9-46E7-8AF1-CC13C2ED84E9}"/>
              </a:ext>
            </a:extLst>
          </p:cNvPr>
          <p:cNvSpPr>
            <a:spLocks noGrp="1"/>
          </p:cNvSpPr>
          <p:nvPr/>
        </p:nvSpPr>
        <p:spPr>
          <a:xfrm>
            <a:off x="781050" y="2533650"/>
            <a:ext cx="1428750" cy="5334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目标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128BD8-ECB5-45BB-9CC0-608019155445}"/>
              </a:ext>
            </a:extLst>
          </p:cNvPr>
          <p:cNvSpPr>
            <a:spLocks noGrp="1"/>
          </p:cNvSpPr>
          <p:nvPr/>
        </p:nvSpPr>
        <p:spPr>
          <a:xfrm>
            <a:off x="2333625" y="2533650"/>
            <a:ext cx="4572000" cy="5334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最终要完成的行为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46BE1F-270C-4378-8AAF-40DA93C879B4}"/>
              </a:ext>
            </a:extLst>
          </p:cNvPr>
          <p:cNvSpPr>
            <a:spLocks noGrp="1"/>
          </p:cNvSpPr>
          <p:nvPr/>
        </p:nvSpPr>
        <p:spPr>
          <a:xfrm>
            <a:off x="781050" y="3371850"/>
            <a:ext cx="1428750" cy="5334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输入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6CF170-A4BE-438B-89DF-3A6E175D1B48}"/>
              </a:ext>
            </a:extLst>
          </p:cNvPr>
          <p:cNvSpPr>
            <a:spLocks noGrp="1"/>
          </p:cNvSpPr>
          <p:nvPr/>
        </p:nvSpPr>
        <p:spPr>
          <a:xfrm>
            <a:off x="2333625" y="3371850"/>
            <a:ext cx="4572000" cy="5334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Agent 可读取的文件与样例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987D06-E5CF-41D6-B055-D93D493BFAE5}"/>
              </a:ext>
            </a:extLst>
          </p:cNvPr>
          <p:cNvSpPr>
            <a:spLocks noGrp="1"/>
          </p:cNvSpPr>
          <p:nvPr/>
        </p:nvSpPr>
        <p:spPr>
          <a:xfrm>
            <a:off x="781050" y="4210050"/>
            <a:ext cx="1428750" cy="5334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输出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385ECA-4469-4C22-96D3-D2B272746E28}"/>
              </a:ext>
            </a:extLst>
          </p:cNvPr>
          <p:cNvSpPr>
            <a:spLocks noGrp="1"/>
          </p:cNvSpPr>
          <p:nvPr/>
        </p:nvSpPr>
        <p:spPr>
          <a:xfrm>
            <a:off x="2333625" y="4210050"/>
            <a:ext cx="4572000" cy="5334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要修改或创建的交付物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41BDD4-DE22-4AA1-9C2B-81FFE47D0274}"/>
              </a:ext>
            </a:extLst>
          </p:cNvPr>
          <p:cNvSpPr>
            <a:spLocks noGrp="1"/>
          </p:cNvSpPr>
          <p:nvPr/>
        </p:nvSpPr>
        <p:spPr>
          <a:xfrm>
            <a:off x="781050" y="5048250"/>
            <a:ext cx="1428750" cy="5334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约束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824D79-27AA-4E67-B443-CB76854BE593}"/>
              </a:ext>
            </a:extLst>
          </p:cNvPr>
          <p:cNvSpPr>
            <a:spLocks noGrp="1"/>
          </p:cNvSpPr>
          <p:nvPr/>
        </p:nvSpPr>
        <p:spPr>
          <a:xfrm>
            <a:off x="2333625" y="5048250"/>
            <a:ext cx="4572000" cy="5334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允许和禁止的修改边界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206625"/>
            <a:ext cx="4238625" cy="282575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EA448819-38B3-4DFA-A748-21786633E242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这五项是查漏清单，不要机械写成五个标题</a:t>
            </a:r>
          </a:p>
        </p:txBody>
      </p:sp>
    </p:spTree>
    <p:extLst>
      <p:ext uri="{BB962C8B-B14F-4D97-AF65-F5344CB8AC3E}">
        <p14:creationId xmlns:p14="http://schemas.microsoft.com/office/powerpoint/2010/main" val="404310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83B0874B-6FE8-48CF-A5B4-F060F30B72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EDE6A2-42CA-40C0-BAA2-1F2C4584139A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五部分结构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7DD52B-7B26-4FED-8E38-52AC90E2E0E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背景 Context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F21152-3F24-4A0C-B4B8-687E11F1BCD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075781-71C6-4A88-9C90-1DB0F6C3D33A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会影响修改的背景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DFED9BD-FC81-422B-823C-EACD6C213249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AF9BD7-47F8-48FD-B85C-776F2FE23516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当前工作区是 Python 3.12 数据结构项目</a:t>
            </a:r>
          </a:p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查找实现位于 src/search.py</a:t>
            </a:r>
          </a:p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公开函数已被 examples/ 调用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2B368B-9DB5-43EB-8803-DF88091DCEF3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B95C4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B95C4E"/>
                </a:solidFill>
                <a:latin typeface="Hiragino Sans GB"/>
                <a:ea typeface="Hiragino Sans GB"/>
                <a:cs typeface="Hiragino Sans GB"/>
              </a:rPr>
              <a:t>与任务无关的背景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A3C6E05-3386-450C-A1B8-8CB3FBC44C6C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E586A8-8000-42D2-B50C-49DCE63C7D01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学校历史</a:t>
            </a:r>
          </a:p>
          <a:p>
            <a:pPr algn="ctr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课程周数</a:t>
            </a:r>
          </a:p>
          <a:p>
            <a:pPr algn="ctr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当天天气</a:t>
            </a:r>
          </a:p>
          <a:p>
            <a:pPr algn="ctr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与当前文件修改无关的信息</a:t>
            </a:r>
          </a:p>
        </p:txBody>
      </p:sp>
    </p:spTree>
    <p:extLst>
      <p:ext uri="{BB962C8B-B14F-4D97-AF65-F5344CB8AC3E}">
        <p14:creationId xmlns:p14="http://schemas.microsoft.com/office/powerpoint/2010/main" val="977428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2BCFA57-A169-4B15-A84D-E7A0369F16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518FAB-EEB3-4028-98F0-46EA946191CF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五部分结构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C7702A-26AC-4183-B679-50504A48622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目标 Goal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3197C0-FD8A-4C48-A6F3-89E9F26A5B7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FEA4F0-E854-41B3-9696-4D7F9305D8B6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含糊目标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FBE2D96-EAED-47E4-9E11-336402FE2471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08BF9B-BDEA-4D9B-9761-162A4DA969B7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8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把搜索功能弄好。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493609-9340-4F9A-99D6-30286C0510A4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可验收目标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60B7A28-948B-4755-8D77-6EA04F2B44CA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6C7DED-3ED6-4A8C-928C-C3B078FF09F9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28000"/>
              </a:lnSpc>
              <a:buNone/>
              <a:defRPr sz="22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补全 src/search.py 中的 linear_search</a:t>
            </a:r>
          </a:p>
          <a:p>
            <a:pPr algn="l">
              <a:lnSpc>
                <a:spcPct val="128000"/>
              </a:lnSpc>
              <a:buNone/>
              <a:defRPr sz="22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返回 target 第一次出现的索引</a:t>
            </a:r>
          </a:p>
          <a:p>
            <a:pPr algn="l">
              <a:lnSpc>
                <a:spcPct val="128000"/>
              </a:lnSpc>
              <a:buNone/>
              <a:defRPr sz="22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未找到时返回 -1</a:t>
            </a:r>
          </a:p>
        </p:txBody>
      </p:sp>
    </p:spTree>
    <p:extLst>
      <p:ext uri="{BB962C8B-B14F-4D97-AF65-F5344CB8AC3E}">
        <p14:creationId xmlns:p14="http://schemas.microsoft.com/office/powerpoint/2010/main" val="103573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DD30B6D-B3F6-4802-B488-50D3893EFA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B4B703-3330-485B-984E-E9FF4BDB46FE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五部分结构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C2FA1D-C534-4DBA-974A-1AA7A2E27FB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输入 Input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69D904-993F-4CBD-A2D4-78A91FA5AC6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E0E498-18AA-4E11-AD03-2BFA577EE15C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输入是 Agent 完成任务时可以读取的工作区材料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DD5BE3E-A49D-455D-BC12-2BC8898CD7E4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35E7A3-DF87-42D9-AF07-1652434BD2D4}"/>
              </a:ext>
            </a:extLst>
          </p:cNvPr>
          <p:cNvSpPr>
            <a:spLocks noGrp="1"/>
          </p:cNvSpPr>
          <p:nvPr/>
        </p:nvSpPr>
        <p:spPr>
          <a:xfrm>
            <a:off x="1752600" y="2714625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 dirty="0" err="1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文件路径、目录与现有代码</a:t>
            </a:r>
            <a:endParaRPr sz="2250" b="0" dirty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CD7E2AD-593C-43FA-A7B4-5E1DBFE45499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0C845D-0D20-492B-9B2C-FCBFB2BA98FC}"/>
              </a:ext>
            </a:extLst>
          </p:cNvPr>
          <p:cNvSpPr>
            <a:spLocks noGrp="1"/>
          </p:cNvSpPr>
          <p:nvPr/>
        </p:nvSpPr>
        <p:spPr>
          <a:xfrm>
            <a:off x="1752600" y="3400425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错误日志、配置文件和接口契约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A5A358C-F8D8-4C50-AC2F-A9EBF88EA9C2}"/>
              </a:ext>
            </a:extLst>
          </p:cNvPr>
          <p:cNvSpPr>
            <a:spLocks noGrp="1"/>
          </p:cNvSpPr>
          <p:nvPr/>
        </p:nvSpPr>
        <p:spPr>
          <a:xfrm>
            <a:off x="1428750" y="43434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49DFCE-5627-4EA1-BB82-526C8082A4A7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真实的输入输出样例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26F803A-BE0D-483D-9BEC-78ECD4E288DD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713CED-3B6A-4CF9-9002-15789FEF2EFD}"/>
              </a:ext>
            </a:extLst>
          </p:cNvPr>
          <p:cNvSpPr>
            <a:spLocks noGrp="1"/>
          </p:cNvSpPr>
          <p:nvPr/>
        </p:nvSpPr>
        <p:spPr>
          <a:xfrm>
            <a:off x="1752600" y="4772025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会影响行为的空值、重复值和负数等情况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0FC316-4496-4504-A645-3A3220EC4C43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输入应该可定位、可读取、与当前任务直接相关</a:t>
            </a:r>
          </a:p>
        </p:txBody>
      </p:sp>
    </p:spTree>
    <p:extLst>
      <p:ext uri="{BB962C8B-B14F-4D97-AF65-F5344CB8AC3E}">
        <p14:creationId xmlns:p14="http://schemas.microsoft.com/office/powerpoint/2010/main" val="721771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AC34145-CA52-4CC6-9C13-729EDC8C88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062670-9B8C-4BB0-997B-AA99C659E4F9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五部分结构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652E73-A4E7-4E0A-B506-5E6CC361928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输出 Output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C47949-E47C-476B-BAE5-FF4C193185C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A0D2F6-690F-4895-9C0F-FFFD313315FA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输出说明最终要修改或创建什么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E7397EE-6E3D-4C64-B33C-C23F3F3D1564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6BBCD9-60F2-41F4-BDD5-19884BBC539A}"/>
              </a:ext>
            </a:extLst>
          </p:cNvPr>
          <p:cNvSpPr>
            <a:spLocks noGrp="1"/>
          </p:cNvSpPr>
          <p:nvPr/>
        </p:nvSpPr>
        <p:spPr>
          <a:xfrm>
            <a:off x="1752600" y="28575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目标文件的路径和文件类型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68FA3EB1-74E7-4C11-91D0-F80C35A46063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8A4692-04D9-4C6A-9DD7-6962049A71F5}"/>
              </a:ext>
            </a:extLst>
          </p:cNvPr>
          <p:cNvSpPr>
            <a:spLocks noGrp="1"/>
          </p:cNvSpPr>
          <p:nvPr/>
        </p:nvSpPr>
        <p:spPr>
          <a:xfrm>
            <a:off x="1752600" y="35433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文件内必须包含的标题、字段、列或代码接口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58BCBC5-5C46-4D40-BD38-804C5A71C33F}"/>
              </a:ext>
            </a:extLst>
          </p:cNvPr>
          <p:cNvSpPr>
            <a:spLocks noGrp="1"/>
          </p:cNvSpPr>
          <p:nvPr/>
        </p:nvSpPr>
        <p:spPr>
          <a:xfrm>
            <a:off x="1428750" y="43434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D8A0DF-91F0-41FA-9B47-28614AA0C970}"/>
              </a:ext>
            </a:extLst>
          </p:cNvPr>
          <p:cNvSpPr>
            <a:spLocks noGrp="1"/>
          </p:cNvSpPr>
          <p:nvPr/>
        </p:nvSpPr>
        <p:spPr>
          <a:xfrm>
            <a:off x="1752600" y="42291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直接编辑现有文件，还是创建新文件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661729F-D491-4A12-A41F-29924F9ABFFB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E2A4440-8936-4A3D-AAFF-50259975B0E8}"/>
              </a:ext>
            </a:extLst>
          </p:cNvPr>
          <p:cNvSpPr>
            <a:spLocks noGrp="1"/>
          </p:cNvSpPr>
          <p:nvPr/>
        </p:nvSpPr>
        <p:spPr>
          <a:xfrm>
            <a:off x="1752600" y="49149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完成后需要汇报的修改和验证结果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0E5CD1-7CA2-4C93-95A8-152075C0AE86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输出要求要能与最终文件一一对照</a:t>
            </a:r>
          </a:p>
        </p:txBody>
      </p:sp>
    </p:spTree>
    <p:extLst>
      <p:ext uri="{BB962C8B-B14F-4D97-AF65-F5344CB8AC3E}">
        <p14:creationId xmlns:p14="http://schemas.microsoft.com/office/powerpoint/2010/main" val="2001982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1AD4466A-CDA2-4E59-AD3F-C4199AA901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276E8A-5991-4DBE-841C-3D562305977D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五部分结构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C70956-DFAA-4DD8-BC91-6CE6B03AC7B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约束 Constraints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DB50F3-5AD4-4CB0-822A-72A2B7FD815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877725-378B-47A6-9E01-34273BB1FC89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具体且一致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45BE46C-7E0D-47C6-8E20-714B66620C3F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E1829A-8167-425A-B766-26E16ADB19F8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使用 Python 3.12</a:t>
            </a:r>
          </a:p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不使用 list.index()</a:t>
            </a:r>
          </a:p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保持函数签名</a:t>
            </a:r>
          </a:p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只修改 src/search.py 和 README.md</a:t>
            </a:r>
          </a:p>
          <a:p>
            <a:pPr algn="l">
              <a:lnSpc>
                <a:spcPct val="128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不重命名或移动文件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878AAB-7C42-4A58-9F89-8A2FFED9508E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B95C4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B95C4E"/>
                </a:solidFill>
                <a:latin typeface="Hiragino Sans GB"/>
                <a:ea typeface="Hiragino Sans GB"/>
                <a:cs typeface="Hiragino Sans GB"/>
              </a:rPr>
              <a:t>相互冲突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37869F7-80F2-482E-B138-D267DA86164C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D12E8B-C6C0-4121-9A21-662D5F011375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重构整个搜索模块</a:t>
            </a:r>
          </a:p>
          <a:p>
            <a:endParaRPr sz="2325" b="0">
              <a:solidFill>
                <a:srgbClr val="17342A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28000"/>
              </a:lnSpc>
              <a:buNone/>
              <a:def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同时</a:t>
            </a:r>
          </a:p>
          <a:p>
            <a:endParaRPr sz="2325" b="0">
              <a:solidFill>
                <a:srgbClr val="17342A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28000"/>
              </a:lnSpc>
              <a:buNone/>
              <a:def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只允许修改 linear_search 函数体</a:t>
            </a:r>
          </a:p>
        </p:txBody>
      </p:sp>
    </p:spTree>
    <p:extLst>
      <p:ext uri="{BB962C8B-B14F-4D97-AF65-F5344CB8AC3E}">
        <p14:creationId xmlns:p14="http://schemas.microsoft.com/office/powerpoint/2010/main" val="1992054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15C0949-64F0-4CC9-9827-EC4C95BB33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5D046C-E900-4847-A99F-5D7198F22910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五部分结构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D64BF9-C477-430E-8117-7CAE5A952CF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五部分完整示例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31799B-2195-4BD1-9C96-1A47F9930D7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219C5ED-6E86-4801-A7CE-2E49C66FDFA7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10439400" cy="3714750"/>
          </a:xfrm>
          <a:prstGeom prst="roundRect">
            <a:avLst>
              <a:gd name="adj" fmla="val 5128"/>
            </a:avLst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658961-E43F-47B1-BC5B-707EB39497BE}"/>
              </a:ext>
            </a:extLst>
          </p:cNvPr>
          <p:cNvSpPr>
            <a:spLocks noGrp="1"/>
          </p:cNvSpPr>
          <p:nvPr/>
        </p:nvSpPr>
        <p:spPr>
          <a:xfrm>
            <a:off x="1200150" y="2095500"/>
            <a:ext cx="9791700" cy="3190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背景：Python 3.12 数据结构项目，查找实现位于 src/search.py。</a:t>
            </a:r>
          </a:p>
          <a:p>
            <a:endParaRPr sz="2025" b="0">
              <a:solidFill>
                <a:srgbClr val="17342A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目标：补全 linear_search，返回 target 第一次出现的索引，未找到返回 -1。</a:t>
            </a:r>
          </a:p>
          <a:p>
            <a:endParaRPr sz="2025" b="0">
              <a:solidFill>
                <a:srgbClr val="17342A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输入：num 可能为空、包含重复值或负数，target 是整数。</a:t>
            </a:r>
          </a:p>
          <a:p>
            <a:endParaRPr sz="2025" b="0">
              <a:solidFill>
                <a:srgbClr val="17342A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输出：编辑 src/search.py，更新 README.md 中的三组样例和复杂度。</a:t>
            </a:r>
          </a:p>
          <a:p>
            <a:endParaRPr sz="2025" b="0">
              <a:solidFill>
                <a:srgbClr val="17342A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约束：保持现有签名，不使用 list.index()，只修改上述两个文件。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CE38FC-0A25-4D75-8B5F-F495CD286F6C}"/>
              </a:ext>
            </a:extLst>
          </p:cNvPr>
          <p:cNvSpPr>
            <a:spLocks noGrp="1"/>
          </p:cNvSpPr>
          <p:nvPr/>
        </p:nvSpPr>
        <p:spPr>
          <a:xfrm>
            <a:off x="838200" y="5667375"/>
            <a:ext cx="1051560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五个标题帮助初学者检查信息是否齐全</a:t>
            </a:r>
          </a:p>
        </p:txBody>
      </p:sp>
    </p:spTree>
    <p:extLst>
      <p:ext uri="{BB962C8B-B14F-4D97-AF65-F5344CB8AC3E}">
        <p14:creationId xmlns:p14="http://schemas.microsoft.com/office/powerpoint/2010/main" val="174669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42EC1BD-5517-405A-A77B-7DB2D1D857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9B7D13-D461-48BB-9F9E-0C229A6BBB9C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五部分结构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D7B7BD-944E-4179-AF0B-8BD83F2FC69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合并后的自然语言 Prompt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08AABF-7E99-4F61-8BF8-900AF2EA6FE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3E6B49D-48FD-4F67-9099-10C8EC4D5A33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10439400" cy="3333750"/>
          </a:xfrm>
          <a:prstGeom prst="roundRect">
            <a:avLst>
              <a:gd name="adj" fmla="val 5714"/>
            </a:avLst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20E139-4720-477A-87EE-99EE6561F37A}"/>
              </a:ext>
            </a:extLst>
          </p:cNvPr>
          <p:cNvSpPr>
            <a:spLocks noGrp="1"/>
          </p:cNvSpPr>
          <p:nvPr/>
        </p:nvSpPr>
        <p:spPr>
          <a:xfrm>
            <a:off x="1200150" y="2095500"/>
            <a:ext cx="9791700" cy="2809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30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读取 Python 3.12 项目的 src/search.py，补全带类型标注的 linear_search(nums, target)。</a:t>
            </a:r>
          </a:p>
          <a:p>
            <a:endParaRPr sz="2175" b="0">
              <a:solidFill>
                <a:srgbClr val="17342A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lnSpc>
                <a:spcPct val="130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nums 可能为空、包含重复值或负数。返回第一次匹配索引，未找到返回 -1，不得使用 list.index()。</a:t>
            </a:r>
          </a:p>
          <a:p>
            <a:endParaRPr sz="2175" b="0">
              <a:solidFill>
                <a:srgbClr val="17342A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lnSpc>
                <a:spcPct val="130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直接编辑目标函数，并在 README.md 中更新三组调用样例和复杂度。完成后汇报修改文件。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783B78-829A-43B7-8F51-3AFC3124FBEF}"/>
              </a:ext>
            </a:extLst>
          </p:cNvPr>
          <p:cNvSpPr>
            <a:spLocks noGrp="1"/>
          </p:cNvSpPr>
          <p:nvPr/>
        </p:nvSpPr>
        <p:spPr>
          <a:xfrm>
            <a:off x="838200" y="5667375"/>
            <a:ext cx="1051560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结构可以合并，信息不能丢失</a:t>
            </a:r>
          </a:p>
        </p:txBody>
      </p:sp>
    </p:spTree>
    <p:extLst>
      <p:ext uri="{BB962C8B-B14F-4D97-AF65-F5344CB8AC3E}">
        <p14:creationId xmlns:p14="http://schemas.microsoft.com/office/powerpoint/2010/main" val="1278482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C2D8B289-2C88-4BBF-B807-1C458D63AF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1B7B25-153C-4E87-A0DA-922BB911F649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常用提示方法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13CAC2-5DE9-44C7-89F3-0DD65574917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Role Prompting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D9ABF3-65C4-4384-AD84-2C805FBFC9C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685C8B-2CE5-4E47-B3C2-8BFDA4263B81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角色用来限定任务的关注重点和专业标准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2B80A15-B2B9-4369-BC88-66C472463C2C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0E8889-9092-4C66-B4DD-C16AD12FA531}"/>
              </a:ext>
            </a:extLst>
          </p:cNvPr>
          <p:cNvSpPr>
            <a:spLocks noGrp="1"/>
          </p:cNvSpPr>
          <p:nvPr/>
        </p:nvSpPr>
        <p:spPr>
          <a:xfrm>
            <a:off x="1752600" y="28575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检查时关注什么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386BF6C-50B1-4B2B-AC99-93D59F3EDBC3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96938-A57B-4E4E-916A-F1D1D0928751}"/>
              </a:ext>
            </a:extLst>
          </p:cNvPr>
          <p:cNvSpPr>
            <a:spLocks noGrp="1"/>
          </p:cNvSpPr>
          <p:nvPr/>
        </p:nvSpPr>
        <p:spPr>
          <a:xfrm>
            <a:off x="1752600" y="35433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实现时采用什么维护标准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F74D603-7293-4828-99C7-28CCAFEA1DD1}"/>
              </a:ext>
            </a:extLst>
          </p:cNvPr>
          <p:cNvSpPr>
            <a:spLocks noGrp="1"/>
          </p:cNvSpPr>
          <p:nvPr/>
        </p:nvSpPr>
        <p:spPr>
          <a:xfrm>
            <a:off x="1428750" y="43434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D77D58-2E48-426C-B4EF-DE77643197F7}"/>
              </a:ext>
            </a:extLst>
          </p:cNvPr>
          <p:cNvSpPr>
            <a:spLocks noGrp="1"/>
          </p:cNvSpPr>
          <p:nvPr/>
        </p:nvSpPr>
        <p:spPr>
          <a:xfrm>
            <a:off x="1752600" y="42291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代码或文档面向哪类读者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32B7505-05C9-435E-BB5A-EADEB0C1B3B6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616923-2FCB-40E8-9A2C-9978C6EBF64E}"/>
              </a:ext>
            </a:extLst>
          </p:cNvPr>
          <p:cNvSpPr>
            <a:spLocks noGrp="1"/>
          </p:cNvSpPr>
          <p:nvPr/>
        </p:nvSpPr>
        <p:spPr>
          <a:xfrm>
            <a:off x="1752600" y="49149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保留什么风格、接口和结构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B86F04-E2B6-43DB-85E9-6699BE17F891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角色可以影响标准，不能代替任务信息</a:t>
            </a:r>
          </a:p>
        </p:txBody>
      </p:sp>
    </p:spTree>
    <p:extLst>
      <p:ext uri="{BB962C8B-B14F-4D97-AF65-F5344CB8AC3E}">
        <p14:creationId xmlns:p14="http://schemas.microsoft.com/office/powerpoint/2010/main" val="428073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77EB1027-DA81-4CDC-806D-D7D282C679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09B489-8DD8-444F-86CD-A933FE5FF266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常用提示方法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FFBF76-37EB-4DB1-995D-A0AB6C83A9E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角色改变关注重点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3E24E8-5898-4B29-B0F8-7CFBA28E10C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3F373C-4565-449A-8C1F-460734E55BEF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Python 维护工程师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D81221F-CF84-4A0C-804F-AE30FF4983C9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BA08A7-AC91-44D7-9F79-B3EAF3C225C0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读取 src/cache.py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只检查所用数据结构与复杂度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将结果写入 docs/cache-review.md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不修改源代码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A7D770-5AEB-4329-92DE-5AC0577A7819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初学者教材编辑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E08A02-64CE-40CE-9C10-07EC4FF40433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84641A-FD5F-47E2-8FE7-17BBC4B5FBE2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读取 docs/cache.md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检查未定义术语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直接改写目标文档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保留原有标题结构</a:t>
            </a:r>
          </a:p>
        </p:txBody>
      </p:sp>
    </p:spTree>
    <p:extLst>
      <p:ext uri="{BB962C8B-B14F-4D97-AF65-F5344CB8AC3E}">
        <p14:creationId xmlns:p14="http://schemas.microsoft.com/office/powerpoint/2010/main" val="1854532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A37BDB3-87C9-493A-AD48-BABD1F99A3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AB7B5E-026E-4F69-9011-50A4C8C8980B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常用提示方法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E88B21-9D4E-48BC-AA04-16DC6B69209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避免无效角色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D51061-D2DF-4C1D-B162-EE4C4B56E23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B6931D-A20E-4629-9963-507A1EF7BD85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B95C4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B95C4E"/>
                </a:solidFill>
                <a:latin typeface="Hiragino Sans GB"/>
                <a:ea typeface="Hiragino Sans GB"/>
                <a:cs typeface="Hiragino Sans GB"/>
              </a:rPr>
              <a:t>只有夸张评价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28202C4-7DBD-48F6-8421-51F68C58D91E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CA978F-85B0-44E1-8DC9-3EF810756FC5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你是世界上最厉害、永远不会犯错的程序员</a:t>
            </a:r>
          </a:p>
          <a:p>
            <a:pPr algn="ctr">
              <a:lnSpc>
                <a:spcPct val="128000"/>
              </a:lnSpc>
              <a:buNone/>
              <a:def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请写完美代码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AFBF0D-46B5-4EEF-A79A-D829C981FF63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角色对应维护标准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4AA8C43-7D28-4BAF-B338-7285BDDC5D7C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2679E6-C9F8-4322-B777-58DF234C07F3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你是维护初学者教学项目的 Python 工程师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读取 src/stack.py 并补全缺失方法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使用 Python 3.12</a:t>
            </a:r>
          </a:p>
          <a:p>
            <a:pPr algn="l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保持公开接口，只修改该文件</a:t>
            </a:r>
          </a:p>
        </p:txBody>
      </p:sp>
    </p:spTree>
    <p:extLst>
      <p:ext uri="{BB962C8B-B14F-4D97-AF65-F5344CB8AC3E}">
        <p14:creationId xmlns:p14="http://schemas.microsoft.com/office/powerpoint/2010/main" val="1410770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DD72AF35-0D1A-423E-93D0-0D26327840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85C069-5F8E-4F12-A89C-02AC536D2BD2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  常用提示方法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4EE103-10CE-4C52-B748-D1CAE2ECCC2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Few-shot Prompting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4924DE-D1B9-437C-A57D-332E97CCEFC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2F2D15-3A47-4506-950F-F1D6F4C13B41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6191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7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用少量现有示例说明预期格式、分类边界或表达风格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9E6557C-39F7-4C93-9127-2645F52CB0E2}"/>
              </a:ext>
            </a:extLst>
          </p:cNvPr>
          <p:cNvSpPr>
            <a:spLocks noGrp="1"/>
          </p:cNvSpPr>
          <p:nvPr/>
        </p:nvSpPr>
        <p:spPr>
          <a:xfrm>
            <a:off x="1000125" y="31623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1CBFBE-BAB3-4BA8-A2E7-195F8AB93371}"/>
              </a:ext>
            </a:extLst>
          </p:cNvPr>
          <p:cNvSpPr>
            <a:spLocks noGrp="1"/>
          </p:cNvSpPr>
          <p:nvPr/>
        </p:nvSpPr>
        <p:spPr>
          <a:xfrm>
            <a:off x="1323975" y="3048000"/>
            <a:ext cx="53911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优先指向工作区中的真实示例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C6CC575-E80C-48EA-9C0A-3F22323A819C}"/>
              </a:ext>
            </a:extLst>
          </p:cNvPr>
          <p:cNvSpPr>
            <a:spLocks noGrp="1"/>
          </p:cNvSpPr>
          <p:nvPr/>
        </p:nvSpPr>
        <p:spPr>
          <a:xfrm>
            <a:off x="1000125" y="37909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57B9CA-8BEE-4D6D-8FBD-F6C32CC41F6E}"/>
              </a:ext>
            </a:extLst>
          </p:cNvPr>
          <p:cNvSpPr>
            <a:spLocks noGrp="1"/>
          </p:cNvSpPr>
          <p:nvPr/>
        </p:nvSpPr>
        <p:spPr>
          <a:xfrm>
            <a:off x="1323975" y="3676650"/>
            <a:ext cx="53911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示例必须与当前任务相关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0D2DB13-C83C-409B-8BAF-350ED0B1BBE9}"/>
              </a:ext>
            </a:extLst>
          </p:cNvPr>
          <p:cNvSpPr>
            <a:spLocks noGrp="1"/>
          </p:cNvSpPr>
          <p:nvPr/>
        </p:nvSpPr>
        <p:spPr>
          <a:xfrm>
            <a:off x="1000125" y="44196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A47BFD-26A8-44D3-AA32-F5D6A1ED89AA}"/>
              </a:ext>
            </a:extLst>
          </p:cNvPr>
          <p:cNvSpPr>
            <a:spLocks noGrp="1"/>
          </p:cNvSpPr>
          <p:nvPr/>
        </p:nvSpPr>
        <p:spPr>
          <a:xfrm>
            <a:off x="1323975" y="4305300"/>
            <a:ext cx="53911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多个示例要覆盖主要类型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DDBA9D8-285B-468B-8E27-8E1CA5D0FA89}"/>
              </a:ext>
            </a:extLst>
          </p:cNvPr>
          <p:cNvSpPr>
            <a:spLocks noGrp="1"/>
          </p:cNvSpPr>
          <p:nvPr/>
        </p:nvSpPr>
        <p:spPr>
          <a:xfrm>
            <a:off x="1000125" y="50482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09D710-C141-4C02-96AA-5FCE337E3A82}"/>
              </a:ext>
            </a:extLst>
          </p:cNvPr>
          <p:cNvSpPr>
            <a:spLocks noGrp="1"/>
          </p:cNvSpPr>
          <p:nvPr/>
        </p:nvSpPr>
        <p:spPr>
          <a:xfrm>
            <a:off x="1323975" y="4933950"/>
            <a:ext cx="53911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示例中的结论和格式必须正确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2571750"/>
            <a:ext cx="4762500" cy="238125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1E2F61D-8F52-4E14-82AF-2D366787D5EA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Few-shot 的价值取决于示例质量</a:t>
            </a:r>
          </a:p>
        </p:txBody>
      </p:sp>
    </p:spTree>
    <p:extLst>
      <p:ext uri="{BB962C8B-B14F-4D97-AF65-F5344CB8AC3E}">
        <p14:creationId xmlns:p14="http://schemas.microsoft.com/office/powerpoint/2010/main" val="886370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9C930B3-ED43-4BD1-A449-3B88623248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97D09E-0C9D-4139-8091-76FBD258C5BA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  常用提示方法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E3AA22-7ADD-4B8B-9B16-B7D241DA642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示例应当与任务相关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212CB3-9406-45E4-8190-B49CBDCF5AB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1A1BBA-538C-492F-AB10-6CCCBC927AA4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不相关示例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1311E9B-3C8F-4F04-866D-6C61469D9D2F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FE6FA8-ACFB-4FE1-A41C-851A5C402A5A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任务是更新 CHANGELOG.md</a:t>
            </a:r>
          </a:p>
          <a:p>
            <a:pPr algn="ctr">
              <a:lnSpc>
                <a:spcPct val="128000"/>
              </a:lnSpc>
              <a:buNone/>
              <a:def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却只提供 README 的项目介绍段落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9833F2-B64E-45DC-A823-A5E55F9F3BF8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相关示例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87D18A2-4A12-4255-B693-60681F133FC4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453E61-7201-4295-8B24-762E1D204648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28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修复纯空格用户名验证</a:t>
            </a:r>
          </a:p>
          <a:p>
            <a:pPr algn="l">
              <a:lnSpc>
                <a:spcPct val="128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fix(auth): reject whitespace-only usernames</a:t>
            </a:r>
          </a:p>
          <a:p>
            <a:endParaRPr sz="2025" b="0">
              <a:solidFill>
                <a:srgbClr val="17342A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lnSpc>
                <a:spcPct val="128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增加搜索分类过滤</a:t>
            </a:r>
          </a:p>
          <a:p>
            <a:pPr algn="l">
              <a:lnSpc>
                <a:spcPct val="128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feat(search): add category filter</a:t>
            </a:r>
          </a:p>
        </p:txBody>
      </p:sp>
    </p:spTree>
    <p:extLst>
      <p:ext uri="{BB962C8B-B14F-4D97-AF65-F5344CB8AC3E}">
        <p14:creationId xmlns:p14="http://schemas.microsoft.com/office/powerpoint/2010/main" val="216588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4373F11-A10F-42AA-8149-D71A9A7C7B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6836AA-31F0-4725-A5C8-A8DD604A3AB9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  常用提示方法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EACDD2-48DF-4966-98A7-499350753F4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示例应当覆盖主要类型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794DC5-482F-4EF9-B828-E659973DD4F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6E6CBA-3988-4C5E-892B-0DDED2301684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所有示例都是同一类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CD2D863-3E7C-4E95-92DE-3E020044AF96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B98CAD-7C59-4A29-B720-A22CA0D88BEA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1 -&gt; odd</a:t>
            </a:r>
          </a:p>
          <a:p>
            <a:pPr algn="ctr">
              <a:lnSpc>
                <a:spcPct val="128000"/>
              </a:lnSpc>
              <a:buNone/>
              <a:def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3 -&gt; odd</a:t>
            </a:r>
          </a:p>
          <a:p>
            <a:pPr algn="ctr">
              <a:lnSpc>
                <a:spcPct val="128000"/>
              </a:lnSpc>
              <a:buNone/>
              <a:def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5 -&gt; odd</a:t>
            </a:r>
          </a:p>
          <a:p>
            <a:endParaRPr sz="2400" b="0">
              <a:solidFill>
                <a:srgbClr val="17342A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28000"/>
              </a:lnSpc>
              <a:buNone/>
              <a:def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请补充 8 的结果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F44436-706B-44AD-8F99-5B62A49E062F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主要类型都出现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F804501-13A8-46E4-B69A-39D1583008E6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261E40-6876-4EEF-91EB-0B62D40C0909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1 -&gt; odd</a:t>
            </a:r>
          </a:p>
          <a:p>
            <a:pPr algn="ctr">
              <a:lnSpc>
                <a:spcPct val="128000"/>
              </a:lnSpc>
              <a:buNone/>
              <a:def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2 -&gt; even</a:t>
            </a:r>
          </a:p>
          <a:p>
            <a:pPr algn="ctr">
              <a:lnSpc>
                <a:spcPct val="128000"/>
              </a:lnSpc>
              <a:buNone/>
              <a:def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5 -&gt; odd</a:t>
            </a:r>
          </a:p>
          <a:p>
            <a:pPr algn="ctr">
              <a:lnSpc>
                <a:spcPct val="128000"/>
              </a:lnSpc>
              <a:buNone/>
              <a:def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8 -&gt; even</a:t>
            </a:r>
          </a:p>
          <a:p>
            <a:endParaRPr sz="2400" b="0">
              <a:solidFill>
                <a:srgbClr val="17342A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28000"/>
              </a:lnSpc>
              <a:buNone/>
              <a:def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请补充 12 的结果</a:t>
            </a:r>
          </a:p>
        </p:txBody>
      </p:sp>
    </p:spTree>
    <p:extLst>
      <p:ext uri="{BB962C8B-B14F-4D97-AF65-F5344CB8AC3E}">
        <p14:creationId xmlns:p14="http://schemas.microsoft.com/office/powerpoint/2010/main" val="985923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1E13D23-E6B0-40AF-BE85-D884E05424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676818-F132-4522-8F1D-D2CDD26B706A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  常用提示方法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9491D1-789D-4AD1-9DBA-796BC37377D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示例必须先校对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217A63-0214-4189-9293-6284EA237D7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AF7A0D-C446-418A-A4C4-A44B2D56CAFF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B95C4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B95C4E"/>
                </a:solidFill>
                <a:latin typeface="Hiragino Sans GB"/>
                <a:ea typeface="Hiragino Sans GB"/>
                <a:cs typeface="Hiragino Sans GB"/>
              </a:rPr>
              <a:t>错误示例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3AC1DB4-D8C9-4BAD-859C-09906CC5F74E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B859CF-5C9A-49D9-9866-DDDE1D5F3057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5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单链表按值查找 -&gt; O(1)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AA5DDE-9875-4BF6-8CA1-B75F326E45E7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正确示例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D8F34EF-3D59-4870-8284-89C4C3BFB04C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1B3EE8-A477-432F-A771-B8C708639D7F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5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单链表按值查找 -&gt; O(n)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ADCF57-0630-4E95-A1A2-B39437B0B9B5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Few-shot 的可靠性不会高于示例本身</a:t>
            </a:r>
          </a:p>
        </p:txBody>
      </p:sp>
    </p:spTree>
    <p:extLst>
      <p:ext uri="{BB962C8B-B14F-4D97-AF65-F5344CB8AC3E}">
        <p14:creationId xmlns:p14="http://schemas.microsoft.com/office/powerpoint/2010/main" val="1620075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60D3BC4-292C-4A0B-97FB-76D07D83D1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6B9CE8-8759-4D69-8B76-5CD71999D592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06  常用提示方法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95C0FA-F582-4CF0-ACE3-F150170526E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Step-by-step Prompting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7E518B-8584-4180-AD69-E93179955A2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EEC9CA-1820-4FD8-AEE3-235D233CF38A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用编号或顺序组织 Agent 的可观察操作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D47240F-6A46-4D43-A667-27DBF60EB061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5D8BE4-DDAB-40BD-8D6C-141D5806E0F0}"/>
              </a:ext>
            </a:extLst>
          </p:cNvPr>
          <p:cNvSpPr>
            <a:spLocks noGrp="1"/>
          </p:cNvSpPr>
          <p:nvPr/>
        </p:nvSpPr>
        <p:spPr>
          <a:xfrm>
            <a:off x="1752600" y="28575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先读取目标文件和文档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6FB8ABF-22CB-40C9-924B-655632D698E6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3ED0C2-D4C4-4898-AC32-020FD56F554D}"/>
              </a:ext>
            </a:extLst>
          </p:cNvPr>
          <p:cNvSpPr>
            <a:spLocks noGrp="1"/>
          </p:cNvSpPr>
          <p:nvPr/>
        </p:nvSpPr>
        <p:spPr>
          <a:xfrm>
            <a:off x="1752600" y="35433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确认现有接口与约定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DB210E2-48B0-4C2F-8370-87D6C75F85CB}"/>
              </a:ext>
            </a:extLst>
          </p:cNvPr>
          <p:cNvSpPr>
            <a:spLocks noGrp="1"/>
          </p:cNvSpPr>
          <p:nvPr/>
        </p:nvSpPr>
        <p:spPr>
          <a:xfrm>
            <a:off x="1428750" y="43434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EC9065-C4AC-4E71-BD89-800C65FDBA97}"/>
              </a:ext>
            </a:extLst>
          </p:cNvPr>
          <p:cNvSpPr>
            <a:spLocks noGrp="1"/>
          </p:cNvSpPr>
          <p:nvPr/>
        </p:nvSpPr>
        <p:spPr>
          <a:xfrm>
            <a:off x="1752600" y="42291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按已确认的边界修改实现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79D5B4E-D6DF-4629-B8B7-5F02017D5CA9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BADF63-F62A-4087-B381-7DAB4BF49727}"/>
              </a:ext>
            </a:extLst>
          </p:cNvPr>
          <p:cNvSpPr>
            <a:spLocks noGrp="1"/>
          </p:cNvSpPr>
          <p:nvPr/>
        </p:nvSpPr>
        <p:spPr>
          <a:xfrm>
            <a:off x="1752600" y="49149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同步相关文档并汇报结果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3A285A-893F-4BD3-A328-A5A06EDE0D33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分步内容应该能通过文件或工具结果检查</a:t>
            </a:r>
          </a:p>
        </p:txBody>
      </p:sp>
    </p:spTree>
    <p:extLst>
      <p:ext uri="{BB962C8B-B14F-4D97-AF65-F5344CB8AC3E}">
        <p14:creationId xmlns:p14="http://schemas.microsoft.com/office/powerpoint/2010/main" val="915804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0DE8414-6181-459C-B874-0BDEAC5F83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28EA98-363F-40DD-A3FF-005A25BAEE9E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06  常用提示方法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9F969B-131E-40A5-BBB3-4D96CE24346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分步提示适合多文件任务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58847E-7AC3-49F6-BD06-7A058C9AD66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6400028-1210-4772-80B2-450DE098EED1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10439400" cy="3333750"/>
          </a:xfrm>
          <a:prstGeom prst="roundRect">
            <a:avLst>
              <a:gd name="adj" fmla="val 5714"/>
            </a:avLst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741FAC-6EC3-4214-ACCA-D0AA0198B34E}"/>
              </a:ext>
            </a:extLst>
          </p:cNvPr>
          <p:cNvSpPr>
            <a:spLocks noGrp="1"/>
          </p:cNvSpPr>
          <p:nvPr/>
        </p:nvSpPr>
        <p:spPr>
          <a:xfrm>
            <a:off x="1200150" y="2095500"/>
            <a:ext cx="9791700" cy="2809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30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1. 读取 src/array.py 和 src/linked_list.py。</a:t>
            </a:r>
          </a:p>
          <a:p>
            <a:pPr algn="l">
              <a:lnSpc>
                <a:spcPct val="130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2. 确认两种结构的随机访问和头部插入复杂度。</a:t>
            </a:r>
          </a:p>
          <a:p>
            <a:pPr algn="l">
              <a:lnSpc>
                <a:spcPct val="130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3. 在 docs/comparison.md 中写明各自适用场景。</a:t>
            </a:r>
          </a:p>
          <a:p>
            <a:pPr algn="l">
              <a:lnSpc>
                <a:spcPct val="130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4. 在同一文件末尾用 Markdown 表格总结。</a:t>
            </a:r>
          </a:p>
          <a:p>
            <a:pPr algn="l">
              <a:lnSpc>
                <a:spcPct val="130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5. 不修改源代码，完成后汇报文档变化。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6BB36B-4954-4620-BA32-6C62A71B1274}"/>
              </a:ext>
            </a:extLst>
          </p:cNvPr>
          <p:cNvSpPr>
            <a:spLocks noGrp="1"/>
          </p:cNvSpPr>
          <p:nvPr/>
        </p:nvSpPr>
        <p:spPr>
          <a:xfrm>
            <a:off x="838200" y="5667375"/>
            <a:ext cx="1051560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步骤顺序体现读取、确认、编写和交付的依赖关系</a:t>
            </a:r>
          </a:p>
        </p:txBody>
      </p:sp>
    </p:spTree>
    <p:extLst>
      <p:ext uri="{BB962C8B-B14F-4D97-AF65-F5344CB8AC3E}">
        <p14:creationId xmlns:p14="http://schemas.microsoft.com/office/powerpoint/2010/main" val="766354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DBB9DCB-46A7-48F2-B6C0-ADF81D8686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156080-AC28-4083-8B25-A665D8306FE8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06  常用提示方法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B0FA63-0CEF-4B24-A555-019C9A4193B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简单任务不必强行分步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2AB6C3-697E-4B96-8911-00A6C302A3C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FBE3D2-A4FB-4C97-8BB9-47A2E26557C3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冗余步骤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D3161D9-1B79-406C-BCBD-FBC93BE099CD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3E8FBE-284B-47CE-B067-43A5D8A85D6F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第一步找到文件</a:t>
            </a:r>
          </a:p>
          <a:p>
            <a:pPr algn="ctr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第二步读取文件</a:t>
            </a:r>
          </a:p>
          <a:p>
            <a:pPr algn="ctr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第三步思考修改</a:t>
            </a:r>
          </a:p>
          <a:p>
            <a:pPr algn="ctr">
              <a:lnSpc>
                <a:spcPct val="128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将 Task Traker 改为 Task Tracker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08243E-1D4D-4EF0-A526-FEBA2134A188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直接要求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A5A6739-0FD1-4A46-94A4-FAFBF8088B51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EE678F-D4D5-4073-AADD-BE8A76C4E3D7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将 README.md 中的 Task Traker</a:t>
            </a:r>
          </a:p>
          <a:p>
            <a:pPr algn="ctr">
              <a:lnSpc>
                <a:spcPct val="128000"/>
              </a:lnSpc>
              <a:buNone/>
              <a:def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改为 Task Tracker</a:t>
            </a:r>
          </a:p>
          <a:p>
            <a:pPr algn="ctr">
              <a:lnSpc>
                <a:spcPct val="128000"/>
              </a:lnSpc>
              <a:buNone/>
              <a:def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只修改这一处</a:t>
            </a:r>
          </a:p>
        </p:txBody>
      </p:sp>
    </p:spTree>
    <p:extLst>
      <p:ext uri="{BB962C8B-B14F-4D97-AF65-F5344CB8AC3E}">
        <p14:creationId xmlns:p14="http://schemas.microsoft.com/office/powerpoint/2010/main" val="589824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0BF5556-5D77-4797-BAE1-A01F47A9D5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1B39A1-6034-4C36-B0FF-90E4ED39379C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06  常用提示方法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5B98E1-6D64-4E80-ACA2-63891452D86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分步提示不等于索要内部思考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1011A8-02B9-4E75-94AD-41F8DACF2DF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D17951-5D94-4F02-9318-D5DA24BA4846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可检查的要求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48A6976-2D03-4D02-BE4B-DAF415E4F487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8FFD98-64A4-4F5B-A9A7-270395173125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2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先读取 src/search.py</a:t>
            </a:r>
          </a:p>
          <a:p>
            <a:pPr algn="ctr">
              <a:lnSpc>
                <a:spcPct val="128000"/>
              </a:lnSpc>
              <a:buNone/>
              <a:defRPr sz="22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再修改目标函数</a:t>
            </a:r>
          </a:p>
          <a:p>
            <a:pPr algn="ctr">
              <a:lnSpc>
                <a:spcPct val="128000"/>
              </a:lnSpc>
              <a:buNone/>
              <a:defRPr sz="22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最后汇报修改位置和行为变化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1263B7-BF63-4A84-B2CF-8A3AA21AF0D6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B95C4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B95C4E"/>
                </a:solidFill>
                <a:latin typeface="Hiragino Sans GB"/>
                <a:ea typeface="Hiragino Sans GB"/>
                <a:cs typeface="Hiragino Sans GB"/>
              </a:rPr>
              <a:t>不需要的要求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A853353-1690-4B80-AF11-78A069603B8B}"/>
              </a:ext>
            </a:extLst>
          </p:cNvPr>
          <p:cNvSpPr>
            <a:spLocks noGrp="1"/>
          </p:cNvSpPr>
          <p:nvPr/>
        </p:nvSpPr>
        <p:spPr>
          <a:xfrm>
            <a:off x="6400800" y="2428875"/>
            <a:ext cx="4953000" cy="2952750"/>
          </a:xfrm>
          <a:prstGeom prst="roundRect">
            <a:avLst>
              <a:gd name="adj" fmla="val 6452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F83C2B-9F40-467F-9541-40C5A3295DE1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43400" cy="2238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28000"/>
              </a:lnSpc>
              <a:buNone/>
              <a:def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逐字展示全部内部思考过程</a:t>
            </a:r>
          </a:p>
          <a:p>
            <a:pPr algn="ctr">
              <a:lnSpc>
                <a:spcPct val="128000"/>
              </a:lnSpc>
              <a:buNone/>
              <a:def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再修改文件</a:t>
            </a:r>
          </a:p>
        </p:txBody>
      </p:sp>
    </p:spTree>
    <p:extLst>
      <p:ext uri="{BB962C8B-B14F-4D97-AF65-F5344CB8AC3E}">
        <p14:creationId xmlns:p14="http://schemas.microsoft.com/office/powerpoint/2010/main" val="717059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19C2499-E567-4E9D-B0AE-0208746DC5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F9DBE3-CEE1-477A-942C-A28F3E0B6421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07  输出格式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26A181-A839-40C5-A6B3-58981683F6D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输出格式控制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81E80-6E7E-4BE6-8AFD-98B5AC1AC89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759D75-2B29-44C2-8549-ABB8A87D28E1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107442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7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对编码 Agent 而言，格式通常落到工作区中的文件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66426" y="2619375"/>
            <a:ext cx="6059148" cy="252412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DAA3797-1DE0-49A3-8B96-DE2B54B9DBE9}"/>
              </a:ext>
            </a:extLst>
          </p:cNvPr>
          <p:cNvSpPr>
            <a:spLocks noGrp="1"/>
          </p:cNvSpPr>
          <p:nvPr/>
        </p:nvSpPr>
        <p:spPr>
          <a:xfrm>
            <a:off x="1190625" y="528637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Markdown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C9D172-4A9A-4D46-AD3E-C81DDCEF4D1F}"/>
              </a:ext>
            </a:extLst>
          </p:cNvPr>
          <p:cNvSpPr>
            <a:spLocks noGrp="1"/>
          </p:cNvSpPr>
          <p:nvPr/>
        </p:nvSpPr>
        <p:spPr>
          <a:xfrm>
            <a:off x="3762375" y="528637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JSON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6BFDB7-AF19-4B85-9CC4-0D4549B7E80D}"/>
              </a:ext>
            </a:extLst>
          </p:cNvPr>
          <p:cNvSpPr>
            <a:spLocks noGrp="1"/>
          </p:cNvSpPr>
          <p:nvPr/>
        </p:nvSpPr>
        <p:spPr>
          <a:xfrm>
            <a:off x="6334125" y="528637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表格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D45E94-CE8A-4B4C-A07E-03AD7C439DE5}"/>
              </a:ext>
            </a:extLst>
          </p:cNvPr>
          <p:cNvSpPr>
            <a:spLocks noGrp="1"/>
          </p:cNvSpPr>
          <p:nvPr/>
        </p:nvSpPr>
        <p:spPr>
          <a:xfrm>
            <a:off x="8905875" y="528637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代码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EB871E-EAE9-45B3-94E6-EF727F10F23B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格式选择由下一步用途决定</a:t>
            </a:r>
          </a:p>
        </p:txBody>
      </p:sp>
    </p:spTree>
    <p:extLst>
      <p:ext uri="{BB962C8B-B14F-4D97-AF65-F5344CB8AC3E}">
        <p14:creationId xmlns:p14="http://schemas.microsoft.com/office/powerpoint/2010/main" val="602295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DCC8FD1-881E-485B-9175-E2FE044DE3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D5D4D7-365D-4C6C-92A1-A836ABC2AE61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07  输出格式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289624-35A8-45CC-AC2D-92F3DEF740D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Markdown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6385F6-E054-4A48-A76D-F226997C08C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E77882-0A8B-4966-9E30-8754EAD902D9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适合组织供开发者和使用者阅读的项目文档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35CB370-2AEF-45B8-A17E-55C3F82A8690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1BE2F-1CA3-4640-853B-67A8754969C2}"/>
              </a:ext>
            </a:extLst>
          </p:cNvPr>
          <p:cNvSpPr>
            <a:spLocks noGrp="1"/>
          </p:cNvSpPr>
          <p:nvPr/>
        </p:nvSpPr>
        <p:spPr>
          <a:xfrm>
            <a:off x="1752600" y="28575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指定 README.md 或其他目标文档路径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82BDB702-A413-453B-BA4E-C3B5AF9B3214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67F386-A229-4B99-A639-07FB88F85C05}"/>
              </a:ext>
            </a:extLst>
          </p:cNvPr>
          <p:cNvSpPr>
            <a:spLocks noGrp="1"/>
          </p:cNvSpPr>
          <p:nvPr/>
        </p:nvSpPr>
        <p:spPr>
          <a:xfrm>
            <a:off x="1752600" y="35433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规定二级标题的名称和顺序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D647941-C51C-4352-917D-902628E6D955}"/>
              </a:ext>
            </a:extLst>
          </p:cNvPr>
          <p:cNvSpPr>
            <a:spLocks noGrp="1"/>
          </p:cNvSpPr>
          <p:nvPr/>
        </p:nvSpPr>
        <p:spPr>
          <a:xfrm>
            <a:off x="1428750" y="43434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85579A-E0CA-4B67-9284-3E89C648825F}"/>
              </a:ext>
            </a:extLst>
          </p:cNvPr>
          <p:cNvSpPr>
            <a:spLocks noGrp="1"/>
          </p:cNvSpPr>
          <p:nvPr/>
        </p:nvSpPr>
        <p:spPr>
          <a:xfrm>
            <a:off x="1752600" y="42291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命令放入带语言标记的代码块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E5C00718-2BC4-4684-A1D7-E9D02332AE8A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37E37D-E3CB-4EFF-9D2D-51EEB60B3BE4}"/>
              </a:ext>
            </a:extLst>
          </p:cNvPr>
          <p:cNvSpPr>
            <a:spLocks noGrp="1"/>
          </p:cNvSpPr>
          <p:nvPr/>
        </p:nvSpPr>
        <p:spPr>
          <a:xfrm>
            <a:off x="1752600" y="49149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列表、表格和段落分别承担合适的内容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751AC6-2D0F-4540-BF26-C362E042EF1F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常见文件：README、安装指南、部署文档和 API 使用说明</a:t>
            </a:r>
          </a:p>
        </p:txBody>
      </p:sp>
    </p:spTree>
    <p:extLst>
      <p:ext uri="{BB962C8B-B14F-4D97-AF65-F5344CB8AC3E}">
        <p14:creationId xmlns:p14="http://schemas.microsoft.com/office/powerpoint/2010/main" val="10558403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A47A7BC-90D4-4753-BE3C-5CC59E84F9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50EC23-AC83-447D-ADB5-F951D98F8F88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07  输出格式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F6E902-D6A4-4E06-9E43-09F0EE47816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JSON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797245-E2D4-40DE-BD52-1E85DD63CFD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4FF6CF-4668-4B7D-ABDA-956921667A7A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适合创建供程序、脚本或接口读取的结构化数据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E1C611B-DFE1-4A04-90FC-6A11BE2B19F5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7B3CEA-9217-4ED1-81F7-94A3160A5647}"/>
              </a:ext>
            </a:extLst>
          </p:cNvPr>
          <p:cNvSpPr>
            <a:spLocks noGrp="1"/>
          </p:cNvSpPr>
          <p:nvPr/>
        </p:nvSpPr>
        <p:spPr>
          <a:xfrm>
            <a:off x="1752600" y="28575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明确根节点是对象还是数组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2F9460C-F01D-4ADD-80EC-276D42E9225E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F962AE-3095-4713-836D-E4D8A3E963E1}"/>
              </a:ext>
            </a:extLst>
          </p:cNvPr>
          <p:cNvSpPr>
            <a:spLocks noGrp="1"/>
          </p:cNvSpPr>
          <p:nvPr/>
        </p:nvSpPr>
        <p:spPr>
          <a:xfrm>
            <a:off x="1752600" y="35433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规定字段名、数据类型和必填性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8D2F0C1-4CDD-444D-A40E-B002AEC521D9}"/>
              </a:ext>
            </a:extLst>
          </p:cNvPr>
          <p:cNvSpPr>
            <a:spLocks noGrp="1"/>
          </p:cNvSpPr>
          <p:nvPr/>
        </p:nvSpPr>
        <p:spPr>
          <a:xfrm>
            <a:off x="1428750" y="43434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43C8D2-A74B-4218-8EE5-A44680358DAD}"/>
              </a:ext>
            </a:extLst>
          </p:cNvPr>
          <p:cNvSpPr>
            <a:spLocks noGrp="1"/>
          </p:cNvSpPr>
          <p:nvPr/>
        </p:nvSpPr>
        <p:spPr>
          <a:xfrm>
            <a:off x="1752600" y="42291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限定字段允许值和缺失值处理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616548C7-9432-4C9F-B3A6-07EEF2B5B3DD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D0E912-BBF0-4ABF-90D0-8819AFA900AD}"/>
              </a:ext>
            </a:extLst>
          </p:cNvPr>
          <p:cNvSpPr>
            <a:spLocks noGrp="1"/>
          </p:cNvSpPr>
          <p:nvPr/>
        </p:nvSpPr>
        <p:spPr>
          <a:xfrm>
            <a:off x="1752600" y="49149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文件只包含合法 JSON，不混入注释或 Markdown 围栏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8203E1-EB64-49F1-9C19-B94F58E22E70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核心检查：语法合法、字段齐全、类型稳定、无敏感信息</a:t>
            </a:r>
          </a:p>
        </p:txBody>
      </p:sp>
    </p:spTree>
    <p:extLst>
      <p:ext uri="{BB962C8B-B14F-4D97-AF65-F5344CB8AC3E}">
        <p14:creationId xmlns:p14="http://schemas.microsoft.com/office/powerpoint/2010/main" val="1599681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F767424-9F18-407C-A353-61992CD9F8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6245F7-F1A2-4FE5-9187-DABE668C3263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07  输出格式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A6B3D3-8257-4005-91F9-8E6B0EDA7EA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表格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8C5476-AF48-4391-B7A0-FDEDB3CE1CE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4A814E-A6DF-4FD5-BC32-3B80B8C60D82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适合用相同维度比较多个对象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F374214-8C8C-46DA-9504-D2E4DA15D670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7F6A6D-DB81-409A-B49E-9C89F68FC80D}"/>
              </a:ext>
            </a:extLst>
          </p:cNvPr>
          <p:cNvSpPr>
            <a:spLocks noGrp="1"/>
          </p:cNvSpPr>
          <p:nvPr/>
        </p:nvSpPr>
        <p:spPr>
          <a:xfrm>
            <a:off x="1752600" y="28575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明确比较对象和每一列的名称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EF8D953-0726-4204-955A-50312BE94419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2F582E-B47C-48FB-8462-C73F856E8FF3}"/>
              </a:ext>
            </a:extLst>
          </p:cNvPr>
          <p:cNvSpPr>
            <a:spLocks noGrp="1"/>
          </p:cNvSpPr>
          <p:nvPr/>
        </p:nvSpPr>
        <p:spPr>
          <a:xfrm>
            <a:off x="1752600" y="35433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同一列使用统一单位和表达标准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8780DE3-DADB-4B46-9E4B-41AE65EE4D7F}"/>
              </a:ext>
            </a:extLst>
          </p:cNvPr>
          <p:cNvSpPr>
            <a:spLocks noGrp="1"/>
          </p:cNvSpPr>
          <p:nvPr/>
        </p:nvSpPr>
        <p:spPr>
          <a:xfrm>
            <a:off x="1428750" y="43434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81C3EC-89CA-4ADF-9FD2-9FA3530DD24F}"/>
              </a:ext>
            </a:extLst>
          </p:cNvPr>
          <p:cNvSpPr>
            <a:spLocks noGrp="1"/>
          </p:cNvSpPr>
          <p:nvPr/>
        </p:nvSpPr>
        <p:spPr>
          <a:xfrm>
            <a:off x="1752600" y="42291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需要时规定行顺序或排序规则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3AC866A-0F74-4322-91A0-971F7AA55B7F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E2371A-B237-4310-9240-920B1413F102}"/>
              </a:ext>
            </a:extLst>
          </p:cNvPr>
          <p:cNvSpPr>
            <a:spLocks noGrp="1"/>
          </p:cNvSpPr>
          <p:nvPr/>
        </p:nvSpPr>
        <p:spPr>
          <a:xfrm>
            <a:off x="1752600" y="49149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单元格只保留结论，长篇解释放在表格后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E72FC5-674B-4C56-8820-36FFFD195849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常见用途：复杂度、配置项、方案差异和功能对比</a:t>
            </a:r>
          </a:p>
        </p:txBody>
      </p:sp>
    </p:spTree>
    <p:extLst>
      <p:ext uri="{BB962C8B-B14F-4D97-AF65-F5344CB8AC3E}">
        <p14:creationId xmlns:p14="http://schemas.microsoft.com/office/powerpoint/2010/main" val="362072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5E45D59E-3B36-491A-8E11-7F04C07141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5A1932-1648-41C6-AD96-DA08C7734EF5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07  输出格式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03666F-7CC9-434A-9864-F1663C879DE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代码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E759A9-081E-4251-A0F8-30EFD068A2A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4B15B4-14B1-43B0-8D85-38A1F8CB4CC9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适合直接创建或修改项目中的源文件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21BA9D3-0D21-4C54-BE0A-E05AB96EEEEE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5CD9E2-B376-4AFE-A6D2-7828439C328E}"/>
              </a:ext>
            </a:extLst>
          </p:cNvPr>
          <p:cNvSpPr>
            <a:spLocks noGrp="1"/>
          </p:cNvSpPr>
          <p:nvPr/>
        </p:nvSpPr>
        <p:spPr>
          <a:xfrm>
            <a:off x="1752600" y="28575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指定语言、版本和目标文件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B2758C7-3E89-4B95-A8D9-AEE6D2CD899D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29B755-C1A5-4544-AAFE-3A5A3A0D19B0}"/>
              </a:ext>
            </a:extLst>
          </p:cNvPr>
          <p:cNvSpPr>
            <a:spLocks noGrp="1"/>
          </p:cNvSpPr>
          <p:nvPr/>
        </p:nvSpPr>
        <p:spPr>
          <a:xfrm>
            <a:off x="1752600" y="35433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固定函数或类的名称、参数和返回类型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45C1D97-027B-49A4-BD87-64240D15F131}"/>
              </a:ext>
            </a:extLst>
          </p:cNvPr>
          <p:cNvSpPr>
            <a:spLocks noGrp="1"/>
          </p:cNvSpPr>
          <p:nvPr/>
        </p:nvSpPr>
        <p:spPr>
          <a:xfrm>
            <a:off x="1428750" y="43434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F24A4D-054A-4A27-818C-55242FF209CA}"/>
              </a:ext>
            </a:extLst>
          </p:cNvPr>
          <p:cNvSpPr>
            <a:spLocks noGrp="1"/>
          </p:cNvSpPr>
          <p:nvPr/>
        </p:nvSpPr>
        <p:spPr>
          <a:xfrm>
            <a:off x="1752600" y="42291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说明是否允许第三方依赖和现成函数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E648F7C4-9AAD-45F8-93AD-6522CFE274BA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52F1BF-130F-40E1-B035-754E35CA4436}"/>
              </a:ext>
            </a:extLst>
          </p:cNvPr>
          <p:cNvSpPr>
            <a:spLocks noGrp="1"/>
          </p:cNvSpPr>
          <p:nvPr/>
        </p:nvSpPr>
        <p:spPr>
          <a:xfrm>
            <a:off x="1752600" y="49149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明确局部修改、完整新文件和配套文档的边界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B95936-25E0-4CE3-85DA-B7154719AB23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代码写入源文件，教程说明写入项目文档</a:t>
            </a:r>
          </a:p>
        </p:txBody>
      </p:sp>
    </p:spTree>
    <p:extLst>
      <p:ext uri="{BB962C8B-B14F-4D97-AF65-F5344CB8AC3E}">
        <p14:creationId xmlns:p14="http://schemas.microsoft.com/office/powerpoint/2010/main" val="15691919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FACD2106-8C12-4CE7-A7B7-C098C87A0A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8FE36D-E1F2-44D9-ADFD-F5589FD308C4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07  输出格式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280D00-9F48-4C3B-8CC2-05E826E8AE3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四种格式的选择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A4E4E9-3C3C-4677-A9E8-D1BFC4811A9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4190A9-E027-491D-BBBA-48134042A1B9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409575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人需要连续阅读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1DA8AED-76BE-4716-AAFF-41FF5F340739}"/>
              </a:ext>
            </a:extLst>
          </p:cNvPr>
          <p:cNvSpPr>
            <a:spLocks noGrp="1"/>
          </p:cNvSpPr>
          <p:nvPr/>
        </p:nvSpPr>
        <p:spPr>
          <a:xfrm>
            <a:off x="5143500" y="1714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47A99B-9A01-4DD5-A226-36BE685EBDB3}"/>
              </a:ext>
            </a:extLst>
          </p:cNvPr>
          <p:cNvSpPr>
            <a:spLocks noGrp="1"/>
          </p:cNvSpPr>
          <p:nvPr/>
        </p:nvSpPr>
        <p:spPr>
          <a:xfrm>
            <a:off x="5286375" y="1790700"/>
            <a:ext cx="18097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Markdown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A4C255-7005-418E-8D64-A90A00415C79}"/>
              </a:ext>
            </a:extLst>
          </p:cNvPr>
          <p:cNvSpPr>
            <a:spLocks noGrp="1"/>
          </p:cNvSpPr>
          <p:nvPr/>
        </p:nvSpPr>
        <p:spPr>
          <a:xfrm>
            <a:off x="7620000" y="1714500"/>
            <a:ext cx="3619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README、项目说明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A21558-3813-483B-854E-48C78351850F}"/>
              </a:ext>
            </a:extLst>
          </p:cNvPr>
          <p:cNvSpPr>
            <a:spLocks noGrp="1"/>
          </p:cNvSpPr>
          <p:nvPr/>
        </p:nvSpPr>
        <p:spPr>
          <a:xfrm>
            <a:off x="838200" y="2714625"/>
            <a:ext cx="409575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程序需要读取字段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FC3AF40-5E92-441D-917A-249AE080A7F4}"/>
              </a:ext>
            </a:extLst>
          </p:cNvPr>
          <p:cNvSpPr>
            <a:spLocks noGrp="1"/>
          </p:cNvSpPr>
          <p:nvPr/>
        </p:nvSpPr>
        <p:spPr>
          <a:xfrm>
            <a:off x="5143500" y="2714625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28465A-D34F-4176-8002-BD7EE3BEE7BC}"/>
              </a:ext>
            </a:extLst>
          </p:cNvPr>
          <p:cNvSpPr>
            <a:spLocks noGrp="1"/>
          </p:cNvSpPr>
          <p:nvPr/>
        </p:nvSpPr>
        <p:spPr>
          <a:xfrm>
            <a:off x="5286375" y="2790825"/>
            <a:ext cx="18097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JSON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217EEE-A812-40F9-9148-67D2C3CCBD11}"/>
              </a:ext>
            </a:extLst>
          </p:cNvPr>
          <p:cNvSpPr>
            <a:spLocks noGrp="1"/>
          </p:cNvSpPr>
          <p:nvPr/>
        </p:nvSpPr>
        <p:spPr>
          <a:xfrm>
            <a:off x="7620000" y="2714625"/>
            <a:ext cx="3619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分类结果、数据清单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8AD6CE-20E6-4474-B6EB-A6E87837EA8F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09575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需要横向比较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5995FEE-9254-4A9A-B618-B93DEDE628DF}"/>
              </a:ext>
            </a:extLst>
          </p:cNvPr>
          <p:cNvSpPr>
            <a:spLocks noGrp="1"/>
          </p:cNvSpPr>
          <p:nvPr/>
        </p:nvSpPr>
        <p:spPr>
          <a:xfrm>
            <a:off x="5143500" y="37147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EFDCB1-DFC3-4F36-90B6-49D0723C70F0}"/>
              </a:ext>
            </a:extLst>
          </p:cNvPr>
          <p:cNvSpPr>
            <a:spLocks noGrp="1"/>
          </p:cNvSpPr>
          <p:nvPr/>
        </p:nvSpPr>
        <p:spPr>
          <a:xfrm>
            <a:off x="5286375" y="3790950"/>
            <a:ext cx="18097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表格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3D309C-F5BA-40DC-AB77-70DA2B30A5FB}"/>
              </a:ext>
            </a:extLst>
          </p:cNvPr>
          <p:cNvSpPr>
            <a:spLocks noGrp="1"/>
          </p:cNvSpPr>
          <p:nvPr/>
        </p:nvSpPr>
        <p:spPr>
          <a:xfrm>
            <a:off x="7620000" y="3714750"/>
            <a:ext cx="3619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复杂度、方案优缺点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279A51-6386-4D01-8A80-B8B63FBAAECA}"/>
              </a:ext>
            </a:extLst>
          </p:cNvPr>
          <p:cNvSpPr>
            <a:spLocks noGrp="1"/>
          </p:cNvSpPr>
          <p:nvPr/>
        </p:nvSpPr>
        <p:spPr>
          <a:xfrm>
            <a:off x="838200" y="4714875"/>
            <a:ext cx="409575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项目需要直接执行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5ED0D6F-BB7B-4D1D-A914-68D946570584}"/>
              </a:ext>
            </a:extLst>
          </p:cNvPr>
          <p:cNvSpPr>
            <a:spLocks noGrp="1"/>
          </p:cNvSpPr>
          <p:nvPr/>
        </p:nvSpPr>
        <p:spPr>
          <a:xfrm>
            <a:off x="5143500" y="4714875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0A2474-3000-4EC8-943A-7FBF6BC304F0}"/>
              </a:ext>
            </a:extLst>
          </p:cNvPr>
          <p:cNvSpPr>
            <a:spLocks noGrp="1"/>
          </p:cNvSpPr>
          <p:nvPr/>
        </p:nvSpPr>
        <p:spPr>
          <a:xfrm>
            <a:off x="5286375" y="4791075"/>
            <a:ext cx="18097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代码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26D5A49-F250-47DD-9782-4B305A07266D}"/>
              </a:ext>
            </a:extLst>
          </p:cNvPr>
          <p:cNvSpPr>
            <a:spLocks noGrp="1"/>
          </p:cNvSpPr>
          <p:nvPr/>
        </p:nvSpPr>
        <p:spPr>
          <a:xfrm>
            <a:off x="7620000" y="4714875"/>
            <a:ext cx="3619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函数、类、脚本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35A1C1-0DE4-4E83-9ECF-289931D73C4A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先判断下一步谁要使用这个文件</a:t>
            </a:r>
          </a:p>
        </p:txBody>
      </p:sp>
    </p:spTree>
    <p:extLst>
      <p:ext uri="{BB962C8B-B14F-4D97-AF65-F5344CB8AC3E}">
        <p14:creationId xmlns:p14="http://schemas.microsoft.com/office/powerpoint/2010/main" val="20136530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8617F6E-A129-4560-B51E-A9D9231683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B686D5-DC1D-4AD3-B084-28A9ADCA15B9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07  输出格式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7F8378-6144-4E43-B87C-B292565B2FC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组合使用多种格式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7E64E4-4AD1-4CE9-B0F7-822ECA8E817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F6876D5-FABC-4D69-9610-B127528EAE77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10439400" cy="3619500"/>
          </a:xfrm>
          <a:prstGeom prst="roundRect">
            <a:avLst>
              <a:gd name="adj" fmla="val 5263"/>
            </a:avLst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BBF38D-B7E8-4816-AC44-A6BFFCD58252}"/>
              </a:ext>
            </a:extLst>
          </p:cNvPr>
          <p:cNvSpPr>
            <a:spLocks noGrp="1"/>
          </p:cNvSpPr>
          <p:nvPr/>
        </p:nvSpPr>
        <p:spPr>
          <a:xfrm>
            <a:off x="1200150" y="2095500"/>
            <a:ext cx="9791700" cy="3095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30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读取 pyproject.toml、.env.example 和现有 README.md，直接更新根目录 README.md。</a:t>
            </a:r>
          </a:p>
          <a:p>
            <a:endParaRPr sz="2100" b="0">
              <a:solidFill>
                <a:srgbClr val="17342A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lnSpc>
                <a:spcPct val="130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1. 在“安装步骤”下用有序列表说明操作。</a:t>
            </a:r>
          </a:p>
          <a:p>
            <a:pPr algn="l">
              <a:lnSpc>
                <a:spcPct val="130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2. 在“运行方法”下放置一个 bash 代码块。</a:t>
            </a:r>
          </a:p>
          <a:p>
            <a:pPr algn="l">
              <a:lnSpc>
                <a:spcPct val="130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3. 在“配置项”下用表格列出变量名、是否必填和说明。</a:t>
            </a:r>
          </a:p>
          <a:p>
            <a:pPr algn="l">
              <a:lnSpc>
                <a:spcPct val="130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4. 缺失资料统一标记为“待补充”，不修改其他文件。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10A00C-AC7F-4D10-8F4C-CD7D4F43C89E}"/>
              </a:ext>
            </a:extLst>
          </p:cNvPr>
          <p:cNvSpPr>
            <a:spLocks noGrp="1"/>
          </p:cNvSpPr>
          <p:nvPr/>
        </p:nvSpPr>
        <p:spPr>
          <a:xfrm>
            <a:off x="838200" y="5667375"/>
            <a:ext cx="1051560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每种嵌入格式都承担一个清楚用途</a:t>
            </a:r>
          </a:p>
        </p:txBody>
      </p:sp>
    </p:spTree>
    <p:extLst>
      <p:ext uri="{BB962C8B-B14F-4D97-AF65-F5344CB8AC3E}">
        <p14:creationId xmlns:p14="http://schemas.microsoft.com/office/powerpoint/2010/main" val="2786197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5C361604-218D-417D-8AF0-B339839710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57FA32-65D9-4FB7-9F9F-2D8EF6078ED4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08  设计与改进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9AF6EE-A82D-42EB-B6D2-4B2854E363D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高质量 Prompt 的七个步骤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28F029-EA46-44AA-AD50-DEA3590E387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DD46F8-0157-4A5C-864B-6EFBACB2F3A2}"/>
              </a:ext>
            </a:extLst>
          </p:cNvPr>
          <p:cNvSpPr>
            <a:spLocks noGrp="1"/>
          </p:cNvSpPr>
          <p:nvPr/>
        </p:nvSpPr>
        <p:spPr>
          <a:xfrm>
            <a:off x="857250" y="177165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36F1AF-0CDC-47DB-9276-605F5026452A}"/>
              </a:ext>
            </a:extLst>
          </p:cNvPr>
          <p:cNvSpPr>
            <a:spLocks noGrp="1"/>
          </p:cNvSpPr>
          <p:nvPr/>
        </p:nvSpPr>
        <p:spPr>
          <a:xfrm>
            <a:off x="1666875" y="1714500"/>
            <a:ext cx="41910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确定主要目标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F1C49E-9136-4786-A427-DA26D49C2376}"/>
              </a:ext>
            </a:extLst>
          </p:cNvPr>
          <p:cNvSpPr>
            <a:spLocks noGrp="1"/>
          </p:cNvSpPr>
          <p:nvPr/>
        </p:nvSpPr>
        <p:spPr>
          <a:xfrm>
            <a:off x="1666875" y="2428875"/>
            <a:ext cx="4191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6AAEFC-E0B9-4411-9592-4736C49FC65C}"/>
              </a:ext>
            </a:extLst>
          </p:cNvPr>
          <p:cNvSpPr>
            <a:spLocks noGrp="1"/>
          </p:cNvSpPr>
          <p:nvPr/>
        </p:nvSpPr>
        <p:spPr>
          <a:xfrm>
            <a:off x="857250" y="277177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0B38AC-B0FF-49E1-8EEE-CF2B86D67F98}"/>
              </a:ext>
            </a:extLst>
          </p:cNvPr>
          <p:cNvSpPr>
            <a:spLocks noGrp="1"/>
          </p:cNvSpPr>
          <p:nvPr/>
        </p:nvSpPr>
        <p:spPr>
          <a:xfrm>
            <a:off x="1666875" y="2714625"/>
            <a:ext cx="41910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补充必要背景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2F3DC0-8523-43A6-B246-4A4392559340}"/>
              </a:ext>
            </a:extLst>
          </p:cNvPr>
          <p:cNvSpPr>
            <a:spLocks noGrp="1"/>
          </p:cNvSpPr>
          <p:nvPr/>
        </p:nvSpPr>
        <p:spPr>
          <a:xfrm>
            <a:off x="1666875" y="3429000"/>
            <a:ext cx="4191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E4383D-3C28-447F-B8C1-0D8BA41C2868}"/>
              </a:ext>
            </a:extLst>
          </p:cNvPr>
          <p:cNvSpPr>
            <a:spLocks noGrp="1"/>
          </p:cNvSpPr>
          <p:nvPr/>
        </p:nvSpPr>
        <p:spPr>
          <a:xfrm>
            <a:off x="857250" y="377190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FABA0B-0663-4BFE-83A1-ECC6FAF41707}"/>
              </a:ext>
            </a:extLst>
          </p:cNvPr>
          <p:cNvSpPr>
            <a:spLocks noGrp="1"/>
          </p:cNvSpPr>
          <p:nvPr/>
        </p:nvSpPr>
        <p:spPr>
          <a:xfrm>
            <a:off x="1666875" y="3714750"/>
            <a:ext cx="41910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说明输入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538376-2338-49BC-9F4A-550CA79137D6}"/>
              </a:ext>
            </a:extLst>
          </p:cNvPr>
          <p:cNvSpPr>
            <a:spLocks noGrp="1"/>
          </p:cNvSpPr>
          <p:nvPr/>
        </p:nvSpPr>
        <p:spPr>
          <a:xfrm>
            <a:off x="1666875" y="4429125"/>
            <a:ext cx="4191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BF6F24-AC2A-4D2D-A76B-2A66E1B77F5F}"/>
              </a:ext>
            </a:extLst>
          </p:cNvPr>
          <p:cNvSpPr>
            <a:spLocks noGrp="1"/>
          </p:cNvSpPr>
          <p:nvPr/>
        </p:nvSpPr>
        <p:spPr>
          <a:xfrm>
            <a:off x="857250" y="477202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3D9D49D-13F8-496C-940D-A49B304C7626}"/>
              </a:ext>
            </a:extLst>
          </p:cNvPr>
          <p:cNvSpPr>
            <a:spLocks noGrp="1"/>
          </p:cNvSpPr>
          <p:nvPr/>
        </p:nvSpPr>
        <p:spPr>
          <a:xfrm>
            <a:off x="1666875" y="4714875"/>
            <a:ext cx="41910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规定输出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578FA94-9E80-4C92-9F56-38D12938B9FA}"/>
              </a:ext>
            </a:extLst>
          </p:cNvPr>
          <p:cNvSpPr>
            <a:spLocks noGrp="1"/>
          </p:cNvSpPr>
          <p:nvPr/>
        </p:nvSpPr>
        <p:spPr>
          <a:xfrm>
            <a:off x="1666875" y="5429250"/>
            <a:ext cx="4191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639302-404C-4AD1-86D6-153D94F25095}"/>
              </a:ext>
            </a:extLst>
          </p:cNvPr>
          <p:cNvSpPr>
            <a:spLocks noGrp="1"/>
          </p:cNvSpPr>
          <p:nvPr/>
        </p:nvSpPr>
        <p:spPr>
          <a:xfrm>
            <a:off x="6477000" y="177165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396E73-A00B-47E1-A872-92CB0DB11804}"/>
              </a:ext>
            </a:extLst>
          </p:cNvPr>
          <p:cNvSpPr>
            <a:spLocks noGrp="1"/>
          </p:cNvSpPr>
          <p:nvPr/>
        </p:nvSpPr>
        <p:spPr>
          <a:xfrm>
            <a:off x="7286625" y="1714500"/>
            <a:ext cx="41910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加入约束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F69D3B-3713-430F-BA57-5298420516EB}"/>
              </a:ext>
            </a:extLst>
          </p:cNvPr>
          <p:cNvSpPr>
            <a:spLocks noGrp="1"/>
          </p:cNvSpPr>
          <p:nvPr/>
        </p:nvSpPr>
        <p:spPr>
          <a:xfrm>
            <a:off x="7286625" y="2428875"/>
            <a:ext cx="4191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F94BCE3-8BC2-4460-A828-B97184AE9182}"/>
              </a:ext>
            </a:extLst>
          </p:cNvPr>
          <p:cNvSpPr>
            <a:spLocks noGrp="1"/>
          </p:cNvSpPr>
          <p:nvPr/>
        </p:nvSpPr>
        <p:spPr>
          <a:xfrm>
            <a:off x="6477000" y="277177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95C625-F063-4EEB-A5BF-8F73ECCFC2FC}"/>
              </a:ext>
            </a:extLst>
          </p:cNvPr>
          <p:cNvSpPr>
            <a:spLocks noGrp="1"/>
          </p:cNvSpPr>
          <p:nvPr/>
        </p:nvSpPr>
        <p:spPr>
          <a:xfrm>
            <a:off x="7286625" y="2714625"/>
            <a:ext cx="41910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按需使用技巧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0A8E20-F411-4327-8619-8C567291B7F5}"/>
              </a:ext>
            </a:extLst>
          </p:cNvPr>
          <p:cNvSpPr>
            <a:spLocks noGrp="1"/>
          </p:cNvSpPr>
          <p:nvPr/>
        </p:nvSpPr>
        <p:spPr>
          <a:xfrm>
            <a:off x="7286625" y="3429000"/>
            <a:ext cx="4191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FB04E5B-F291-44A2-AC98-5F70C5CECF81}"/>
              </a:ext>
            </a:extLst>
          </p:cNvPr>
          <p:cNvSpPr>
            <a:spLocks noGrp="1"/>
          </p:cNvSpPr>
          <p:nvPr/>
        </p:nvSpPr>
        <p:spPr>
          <a:xfrm>
            <a:off x="6477000" y="377190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480E58B-47BC-4837-A4FF-231F3FCDCDCB}"/>
              </a:ext>
            </a:extLst>
          </p:cNvPr>
          <p:cNvSpPr>
            <a:spLocks noGrp="1"/>
          </p:cNvSpPr>
          <p:nvPr/>
        </p:nvSpPr>
        <p:spPr>
          <a:xfrm>
            <a:off x="7286625" y="3714750"/>
            <a:ext cx="41910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检查质量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85A117-EFDD-4F08-8067-DF4957FF6F66}"/>
              </a:ext>
            </a:extLst>
          </p:cNvPr>
          <p:cNvSpPr>
            <a:spLocks noGrp="1"/>
          </p:cNvSpPr>
          <p:nvPr/>
        </p:nvSpPr>
        <p:spPr>
          <a:xfrm>
            <a:off x="7286625" y="4429125"/>
            <a:ext cx="4191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BB995F7-B97E-4759-B5A3-C6923E4C10D4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先补齐任务信息，再决定是否需要提示技巧</a:t>
            </a:r>
          </a:p>
        </p:txBody>
      </p:sp>
    </p:spTree>
    <p:extLst>
      <p:ext uri="{BB962C8B-B14F-4D97-AF65-F5344CB8AC3E}">
        <p14:creationId xmlns:p14="http://schemas.microsoft.com/office/powerpoint/2010/main" val="6014562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94B42CC-104D-4A32-A21A-179D535C43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53A672-2D3C-4C3D-AD3E-4FE71F06D1C5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08  设计与改进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C341DB-215C-42A7-B4B4-4486B5DBFD9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设计 Prompt：目标、背景与输入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906ED4-2072-47E9-A527-CB65F2A7526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209A3D-0CDB-4B0F-A7A1-B63D4435ADA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1  主要目标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C8CD88-7B5D-4FAD-B974-057DD5A89DC6}"/>
              </a:ext>
            </a:extLst>
          </p:cNvPr>
          <p:cNvSpPr>
            <a:spLocks noGrp="1"/>
          </p:cNvSpPr>
          <p:nvPr/>
        </p:nvSpPr>
        <p:spPr>
          <a:xfrm>
            <a:off x="89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A84AD0-D0B3-421D-A118-E84904CB4273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先用一句话写出最核心的任务</a:t>
            </a:r>
          </a:p>
          <a:p>
            <a:endParaRPr sz="2100" b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补全二分查找功能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28A6C8-C618-4D84-9CF6-3C00EE39FEA3}"/>
              </a:ext>
            </a:extLst>
          </p:cNvPr>
          <p:cNvSpPr>
            <a:spLocks noGrp="1"/>
          </p:cNvSpPr>
          <p:nvPr/>
        </p:nvSpPr>
        <p:spPr>
          <a:xfrm>
            <a:off x="449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2  必要背景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7DBEA0-5E46-4C8D-A330-73F77F52C51B}"/>
              </a:ext>
            </a:extLst>
          </p:cNvPr>
          <p:cNvSpPr>
            <a:spLocks noGrp="1"/>
          </p:cNvSpPr>
          <p:nvPr/>
        </p:nvSpPr>
        <p:spPr>
          <a:xfrm>
            <a:off x="470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C0D7D4-2A63-4ED3-97D7-CAD75DA73149}"/>
              </a:ext>
            </a:extLst>
          </p:cNvPr>
          <p:cNvSpPr>
            <a:spLocks noGrp="1"/>
          </p:cNvSpPr>
          <p:nvPr/>
        </p:nvSpPr>
        <p:spPr>
          <a:xfrm>
            <a:off x="470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Python 3.12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位于 src/search.py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现有接口不可改变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0D73ED-3EAC-46DD-9A67-902263A087A3}"/>
              </a:ext>
            </a:extLst>
          </p:cNvPr>
          <p:cNvSpPr>
            <a:spLocks noGrp="1"/>
          </p:cNvSpPr>
          <p:nvPr/>
        </p:nvSpPr>
        <p:spPr>
          <a:xfrm>
            <a:off x="830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3  输入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1DE4E0-90AA-4D93-BE11-8D505DE444AD}"/>
              </a:ext>
            </a:extLst>
          </p:cNvPr>
          <p:cNvSpPr>
            <a:spLocks noGrp="1"/>
          </p:cNvSpPr>
          <p:nvPr/>
        </p:nvSpPr>
        <p:spPr>
          <a:xfrm>
            <a:off x="851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FF8E6F-797E-4BAF-9E70-B7D3B8B5152F}"/>
              </a:ext>
            </a:extLst>
          </p:cNvPr>
          <p:cNvSpPr>
            <a:spLocks noGrp="1"/>
          </p:cNvSpPr>
          <p:nvPr/>
        </p:nvSpPr>
        <p:spPr>
          <a:xfrm>
            <a:off x="851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读取实现文件与契约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列表已升序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可能为空或包含重复值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F5597E-874B-46AC-90A1-851AC5B18FD5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每一项都应直接改变任务的执行方式</a:t>
            </a:r>
          </a:p>
        </p:txBody>
      </p:sp>
    </p:spTree>
    <p:extLst>
      <p:ext uri="{BB962C8B-B14F-4D97-AF65-F5344CB8AC3E}">
        <p14:creationId xmlns:p14="http://schemas.microsoft.com/office/powerpoint/2010/main" val="13386127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BF85A7E-B2AB-4594-8F31-EE8F919633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952551-5285-4BC1-9B7C-1BD8E094CC0D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08  设计与改进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BEBC97-D743-435F-BF19-A1F39F12963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设计 Prompt：输出、约束与提示技巧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AA7AE5-2326-4EA1-A8AE-C24C99149D1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8CC19F-0D64-427D-9183-007CB3D2E62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4  输出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EC67C3-9053-4313-B7E3-228C6AC3C43D}"/>
              </a:ext>
            </a:extLst>
          </p:cNvPr>
          <p:cNvSpPr>
            <a:spLocks noGrp="1"/>
          </p:cNvSpPr>
          <p:nvPr/>
        </p:nvSpPr>
        <p:spPr>
          <a:xfrm>
            <a:off x="89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ED56B6-422A-4B79-B6AE-D4C47E96DCB6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直接补全目标函数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更新 README 样例和复杂度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完成后列出修改文件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FCBBD0-1ED4-4409-B7B3-D8964D1A196A}"/>
              </a:ext>
            </a:extLst>
          </p:cNvPr>
          <p:cNvSpPr>
            <a:spLocks noGrp="1"/>
          </p:cNvSpPr>
          <p:nvPr/>
        </p:nvSpPr>
        <p:spPr>
          <a:xfrm>
            <a:off x="449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5  约束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59C97A-DDF9-4BBC-B478-2B1DB620348E}"/>
              </a:ext>
            </a:extLst>
          </p:cNvPr>
          <p:cNvSpPr>
            <a:spLocks noGrp="1"/>
          </p:cNvSpPr>
          <p:nvPr/>
        </p:nvSpPr>
        <p:spPr>
          <a:xfrm>
            <a:off x="470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87B504-0AB1-4505-8512-C6DE4299A346}"/>
              </a:ext>
            </a:extLst>
          </p:cNvPr>
          <p:cNvSpPr>
            <a:spLocks noGrp="1"/>
          </p:cNvSpPr>
          <p:nvPr/>
        </p:nvSpPr>
        <p:spPr>
          <a:xfrm>
            <a:off x="470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使用迭代实现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保持函数签名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只修改目标文件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028171-70F1-41CE-A6F2-2D26443085EB}"/>
              </a:ext>
            </a:extLst>
          </p:cNvPr>
          <p:cNvSpPr>
            <a:spLocks noGrp="1"/>
          </p:cNvSpPr>
          <p:nvPr/>
        </p:nvSpPr>
        <p:spPr>
          <a:xfrm>
            <a:off x="830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6  按需加入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4CBEFE-88DB-4E99-9F3D-04EF6EC01450}"/>
              </a:ext>
            </a:extLst>
          </p:cNvPr>
          <p:cNvSpPr>
            <a:spLocks noGrp="1"/>
          </p:cNvSpPr>
          <p:nvPr/>
        </p:nvSpPr>
        <p:spPr>
          <a:xfrm>
            <a:off x="851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C96A8F-2FDB-4DBC-AD81-9A106A0A06A6}"/>
              </a:ext>
            </a:extLst>
          </p:cNvPr>
          <p:cNvSpPr>
            <a:spLocks noGrp="1"/>
          </p:cNvSpPr>
          <p:nvPr/>
        </p:nvSpPr>
        <p:spPr>
          <a:xfrm>
            <a:off x="851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维护标准重要时加角色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格式难描述时给示例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顺序重要时再分步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F5DB58-07DC-459C-B84D-44D1489E6BCE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提示技巧是补充手段，不是高质量 Prompt 的必填项</a:t>
            </a:r>
          </a:p>
        </p:txBody>
      </p:sp>
    </p:spTree>
    <p:extLst>
      <p:ext uri="{BB962C8B-B14F-4D97-AF65-F5344CB8AC3E}">
        <p14:creationId xmlns:p14="http://schemas.microsoft.com/office/powerpoint/2010/main" val="14129488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C4980CF-8105-47F1-9583-C7CC1DAF8A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7711F8-D624-42C8-88C9-55785426A0BB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08  设计与改进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E44814-DA8C-45B2-AC05-3FD9AAD7538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Prompt 质量的四项检查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CF097A-EAFD-48D6-B526-87E925460F9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5CE3FC-10FE-41F8-932E-74CCA3489A7C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清楚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93D21C-761C-4A3A-AE59-4FC545513189}"/>
              </a:ext>
            </a:extLst>
          </p:cNvPr>
          <p:cNvSpPr>
            <a:spLocks noGrp="1"/>
          </p:cNvSpPr>
          <p:nvPr/>
        </p:nvSpPr>
        <p:spPr>
          <a:xfrm>
            <a:off x="809625" y="2457450"/>
            <a:ext cx="4762500" cy="3810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E9C37E-6C9F-4B0B-92A0-F722DD6D1185}"/>
              </a:ext>
            </a:extLst>
          </p:cNvPr>
          <p:cNvSpPr>
            <a:spLocks noGrp="1"/>
          </p:cNvSpPr>
          <p:nvPr/>
        </p:nvSpPr>
        <p:spPr>
          <a:xfrm>
            <a:off x="809625" y="2714625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30000"/>
              </a:lnSpc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Agent 能否确定读取范围、目标文件和期望行为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5AC284-D714-4AD7-82E5-DE32DFA8D8E0}"/>
              </a:ext>
            </a:extLst>
          </p:cNvPr>
          <p:cNvSpPr>
            <a:spLocks noGrp="1"/>
          </p:cNvSpPr>
          <p:nvPr/>
        </p:nvSpPr>
        <p:spPr>
          <a:xfrm>
            <a:off x="6381750" y="1809750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相关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0DF9FB-84A5-41FB-AAF0-CC55F4EBD221}"/>
              </a:ext>
            </a:extLst>
          </p:cNvPr>
          <p:cNvSpPr>
            <a:spLocks noGrp="1"/>
          </p:cNvSpPr>
          <p:nvPr/>
        </p:nvSpPr>
        <p:spPr>
          <a:xfrm>
            <a:off x="6381750" y="2457450"/>
            <a:ext cx="4762500" cy="3810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1FCF45-4644-4C09-994D-A47F6CEF889D}"/>
              </a:ext>
            </a:extLst>
          </p:cNvPr>
          <p:cNvSpPr>
            <a:spLocks noGrp="1"/>
          </p:cNvSpPr>
          <p:nvPr/>
        </p:nvSpPr>
        <p:spPr>
          <a:xfrm>
            <a:off x="6381750" y="2714625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30000"/>
              </a:lnSpc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每条信息是否会影响当前结果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CDED48-7AEC-44D7-839D-669433FFC0DB}"/>
              </a:ext>
            </a:extLst>
          </p:cNvPr>
          <p:cNvSpPr>
            <a:spLocks noGrp="1"/>
          </p:cNvSpPr>
          <p:nvPr/>
        </p:nvSpPr>
        <p:spPr>
          <a:xfrm>
            <a:off x="809625" y="3810000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具体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C446FC-B8D5-457C-9816-E9E78CAB0EC7}"/>
              </a:ext>
            </a:extLst>
          </p:cNvPr>
          <p:cNvSpPr>
            <a:spLocks noGrp="1"/>
          </p:cNvSpPr>
          <p:nvPr/>
        </p:nvSpPr>
        <p:spPr>
          <a:xfrm>
            <a:off x="809625" y="4457700"/>
            <a:ext cx="4762500" cy="3810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6AF603-75F2-4845-8592-F024D202E737}"/>
              </a:ext>
            </a:extLst>
          </p:cNvPr>
          <p:cNvSpPr>
            <a:spLocks noGrp="1"/>
          </p:cNvSpPr>
          <p:nvPr/>
        </p:nvSpPr>
        <p:spPr>
          <a:xfrm>
            <a:off x="809625" y="4714875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30000"/>
              </a:lnSpc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抽象评价是否已转化为可执行要求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A71482-483F-4023-8FAF-735697907FA8}"/>
              </a:ext>
            </a:extLst>
          </p:cNvPr>
          <p:cNvSpPr>
            <a:spLocks noGrp="1"/>
          </p:cNvSpPr>
          <p:nvPr/>
        </p:nvSpPr>
        <p:spPr>
          <a:xfrm>
            <a:off x="6381750" y="3810000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一致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E19B0D-5E0D-4668-ACA5-BD7947FD3F6E}"/>
              </a:ext>
            </a:extLst>
          </p:cNvPr>
          <p:cNvSpPr>
            <a:spLocks noGrp="1"/>
          </p:cNvSpPr>
          <p:nvPr/>
        </p:nvSpPr>
        <p:spPr>
          <a:xfrm>
            <a:off x="6381750" y="4457700"/>
            <a:ext cx="4762500" cy="3810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F5AA031-972F-4342-A23E-3930F4991891}"/>
              </a:ext>
            </a:extLst>
          </p:cNvPr>
          <p:cNvSpPr>
            <a:spLocks noGrp="1"/>
          </p:cNvSpPr>
          <p:nvPr/>
        </p:nvSpPr>
        <p:spPr>
          <a:xfrm>
            <a:off x="6381750" y="4714875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30000"/>
              </a:lnSpc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不同要求之间是否存在范围或行为冲突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DA8D4-0C10-44FF-9F9C-159035DE92AC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发送前发现冲突，比修改文件后再返工成本更低</a:t>
            </a:r>
          </a:p>
        </p:txBody>
      </p:sp>
    </p:spTree>
    <p:extLst>
      <p:ext uri="{BB962C8B-B14F-4D97-AF65-F5344CB8AC3E}">
        <p14:creationId xmlns:p14="http://schemas.microsoft.com/office/powerpoint/2010/main" val="6128177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7A08FFDC-456B-4360-AF5B-A93ED54FD7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7A879A-3578-429D-AB1E-D608750D9388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09  改进过程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D27B7C-DE67-4453-A11F-39542FC5C16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从模糊 Prompt 到高质量 Prompt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9A7E5D-11B5-4F38-B5DB-B2A2BE3CA0E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E9BD04-7117-40A4-8C95-BC00C4CACBBA}"/>
              </a:ext>
            </a:extLst>
          </p:cNvPr>
          <p:cNvSpPr>
            <a:spLocks noGrp="1"/>
          </p:cNvSpPr>
          <p:nvPr/>
        </p:nvSpPr>
        <p:spPr>
          <a:xfrm>
            <a:off x="809625" y="1714500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V1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FBB88E-7107-4055-9CDA-1E425C2DDC3C}"/>
              </a:ext>
            </a:extLst>
          </p:cNvPr>
          <p:cNvSpPr>
            <a:spLocks noGrp="1"/>
          </p:cNvSpPr>
          <p:nvPr/>
        </p:nvSpPr>
        <p:spPr>
          <a:xfrm>
            <a:off x="1809750" y="1714500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只有主题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ED5E92-CFCA-4549-A792-ADE861664B77}"/>
              </a:ext>
            </a:extLst>
          </p:cNvPr>
          <p:cNvSpPr>
            <a:spLocks noGrp="1"/>
          </p:cNvSpPr>
          <p:nvPr/>
        </p:nvSpPr>
        <p:spPr>
          <a:xfrm>
            <a:off x="4857750" y="1714500"/>
            <a:ext cx="638175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把搜索功能补好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E6C716-83C6-40C8-A7EA-78720102EA84}"/>
              </a:ext>
            </a:extLst>
          </p:cNvPr>
          <p:cNvSpPr>
            <a:spLocks noGrp="1"/>
          </p:cNvSpPr>
          <p:nvPr/>
        </p:nvSpPr>
        <p:spPr>
          <a:xfrm>
            <a:off x="809625" y="2428875"/>
            <a:ext cx="1042987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028422-68E9-4351-A32A-1975D4CA685B}"/>
              </a:ext>
            </a:extLst>
          </p:cNvPr>
          <p:cNvSpPr>
            <a:spLocks noGrp="1"/>
          </p:cNvSpPr>
          <p:nvPr/>
        </p:nvSpPr>
        <p:spPr>
          <a:xfrm>
            <a:off x="809625" y="2667000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V2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D0C364-74AC-4B38-9221-60C9500FD33D}"/>
              </a:ext>
            </a:extLst>
          </p:cNvPr>
          <p:cNvSpPr>
            <a:spLocks noGrp="1"/>
          </p:cNvSpPr>
          <p:nvPr/>
        </p:nvSpPr>
        <p:spPr>
          <a:xfrm>
            <a:off x="1809750" y="2667000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加入目标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B8B44B-8C24-47C4-9F9F-C1FA0B96CBF2}"/>
              </a:ext>
            </a:extLst>
          </p:cNvPr>
          <p:cNvSpPr>
            <a:spLocks noGrp="1"/>
          </p:cNvSpPr>
          <p:nvPr/>
        </p:nvSpPr>
        <p:spPr>
          <a:xfrm>
            <a:off x="4857750" y="2667000"/>
            <a:ext cx="638175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文件、函数名和未找到行为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DC3626-8821-498C-BD9A-8FC1BF40F840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42987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EFC2AF8-42A4-4EFB-B4B0-EB7481C50126}"/>
              </a:ext>
            </a:extLst>
          </p:cNvPr>
          <p:cNvSpPr>
            <a:spLocks noGrp="1"/>
          </p:cNvSpPr>
          <p:nvPr/>
        </p:nvSpPr>
        <p:spPr>
          <a:xfrm>
            <a:off x="809625" y="3619500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V3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E55ABB-3C70-4B49-814A-B4F720421992}"/>
              </a:ext>
            </a:extLst>
          </p:cNvPr>
          <p:cNvSpPr>
            <a:spLocks noGrp="1"/>
          </p:cNvSpPr>
          <p:nvPr/>
        </p:nvSpPr>
        <p:spPr>
          <a:xfrm>
            <a:off x="1809750" y="3619500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加入输入与边界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C82884-FC9E-4D81-AD2E-4BF22BFB8C15}"/>
              </a:ext>
            </a:extLst>
          </p:cNvPr>
          <p:cNvSpPr>
            <a:spLocks noGrp="1"/>
          </p:cNvSpPr>
          <p:nvPr/>
        </p:nvSpPr>
        <p:spPr>
          <a:xfrm>
            <a:off x="4857750" y="3619500"/>
            <a:ext cx="638175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空列表、重复值和负数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65D0FBE-9E76-4EBC-83A3-40C82BF933F5}"/>
              </a:ext>
            </a:extLst>
          </p:cNvPr>
          <p:cNvSpPr>
            <a:spLocks noGrp="1"/>
          </p:cNvSpPr>
          <p:nvPr/>
        </p:nvSpPr>
        <p:spPr>
          <a:xfrm>
            <a:off x="809625" y="4333875"/>
            <a:ext cx="1042987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5AE1E3-E001-46D9-BA2D-A86B6DAFAFF2}"/>
              </a:ext>
            </a:extLst>
          </p:cNvPr>
          <p:cNvSpPr>
            <a:spLocks noGrp="1"/>
          </p:cNvSpPr>
          <p:nvPr/>
        </p:nvSpPr>
        <p:spPr>
          <a:xfrm>
            <a:off x="809625" y="4572000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V4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407625-2F0B-4DDF-B310-ADC53DBBB823}"/>
              </a:ext>
            </a:extLst>
          </p:cNvPr>
          <p:cNvSpPr>
            <a:spLocks noGrp="1"/>
          </p:cNvSpPr>
          <p:nvPr/>
        </p:nvSpPr>
        <p:spPr>
          <a:xfrm>
            <a:off x="1809750" y="4572000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加入输出与约束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3D9075-83E5-4FFC-B3B9-BDED62C28AA9}"/>
              </a:ext>
            </a:extLst>
          </p:cNvPr>
          <p:cNvSpPr>
            <a:spLocks noGrp="1"/>
          </p:cNvSpPr>
          <p:nvPr/>
        </p:nvSpPr>
        <p:spPr>
          <a:xfrm>
            <a:off x="4857750" y="4572000"/>
            <a:ext cx="638175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交付文件、接口和修改范围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4875" y="5286375"/>
            <a:ext cx="276225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10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B20E5E4-F5DB-4054-8DD0-78DE345501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1567B9-F7DD-47B6-AE03-4A6FE0759BE4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10  常见问题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A3C1CE-518B-448F-AAFB-E233557BDD7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常见问题：目标、背景与输入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54C5BB-7B4D-4194-BEB3-57926498371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FCE698-1EC3-4DF5-87BB-D4A055A99D2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目标模糊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4BEEE0-9DE4-4082-B3C2-9ECB122C9CF5}"/>
              </a:ext>
            </a:extLst>
          </p:cNvPr>
          <p:cNvSpPr>
            <a:spLocks noGrp="1"/>
          </p:cNvSpPr>
          <p:nvPr/>
        </p:nvSpPr>
        <p:spPr>
          <a:xfrm>
            <a:off x="89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9E4059-7516-43B8-AB85-F9E2F083F6F1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问题：优化一下链表</a:t>
            </a:r>
          </a:p>
          <a:p>
            <a:endParaRPr sz="2100" b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改进：新增 find(value)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返回第一次匹配位置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A8EF91-EF2A-43F2-BEDC-FAA2A3C21B30}"/>
              </a:ext>
            </a:extLst>
          </p:cNvPr>
          <p:cNvSpPr>
            <a:spLocks noGrp="1"/>
          </p:cNvSpPr>
          <p:nvPr/>
        </p:nvSpPr>
        <p:spPr>
          <a:xfrm>
            <a:off x="449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背景不足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9230C4-7BEA-4404-846C-85514CC827B4}"/>
              </a:ext>
            </a:extLst>
          </p:cNvPr>
          <p:cNvSpPr>
            <a:spLocks noGrp="1"/>
          </p:cNvSpPr>
          <p:nvPr/>
        </p:nvSpPr>
        <p:spPr>
          <a:xfrm>
            <a:off x="470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840759-6DF0-4430-A0AA-D273B2B88934}"/>
              </a:ext>
            </a:extLst>
          </p:cNvPr>
          <p:cNvSpPr>
            <a:spLocks noGrp="1"/>
          </p:cNvSpPr>
          <p:nvPr/>
        </p:nvSpPr>
        <p:spPr>
          <a:xfrm>
            <a:off x="470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问题：处理搜索算法</a:t>
            </a:r>
          </a:p>
          <a:p>
            <a:endParaRPr sz="2100" b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改进：Python 3.12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现有二分查找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使用迭代实现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80FDC1-A497-4651-A212-96629F2B6521}"/>
              </a:ext>
            </a:extLst>
          </p:cNvPr>
          <p:cNvSpPr>
            <a:spLocks noGrp="1"/>
          </p:cNvSpPr>
          <p:nvPr/>
        </p:nvSpPr>
        <p:spPr>
          <a:xfrm>
            <a:off x="830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输入不清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367EA1-FB77-405B-95D3-05AB7CCB1379}"/>
              </a:ext>
            </a:extLst>
          </p:cNvPr>
          <p:cNvSpPr>
            <a:spLocks noGrp="1"/>
          </p:cNvSpPr>
          <p:nvPr/>
        </p:nvSpPr>
        <p:spPr>
          <a:xfrm>
            <a:off x="851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421F45-2D8C-4AEA-BC39-9422D09C5B46}"/>
              </a:ext>
            </a:extLst>
          </p:cNvPr>
          <p:cNvSpPr>
            <a:spLocks noGrp="1"/>
          </p:cNvSpPr>
          <p:nvPr/>
        </p:nvSpPr>
        <p:spPr>
          <a:xfrm>
            <a:off x="851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问题：整理这些数据</a:t>
            </a:r>
          </a:p>
          <a:p>
            <a:endParaRPr sz="2100" b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改进：指定 data/search-cases.json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说明列表已升序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可为空或重复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D8914F-CE62-4676-929A-75006BFD6716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只补充缺失的关键信息</a:t>
            </a:r>
          </a:p>
        </p:txBody>
      </p:sp>
    </p:spTree>
    <p:extLst>
      <p:ext uri="{BB962C8B-B14F-4D97-AF65-F5344CB8AC3E}">
        <p14:creationId xmlns:p14="http://schemas.microsoft.com/office/powerpoint/2010/main" val="15850270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8B5C4A7-3B93-449C-96C5-2252F62DBC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3197F1-E6C2-435C-A289-F95F198EA654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10  常见问题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D86AE4-7509-4743-89AD-EC14EBCC9BE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常见问题：输出、约束与信息量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92AE94-03E0-40B5-BD69-E8C6A393D1D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F203E8-78AB-4838-A0AB-643DACAE630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输出不清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102B22-A6D3-4B68-B63D-AA2A4A248A3F}"/>
              </a:ext>
            </a:extLst>
          </p:cNvPr>
          <p:cNvSpPr>
            <a:spLocks noGrp="1"/>
          </p:cNvSpPr>
          <p:nvPr/>
        </p:nvSpPr>
        <p:spPr>
          <a:xfrm>
            <a:off x="89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255252-E2CF-4EAC-A892-516677C96D4E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问题：整理搜索说明</a:t>
            </a:r>
          </a:p>
          <a:p>
            <a:endParaRPr sz="2100" b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改进：更新 docs/search.md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指定接口、样例和复杂度三节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AB3E48-15BF-433B-ACD2-8DB0D8D17B09}"/>
              </a:ext>
            </a:extLst>
          </p:cNvPr>
          <p:cNvSpPr>
            <a:spLocks noGrp="1"/>
          </p:cNvSpPr>
          <p:nvPr/>
        </p:nvSpPr>
        <p:spPr>
          <a:xfrm>
            <a:off x="449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约束缺失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8F48D4-F353-4162-8ED5-F74272BD987B}"/>
              </a:ext>
            </a:extLst>
          </p:cNvPr>
          <p:cNvSpPr>
            <a:spLocks noGrp="1"/>
          </p:cNvSpPr>
          <p:nvPr/>
        </p:nvSpPr>
        <p:spPr>
          <a:xfrm>
            <a:off x="470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A58CAC-32EF-4B03-9E8F-DB949F6DEE51}"/>
              </a:ext>
            </a:extLst>
          </p:cNvPr>
          <p:cNvSpPr>
            <a:spLocks noGrp="1"/>
          </p:cNvSpPr>
          <p:nvPr/>
        </p:nvSpPr>
        <p:spPr>
          <a:xfrm>
            <a:off x="470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问题：补全查找函数</a:t>
            </a:r>
          </a:p>
          <a:p>
            <a:endParaRPr sz="2100" b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改进：不使用 list.index()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保持现有签名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只修改函数体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82BA3C-90FD-4AD4-B4CC-E4819FEF0DDE}"/>
              </a:ext>
            </a:extLst>
          </p:cNvPr>
          <p:cNvSpPr>
            <a:spLocks noGrp="1"/>
          </p:cNvSpPr>
          <p:nvPr/>
        </p:nvSpPr>
        <p:spPr>
          <a:xfrm>
            <a:off x="830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信息过多或冲突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A5DFA8-35BE-467B-AC36-B6F273B53F02}"/>
              </a:ext>
            </a:extLst>
          </p:cNvPr>
          <p:cNvSpPr>
            <a:spLocks noGrp="1"/>
          </p:cNvSpPr>
          <p:nvPr/>
        </p:nvSpPr>
        <p:spPr>
          <a:xfrm>
            <a:off x="851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A5FFF7-9602-4BB7-AFAC-A8197090421F}"/>
              </a:ext>
            </a:extLst>
          </p:cNvPr>
          <p:cNvSpPr>
            <a:spLocks noGrp="1"/>
          </p:cNvSpPr>
          <p:nvPr/>
        </p:nvSpPr>
        <p:spPr>
          <a:xfrm>
            <a:off x="851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删除课程历史和无关日志</a:t>
            </a:r>
          </a:p>
          <a:p>
            <a:endParaRPr sz="2100" b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不要同时要求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重构整个项目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且只修改一个函数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C56497-F24C-430E-B384-9844623F45EB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保留会改变结果的要求，合并重复约束</a:t>
            </a:r>
          </a:p>
        </p:txBody>
      </p:sp>
    </p:spTree>
    <p:extLst>
      <p:ext uri="{BB962C8B-B14F-4D97-AF65-F5344CB8AC3E}">
        <p14:creationId xmlns:p14="http://schemas.microsoft.com/office/powerpoint/2010/main" val="11359078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E45B664-7227-46A0-AF9A-FD75CEB74E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9A6711-9C42-47CB-B1F4-08855E0E45F5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10  常见问题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4E2DC6-2CCD-4417-A5BA-7D33104963B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常见问题：示例、技巧与格式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A105BD-A0E9-49B2-9E3E-5CCE3FCE708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C6EBC0-EF43-49B2-9C70-605232E11A3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示例质量差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45D43D-0E79-4488-B4FF-BC42BEA05BB6}"/>
              </a:ext>
            </a:extLst>
          </p:cNvPr>
          <p:cNvSpPr>
            <a:spLocks noGrp="1"/>
          </p:cNvSpPr>
          <p:nvPr/>
        </p:nvSpPr>
        <p:spPr>
          <a:xfrm>
            <a:off x="89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E0101A-FC99-4E66-A7DC-FC7BC97A6AA2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Agent 会模仿错误的复杂度、格式和边界</a:t>
            </a:r>
          </a:p>
          <a:p>
            <a:endParaRPr sz="2100" b="0">
              <a:solidFill>
                <a:srgbClr val="263B34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作为示例前先校对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2C02BE-CB9E-42E5-9C39-1263D8AFB499}"/>
              </a:ext>
            </a:extLst>
          </p:cNvPr>
          <p:cNvSpPr>
            <a:spLocks noGrp="1"/>
          </p:cNvSpPr>
          <p:nvPr/>
        </p:nvSpPr>
        <p:spPr>
          <a:xfrm>
            <a:off x="449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提示技巧滥用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E641D6-9D79-4366-8563-FCE51CB77B08}"/>
              </a:ext>
            </a:extLst>
          </p:cNvPr>
          <p:cNvSpPr>
            <a:spLocks noGrp="1"/>
          </p:cNvSpPr>
          <p:nvPr/>
        </p:nvSpPr>
        <p:spPr>
          <a:xfrm>
            <a:off x="470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A81E14-7127-475F-8040-140E215063AA}"/>
              </a:ext>
            </a:extLst>
          </p:cNvPr>
          <p:cNvSpPr>
            <a:spLocks noGrp="1"/>
          </p:cNvSpPr>
          <p:nvPr/>
        </p:nvSpPr>
        <p:spPr>
          <a:xfrm>
            <a:off x="470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修正一个拼写错误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不需要夸张角色、五个示例和十个步骤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C599C4-17E4-4700-B96A-A6ED1A516E89}"/>
              </a:ext>
            </a:extLst>
          </p:cNvPr>
          <p:cNvSpPr>
            <a:spLocks noGrp="1"/>
          </p:cNvSpPr>
          <p:nvPr/>
        </p:nvSpPr>
        <p:spPr>
          <a:xfrm>
            <a:off x="8305800" y="1809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输出格式含糊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356387-B00B-4568-8801-6E5ED1D0A5DB}"/>
              </a:ext>
            </a:extLst>
          </p:cNvPr>
          <p:cNvSpPr>
            <a:spLocks noGrp="1"/>
          </p:cNvSpPr>
          <p:nvPr/>
        </p:nvSpPr>
        <p:spPr>
          <a:xfrm>
            <a:off x="8515350" y="2619375"/>
            <a:ext cx="30099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ED07C1-23D7-4A48-8832-941F8752383A}"/>
              </a:ext>
            </a:extLst>
          </p:cNvPr>
          <p:cNvSpPr>
            <a:spLocks noGrp="1"/>
          </p:cNvSpPr>
          <p:nvPr/>
        </p:nvSpPr>
        <p:spPr>
          <a:xfrm>
            <a:off x="8515350" y="3048000"/>
            <a:ext cx="3009900" cy="2000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写清目标文档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表格列名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内容顺序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单元格表达标准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D38968-04B7-4A1D-8D98-DFF1FCE11985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技巧和格式都应与真实任务相匹配</a:t>
            </a:r>
          </a:p>
        </p:txBody>
      </p:sp>
    </p:spTree>
    <p:extLst>
      <p:ext uri="{BB962C8B-B14F-4D97-AF65-F5344CB8AC3E}">
        <p14:creationId xmlns:p14="http://schemas.microsoft.com/office/powerpoint/2010/main" val="13895361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F9A238C2-EAFB-4DA4-BD84-8BEA61A23F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EE64B6-5F1C-4085-88FF-B007FD81AA73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11  反馈与迭代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9B5916-6A16-46F1-900F-2BAFD1AB5CA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根据文件变更改进 Prompt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1F6C10-B177-457D-948F-03BE5409F3F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6B475A-C0CF-4007-B564-7D74472FC51B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反馈应指向可观察的缺失，并保留已经正确的部分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0A4A7E2-5DD5-437D-A227-5DEB5F6982B7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961FF8-9BD4-4A7D-AF8F-D4611A9F2EC5}"/>
              </a:ext>
            </a:extLst>
          </p:cNvPr>
          <p:cNvSpPr>
            <a:spLocks noGrp="1"/>
          </p:cNvSpPr>
          <p:nvPr/>
        </p:nvSpPr>
        <p:spPr>
          <a:xfrm>
            <a:off x="1752600" y="28575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指出具体文件、函数或边界行为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38A8F72-B351-4306-83A8-17BB5838C65A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02456B-7B96-438D-B91E-8CC8D3B5B752}"/>
              </a:ext>
            </a:extLst>
          </p:cNvPr>
          <p:cNvSpPr>
            <a:spLocks noGrp="1"/>
          </p:cNvSpPr>
          <p:nvPr/>
        </p:nvSpPr>
        <p:spPr>
          <a:xfrm>
            <a:off x="1752600" y="35433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明确哪些接口和现有改动必须保留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1E3996B-779C-4FA1-84E9-5A8D01A5D67C}"/>
              </a:ext>
            </a:extLst>
          </p:cNvPr>
          <p:cNvSpPr>
            <a:spLocks noGrp="1"/>
          </p:cNvSpPr>
          <p:nvPr/>
        </p:nvSpPr>
        <p:spPr>
          <a:xfrm>
            <a:off x="1428750" y="43434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B69227-86F0-4F89-99B7-C288867F5429}"/>
              </a:ext>
            </a:extLst>
          </p:cNvPr>
          <p:cNvSpPr>
            <a:spLocks noGrp="1"/>
          </p:cNvSpPr>
          <p:nvPr/>
        </p:nvSpPr>
        <p:spPr>
          <a:xfrm>
            <a:off x="1752600" y="42291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一次只解决一个主要问题，便于判断效果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46B1D69-CE62-43FB-9489-CD712D1578DA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ED3FEB-401A-48BF-8A8C-314247A22525}"/>
              </a:ext>
            </a:extLst>
          </p:cNvPr>
          <p:cNvSpPr>
            <a:spLocks noGrp="1"/>
          </p:cNvSpPr>
          <p:nvPr/>
        </p:nvSpPr>
        <p:spPr>
          <a:xfrm>
            <a:off x="1752600" y="4914900"/>
            <a:ext cx="90106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删除重复约束和与目标无关的信息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0D7D90-C683-4915-BCD7-E0760F330E85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有效反馈 = 实际偏差 + 预期行为 + 保留范围</a:t>
            </a:r>
          </a:p>
        </p:txBody>
      </p:sp>
    </p:spTree>
    <p:extLst>
      <p:ext uri="{BB962C8B-B14F-4D97-AF65-F5344CB8AC3E}">
        <p14:creationId xmlns:p14="http://schemas.microsoft.com/office/powerpoint/2010/main" val="9645576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69969834-0F7A-4307-A318-6FC412D8E9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43A432-CF18-4692-ADB9-E724E6599AA2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12  检查表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639B57-3568-4F5F-8317-D51639B4341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Prompt 编写检查表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B392E2-ABEE-4C99-95E5-64DB4A763BE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B77214-20D9-4973-A7DB-9E39407F01D1}"/>
              </a:ext>
            </a:extLst>
          </p:cNvPr>
          <p:cNvSpPr>
            <a:spLocks noGrp="1"/>
          </p:cNvSpPr>
          <p:nvPr/>
        </p:nvSpPr>
        <p:spPr>
          <a:xfrm>
            <a:off x="704850" y="166687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目标与输入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C6483A-D30A-4D8D-B1C4-D888A741BB04}"/>
              </a:ext>
            </a:extLst>
          </p:cNvPr>
          <p:cNvSpPr>
            <a:spLocks noGrp="1"/>
          </p:cNvSpPr>
          <p:nvPr/>
        </p:nvSpPr>
        <p:spPr>
          <a:xfrm>
            <a:off x="704850" y="2219325"/>
            <a:ext cx="4762500" cy="2857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6F0E540-CD52-4842-B655-8F2288E0F469}"/>
              </a:ext>
            </a:extLst>
          </p:cNvPr>
          <p:cNvSpPr>
            <a:spLocks noGrp="1"/>
          </p:cNvSpPr>
          <p:nvPr/>
        </p:nvSpPr>
        <p:spPr>
          <a:xfrm>
            <a:off x="704850" y="25241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214470-B7B9-445E-98A2-22A02C3C4F5D}"/>
              </a:ext>
            </a:extLst>
          </p:cNvPr>
          <p:cNvSpPr>
            <a:spLocks noGrp="1"/>
          </p:cNvSpPr>
          <p:nvPr/>
        </p:nvSpPr>
        <p:spPr>
          <a:xfrm>
            <a:off x="971550" y="240982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说明是解释、修改、创建还是审查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525A77B-EDC2-40EA-BBFF-AE2E8272BCE3}"/>
              </a:ext>
            </a:extLst>
          </p:cNvPr>
          <p:cNvSpPr>
            <a:spLocks noGrp="1"/>
          </p:cNvSpPr>
          <p:nvPr/>
        </p:nvSpPr>
        <p:spPr>
          <a:xfrm>
            <a:off x="704850" y="29908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07614D-4024-40E4-9C6D-A6C5C83E87BC}"/>
              </a:ext>
            </a:extLst>
          </p:cNvPr>
          <p:cNvSpPr>
            <a:spLocks noGrp="1"/>
          </p:cNvSpPr>
          <p:nvPr/>
        </p:nvSpPr>
        <p:spPr>
          <a:xfrm>
            <a:off x="971550" y="28765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指出真实文件、代码、错误或样例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B2EFB08C-253D-4503-AEBE-D51D36C00E0A}"/>
              </a:ext>
            </a:extLst>
          </p:cNvPr>
          <p:cNvSpPr>
            <a:spLocks noGrp="1"/>
          </p:cNvSpPr>
          <p:nvPr/>
        </p:nvSpPr>
        <p:spPr>
          <a:xfrm>
            <a:off x="704850" y="34575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CABE0D-F9F1-42FE-BA96-6B62A0EE6E51}"/>
              </a:ext>
            </a:extLst>
          </p:cNvPr>
          <p:cNvSpPr>
            <a:spLocks noGrp="1"/>
          </p:cNvSpPr>
          <p:nvPr/>
        </p:nvSpPr>
        <p:spPr>
          <a:xfrm>
            <a:off x="971550" y="33432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写清期望结果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5CCB43-E9E0-42DC-BE2B-ACD2132DEA8C}"/>
              </a:ext>
            </a:extLst>
          </p:cNvPr>
          <p:cNvSpPr>
            <a:spLocks noGrp="1"/>
          </p:cNvSpPr>
          <p:nvPr/>
        </p:nvSpPr>
        <p:spPr>
          <a:xfrm>
            <a:off x="6324600" y="166687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范围与约束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B1749D-87C6-4B13-A093-9A8EFB21EA78}"/>
              </a:ext>
            </a:extLst>
          </p:cNvPr>
          <p:cNvSpPr>
            <a:spLocks noGrp="1"/>
          </p:cNvSpPr>
          <p:nvPr/>
        </p:nvSpPr>
        <p:spPr>
          <a:xfrm>
            <a:off x="6324600" y="2219325"/>
            <a:ext cx="4762500" cy="2857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93A3B00F-A1C2-4B74-B23A-BC37F1CC22B9}"/>
              </a:ext>
            </a:extLst>
          </p:cNvPr>
          <p:cNvSpPr>
            <a:spLocks noGrp="1"/>
          </p:cNvSpPr>
          <p:nvPr/>
        </p:nvSpPr>
        <p:spPr>
          <a:xfrm>
            <a:off x="6324600" y="25241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35678A-095D-48C4-80AE-3BEFECD587C1}"/>
              </a:ext>
            </a:extLst>
          </p:cNvPr>
          <p:cNvSpPr>
            <a:spLocks noGrp="1"/>
          </p:cNvSpPr>
          <p:nvPr/>
        </p:nvSpPr>
        <p:spPr>
          <a:xfrm>
            <a:off x="6591300" y="240982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明确允许修改的文件和功能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735E095-249A-48D6-B3D2-9F04318971B4}"/>
              </a:ext>
            </a:extLst>
          </p:cNvPr>
          <p:cNvSpPr>
            <a:spLocks noGrp="1"/>
          </p:cNvSpPr>
          <p:nvPr/>
        </p:nvSpPr>
        <p:spPr>
          <a:xfrm>
            <a:off x="6324600" y="29908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5D907A7-BDE5-4DCC-8266-5FB5DE5A4731}"/>
              </a:ext>
            </a:extLst>
          </p:cNvPr>
          <p:cNvSpPr>
            <a:spLocks noGrp="1"/>
          </p:cNvSpPr>
          <p:nvPr/>
        </p:nvSpPr>
        <p:spPr>
          <a:xfrm>
            <a:off x="6591300" y="28765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说明必须保持的接口、格式或行为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14010FB3-91D7-408F-8161-A7424EF0BCCC}"/>
              </a:ext>
            </a:extLst>
          </p:cNvPr>
          <p:cNvSpPr>
            <a:spLocks noGrp="1"/>
          </p:cNvSpPr>
          <p:nvPr/>
        </p:nvSpPr>
        <p:spPr>
          <a:xfrm>
            <a:off x="6324600" y="34575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E71522C-4229-4DE3-91CE-BBAB1B10F0CE}"/>
              </a:ext>
            </a:extLst>
          </p:cNvPr>
          <p:cNvSpPr>
            <a:spLocks noGrp="1"/>
          </p:cNvSpPr>
          <p:nvPr/>
        </p:nvSpPr>
        <p:spPr>
          <a:xfrm>
            <a:off x="6591300" y="33432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删除重复、冲突和无关信息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46A4247-2AA2-4CB5-904F-06AEE2F16F4A}"/>
              </a:ext>
            </a:extLst>
          </p:cNvPr>
          <p:cNvSpPr>
            <a:spLocks noGrp="1"/>
          </p:cNvSpPr>
          <p:nvPr/>
        </p:nvSpPr>
        <p:spPr>
          <a:xfrm>
            <a:off x="704850" y="390525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输出与验收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C28BE9B-4909-466D-98E8-04C9EDA690DE}"/>
              </a:ext>
            </a:extLst>
          </p:cNvPr>
          <p:cNvSpPr>
            <a:spLocks noGrp="1"/>
          </p:cNvSpPr>
          <p:nvPr/>
        </p:nvSpPr>
        <p:spPr>
          <a:xfrm>
            <a:off x="704850" y="4457700"/>
            <a:ext cx="4762500" cy="2857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6AFB71D2-228F-4D79-B7EA-9FD8DE9559DF}"/>
              </a:ext>
            </a:extLst>
          </p:cNvPr>
          <p:cNvSpPr>
            <a:spLocks noGrp="1"/>
          </p:cNvSpPr>
          <p:nvPr/>
        </p:nvSpPr>
        <p:spPr>
          <a:xfrm>
            <a:off x="704850" y="4762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8C94852-B6DB-43A1-8D5A-A7B8B1E22847}"/>
              </a:ext>
            </a:extLst>
          </p:cNvPr>
          <p:cNvSpPr>
            <a:spLocks noGrp="1"/>
          </p:cNvSpPr>
          <p:nvPr/>
        </p:nvSpPr>
        <p:spPr>
          <a:xfrm>
            <a:off x="971550" y="464820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说明输出文件和内部结构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73A6F06F-34C6-4F70-BBEA-D7657BA0D95C}"/>
              </a:ext>
            </a:extLst>
          </p:cNvPr>
          <p:cNvSpPr>
            <a:spLocks noGrp="1"/>
          </p:cNvSpPr>
          <p:nvPr/>
        </p:nvSpPr>
        <p:spPr>
          <a:xfrm>
            <a:off x="704850" y="52292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635823-BD14-4F01-8B58-1746DC3D8742}"/>
              </a:ext>
            </a:extLst>
          </p:cNvPr>
          <p:cNvSpPr>
            <a:spLocks noGrp="1"/>
          </p:cNvSpPr>
          <p:nvPr/>
        </p:nvSpPr>
        <p:spPr>
          <a:xfrm>
            <a:off x="971550" y="511492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给出可观察、可验证的完成条件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AFA51C69-18FB-44B5-82BE-0B87E00ABD33}"/>
              </a:ext>
            </a:extLst>
          </p:cNvPr>
          <p:cNvSpPr>
            <a:spLocks noGrp="1"/>
          </p:cNvSpPr>
          <p:nvPr/>
        </p:nvSpPr>
        <p:spPr>
          <a:xfrm>
            <a:off x="704850" y="5695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ACACA6B-E5BC-4BA5-9265-A0F72F05C489}"/>
              </a:ext>
            </a:extLst>
          </p:cNvPr>
          <p:cNvSpPr>
            <a:spLocks noGrp="1"/>
          </p:cNvSpPr>
          <p:nvPr/>
        </p:nvSpPr>
        <p:spPr>
          <a:xfrm>
            <a:off x="971550" y="55816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要求汇报实际修改和验证结果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5005644-8C0E-43F5-81D4-EFFB976BC919}"/>
              </a:ext>
            </a:extLst>
          </p:cNvPr>
          <p:cNvSpPr>
            <a:spLocks noGrp="1"/>
          </p:cNvSpPr>
          <p:nvPr/>
        </p:nvSpPr>
        <p:spPr>
          <a:xfrm>
            <a:off x="6324600" y="390525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示例与步骤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1E0B449-AF2C-4A16-BACB-178EB760B95F}"/>
              </a:ext>
            </a:extLst>
          </p:cNvPr>
          <p:cNvSpPr>
            <a:spLocks noGrp="1"/>
          </p:cNvSpPr>
          <p:nvPr/>
        </p:nvSpPr>
        <p:spPr>
          <a:xfrm>
            <a:off x="6324600" y="4457700"/>
            <a:ext cx="4762500" cy="2857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199FDFC7-89F0-482E-BF09-F1C76641123A}"/>
              </a:ext>
            </a:extLst>
          </p:cNvPr>
          <p:cNvSpPr>
            <a:spLocks noGrp="1"/>
          </p:cNvSpPr>
          <p:nvPr/>
        </p:nvSpPr>
        <p:spPr>
          <a:xfrm>
            <a:off x="6324600" y="4762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A8A54B7-5E2F-46C6-89A4-438D110AFAB2}"/>
              </a:ext>
            </a:extLst>
          </p:cNvPr>
          <p:cNvSpPr>
            <a:spLocks noGrp="1"/>
          </p:cNvSpPr>
          <p:nvPr/>
        </p:nvSpPr>
        <p:spPr>
          <a:xfrm>
            <a:off x="6591300" y="464820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示例与当前任务相关且正确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2651D5F-1467-4889-A824-CEC7D027FAC2}"/>
              </a:ext>
            </a:extLst>
          </p:cNvPr>
          <p:cNvSpPr>
            <a:spLocks noGrp="1"/>
          </p:cNvSpPr>
          <p:nvPr/>
        </p:nvSpPr>
        <p:spPr>
          <a:xfrm>
            <a:off x="6324600" y="52292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97302C3-11EB-4F7E-8644-CEEA47EFD425}"/>
              </a:ext>
            </a:extLst>
          </p:cNvPr>
          <p:cNvSpPr>
            <a:spLocks noGrp="1"/>
          </p:cNvSpPr>
          <p:nvPr/>
        </p:nvSpPr>
        <p:spPr>
          <a:xfrm>
            <a:off x="6591300" y="511492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复杂任务只拆成必要步骤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52B9D232-539F-43B7-A1D2-AB544F7B328F}"/>
              </a:ext>
            </a:extLst>
          </p:cNvPr>
          <p:cNvSpPr>
            <a:spLocks noGrp="1"/>
          </p:cNvSpPr>
          <p:nvPr/>
        </p:nvSpPr>
        <p:spPr>
          <a:xfrm>
            <a:off x="6324600" y="5695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57DADAF-713A-46E8-AA4B-8D09A2A239EE}"/>
              </a:ext>
            </a:extLst>
          </p:cNvPr>
          <p:cNvSpPr>
            <a:spLocks noGrp="1"/>
          </p:cNvSpPr>
          <p:nvPr/>
        </p:nvSpPr>
        <p:spPr>
          <a:xfrm>
            <a:off x="6591300" y="55816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简单任务避免不必要的角色、示例和长步骤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216B13C-8CC8-4789-B676-39D5675E28A1}"/>
              </a:ext>
            </a:extLst>
          </p:cNvPr>
          <p:cNvSpPr>
            <a:spLocks noGrp="1"/>
          </p:cNvSpPr>
          <p:nvPr/>
        </p:nvSpPr>
        <p:spPr>
          <a:xfrm>
            <a:off x="685800" y="6143625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简单任务不需要机械写出每一项</a:t>
            </a:r>
          </a:p>
        </p:txBody>
      </p:sp>
    </p:spTree>
    <p:extLst>
      <p:ext uri="{BB962C8B-B14F-4D97-AF65-F5344CB8AC3E}">
        <p14:creationId xmlns:p14="http://schemas.microsoft.com/office/powerpoint/2010/main" val="14187636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6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46F63DF-880A-4AB4-AD7A-5E3A42364974}"/>
              </a:ext>
            </a:extLst>
          </p:cNvPr>
          <p:cNvSpPr>
            <a:spLocks noGrp="1"/>
          </p:cNvSpPr>
          <p:nvPr/>
        </p:nvSpPr>
        <p:spPr>
          <a:xfrm>
            <a:off x="742950" y="647700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本章要点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EA027D-FF6C-4498-A6F1-99ED7DB963B4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10668000" cy="38100"/>
          </a:xfrm>
          <a:prstGeom prst="rect">
            <a:avLst/>
          </a:prstGeom>
          <a:solidFill>
            <a:srgbClr val="D7EEE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034228-3587-42AA-AFEE-89F0CFBA683F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10591800" cy="762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Prompt = 背景 + 目标 + 输入 + 输出 + 约束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0441A5-F584-4939-A11E-627A1812ABC4}"/>
              </a:ext>
            </a:extLst>
          </p:cNvPr>
          <p:cNvSpPr>
            <a:spLocks noGrp="1"/>
          </p:cNvSpPr>
          <p:nvPr/>
        </p:nvSpPr>
        <p:spPr>
          <a:xfrm>
            <a:off x="800100" y="3333750"/>
            <a:ext cx="10591800" cy="762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技巧按需使用：Role、Few-shot、Step-by-step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DBBED3-4D7F-4180-A40D-CE2257E7DD38}"/>
              </a:ext>
            </a:extLst>
          </p:cNvPr>
          <p:cNvSpPr>
            <a:spLocks noGrp="1"/>
          </p:cNvSpPr>
          <p:nvPr/>
        </p:nvSpPr>
        <p:spPr>
          <a:xfrm>
            <a:off x="1143000" y="4857750"/>
            <a:ext cx="9906000" cy="857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550" b="0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rPr>
              <a:t>通过真实文件变更和验证结果持续改进 Prompt</a:t>
            </a:r>
          </a:p>
        </p:txBody>
      </p:sp>
    </p:spTree>
    <p:extLst>
      <p:ext uri="{BB962C8B-B14F-4D97-AF65-F5344CB8AC3E}">
        <p14:creationId xmlns:p14="http://schemas.microsoft.com/office/powerpoint/2010/main" val="21193615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2105</Words>
  <Application>Microsoft Macintosh PowerPoint</Application>
  <DocSecurity>0</DocSecurity>
  <PresentationFormat>宽屏</PresentationFormat>
  <Paragraphs>637</Paragraphs>
  <Slides>49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2" baseType="lpstr">
      <vt:lpstr>Hiragino Sans GB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YIRONG REN</cp:lastModifiedBy>
  <cp:revision>1</cp:revision>
  <dcterms:created xsi:type="dcterms:W3CDTF">2026-09-20T08:29:09Z</dcterms:created>
  <dcterms:modified xsi:type="dcterms:W3CDTF">2026-09-20T09:01:52Z</dcterms:modified>
</cp:coreProperties>
</file>